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Problem: two systems, nobody checks; three examples; nobody asks or tells; existing tools miss Indian products. Four statistics. Three user groups: patients, clinicians/pharmacies, regulators.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features: Scan, Match, Decide, Explain, Report. Novelty: verdict from data, AI only explains; the bridge table nobody has built. Right: the project workflow.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Stack left; eight architecture blocks right; three flow notes: verdict path, AI guardrail, privacy.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feasibility boxes; six risks with mitigations.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USPs, four revenue lines, four beneficiaries, three impact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references with live links; honest comparison with existing tools.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file/d/13c1pPE8lp9RVvS2NlUYUJiIB65z5fgvx/view" TargetMode="External"/><Relationship Id="rId1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pubmed.ncbi.nlm.nih.gov/28829155/" TargetMode="External"/><Relationship Id="rId2" Type="http://schemas.openxmlformats.org/officeDocument/2006/relationships/hyperlink" Target="https://doi.org/10.4103/0253-7613.33432" TargetMode="External"/><Relationship Id="rId3" Type="http://schemas.openxmlformats.org/officeDocument/2006/relationships/hyperlink" Target="https://www.jcdr.net/articles/PDF/576/501.pdf" TargetMode="External"/><Relationship Id="rId4" Type="http://schemas.openxmlformats.org/officeDocument/2006/relationships/hyperlink" Target="https://doi.org/10.1515/dmdi-2013-0014" TargetMode="External"/><Relationship Id="rId5" Type="http://schemas.openxmlformats.org/officeDocument/2006/relationships/hyperlink" Target="https://www.mospi.gov.in/sites/default/files/press_release/PressNote_Ayush_13062024N.pdf" TargetMode="External"/><Relationship Id="rId6" Type="http://schemas.openxmlformats.org/officeDocument/2006/relationships/hyperlink" Target="https://suraksha.ayush.gov.in/" TargetMode="External"/><Relationship Id="rId7" Type="http://schemas.openxmlformats.org/officeDocument/2006/relationships/hyperlink" Target="https://itra.ac.in/pharmacovigilance" TargetMode="External"/><Relationship Id="rId8" Type="http://schemas.openxmlformats.org/officeDocument/2006/relationships/hyperlink" Target="https://github.com/tesseract-ocr/tesseract" TargetMode="External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pic>
        <p:nvPicPr>
          <p:cNvPr id="3" name="Image 0" descr="C:/Temp/bvp/pptx/img/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411480"/>
            <a:ext cx="2103120" cy="61264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457200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F4A300"/>
          </a:solidFill>
          <a:ln w="9525">
            <a:solidFill>
              <a:srgbClr val="F4A3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4572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Hunters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1965960" y="45720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HACK@BVP 8.0 · Bharati Vidyapeeth's College of Engineering, New Delhi · Round 1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0515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TakeSure</a:t>
            </a:r>
            <a:pPr indent="0" marL="0">
              <a:buNone/>
            </a:pPr>
            <a:r>
              <a:rPr lang="en-US" sz="30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Confidence before taking something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87452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Title :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2057400" y="1874520"/>
            <a:ext cx="6629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3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TakeSure — Confidence before taking something. Ayurveda × Allopathy herb–drug interaction checker: photo of prescription + photo of product → sourced, plain-language safety verdict + Ministry of Ayush ADR report.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5328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 :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2057400" y="2532888"/>
            <a:ext cx="6629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Hunters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2898648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 :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2057400" y="2898648"/>
            <a:ext cx="6629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3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Dhriti Garg — Team lead · backend, rule engine, medical research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3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Shiwani Goyal — Frontend · web app, Hindi/English UI, result card, demo video &amp; pitch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3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Khushi Gupta — Knowledge base &amp; evidence grading, OCR, PDF/ADR export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364845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Chosen :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2057400" y="3648456"/>
            <a:ext cx="6629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3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Well-Being (AI4Impact secondary) · SDG 3 · SDG 9 · SDG 10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401421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 video :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2057400" y="4014216"/>
            <a:ext cx="6629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u="sng" dirty="0">
                <a:solidFill>
                  <a:srgbClr val="9DB4E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https://drive.google.com/file/d/13c1pPE8lp9RVvS2NlUYUJiIB65z5fgvx/view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0" y="4754880"/>
            <a:ext cx="9144000" cy="370332"/>
          </a:xfrm>
          <a:prstGeom prst="rect">
            <a:avLst/>
          </a:prstGeom>
          <a:solidFill>
            <a:srgbClr val="0E172C"/>
          </a:solidFill>
          <a:ln w="12700">
            <a:solidFill>
              <a:srgbClr val="0E172C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57200" y="4754880"/>
            <a:ext cx="822960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D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with the Ministry of Ayush Pharmacovigilance Programme for ASU&amp;H drugs · decision support, never diagnosis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928"/>
            <a:ext cx="9144000" cy="36576"/>
          </a:xfrm>
          <a:prstGeom prst="rect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28016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F4A300"/>
          </a:solidFill>
          <a:ln w="9525">
            <a:solidFill>
              <a:srgbClr val="F4A3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28600" y="128016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Hunters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6400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TARGET AUDIENCE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0" y="91440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HACK@BVP 8.0</a:t>
            </a:r>
            <a:endParaRPr lang="en-US" sz="8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BVCOE · New Delhi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28600" y="4937760"/>
            <a:ext cx="64008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TakeSure · Confidence before taking something · Team Bug Hunters · HACK@BVP 8.0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4937760"/>
            <a:ext cx="25146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support · not diagnosis   2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228600" y="777240"/>
            <a:ext cx="5577840" cy="27432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9525">
            <a:solidFill>
              <a:srgbClr val="C9D0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" y="777240"/>
            <a:ext cx="5577840" cy="237744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0040" y="777240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WE'RE SOLVING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5760" y="1115568"/>
            <a:ext cx="237744" cy="237744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65760" y="11155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6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36" dirty="0"/>
          </a:p>
        </p:txBody>
      </p:sp>
      <p:sp>
        <p:nvSpPr>
          <p:cNvPr id="16" name="Text 14"/>
          <p:cNvSpPr txBox="1"/>
          <p:nvPr/>
        </p:nvSpPr>
        <p:spPr>
          <a:xfrm>
            <a:off x="713232" y="1097280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runs two medical systems side by side — and nobody checks the combination. </a:t>
            </a:r>
            <a:pPr indent="0" marL="0">
              <a:buNone/>
            </a:pPr>
            <a:r>
              <a:rPr lang="en-US" sz="86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thyroid patient on Thyronorm adds ashwagandha for stress; a transplant patient on tacrolimus drinks giloy kadha; a cardiac patient on warfarin takes guggul for cholesterol. Ashwagandha can raise thyroid hormone, giloy can oppose immunosuppression, guggul can increase bleeding.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365760" y="1975104"/>
            <a:ext cx="237744" cy="237744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65760" y="19751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6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36" dirty="0"/>
          </a:p>
        </p:txBody>
      </p:sp>
      <p:sp>
        <p:nvSpPr>
          <p:cNvPr id="19" name="Text 17"/>
          <p:cNvSpPr txBox="1"/>
          <p:nvPr/>
        </p:nvSpPr>
        <p:spPr>
          <a:xfrm>
            <a:off x="713232" y="1956816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allopathic doctor rarely asks, the patient rarely tells, the chemist has no tool, </a:t>
            </a:r>
            <a:pPr indent="0" marL="0">
              <a:buNone/>
            </a:pPr>
            <a:r>
              <a:rPr lang="en-US" sz="86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product label says nothing about allopathic medicines.</a:t>
            </a:r>
            <a:endParaRPr lang="en-US" sz="860" dirty="0"/>
          </a:p>
        </p:txBody>
      </p:sp>
      <p:sp>
        <p:nvSpPr>
          <p:cNvPr id="20" name="Shape 18"/>
          <p:cNvSpPr/>
          <p:nvPr/>
        </p:nvSpPr>
        <p:spPr>
          <a:xfrm>
            <a:off x="365760" y="2395728"/>
            <a:ext cx="237744" cy="237744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65760" y="23957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6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36" dirty="0"/>
          </a:p>
        </p:txBody>
      </p:sp>
      <p:sp>
        <p:nvSpPr>
          <p:cNvPr id="22" name="Text 20"/>
          <p:cNvSpPr txBox="1"/>
          <p:nvPr/>
        </p:nvSpPr>
        <p:spPr>
          <a:xfrm>
            <a:off x="713232" y="2377440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checkers (Medscape, Drugs.com, 1mg) only know allopathic × allopathic pairs; </a:t>
            </a:r>
            <a:pPr indent="0" marL="0">
              <a:buNone/>
            </a:pPr>
            <a:r>
              <a:rPr lang="en-US" sz="86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Western herb databases are English-only, paid and do not know Indian brands like Himalaya Ashvagandha or Dabur Giloy Ghanvati.</a:t>
            </a:r>
            <a:endParaRPr lang="en-US" sz="860" dirty="0"/>
          </a:p>
        </p:txBody>
      </p:sp>
      <p:sp>
        <p:nvSpPr>
          <p:cNvPr id="23" name="Shape 21"/>
          <p:cNvSpPr/>
          <p:nvPr/>
        </p:nvSpPr>
        <p:spPr>
          <a:xfrm>
            <a:off x="365760" y="2926080"/>
            <a:ext cx="1280160" cy="530352"/>
          </a:xfrm>
          <a:prstGeom prst="roundRect">
            <a:avLst>
              <a:gd name="adj" fmla="val 8621"/>
            </a:avLst>
          </a:prstGeom>
          <a:solidFill>
            <a:srgbClr val="F4F6FA"/>
          </a:solidFill>
          <a:ln w="9525">
            <a:solidFill>
              <a:srgbClr val="C9D0D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29768" y="2944368"/>
            <a:ext cx="5669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37%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69264" y="2962656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5D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hospital patients used allopathic + herbal medicines together</a:t>
            </a:r>
            <a:endParaRPr lang="en-US" sz="630" dirty="0"/>
          </a:p>
        </p:txBody>
      </p:sp>
      <p:sp>
        <p:nvSpPr>
          <p:cNvPr id="26" name="Shape 24"/>
          <p:cNvSpPr/>
          <p:nvPr/>
        </p:nvSpPr>
        <p:spPr>
          <a:xfrm>
            <a:off x="1719072" y="2926080"/>
            <a:ext cx="1280160" cy="530352"/>
          </a:xfrm>
          <a:prstGeom prst="roundRect">
            <a:avLst>
              <a:gd name="adj" fmla="val 8621"/>
            </a:avLst>
          </a:prstGeom>
          <a:solidFill>
            <a:srgbClr val="F4F6FA"/>
          </a:solidFill>
          <a:ln w="9525">
            <a:solidFill>
              <a:srgbClr val="C9D0D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783080" y="2944368"/>
            <a:ext cx="5669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2322576" y="2962656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5D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herbal users lacked knowledge of dose, side effects, interactions</a:t>
            </a:r>
            <a:endParaRPr lang="en-US" sz="630" dirty="0"/>
          </a:p>
        </p:txBody>
      </p:sp>
      <p:sp>
        <p:nvSpPr>
          <p:cNvPr id="29" name="Shape 27"/>
          <p:cNvSpPr/>
          <p:nvPr/>
        </p:nvSpPr>
        <p:spPr>
          <a:xfrm>
            <a:off x="3072384" y="2926080"/>
            <a:ext cx="1280160" cy="530352"/>
          </a:xfrm>
          <a:prstGeom prst="roundRect">
            <a:avLst>
              <a:gd name="adj" fmla="val 8621"/>
            </a:avLst>
          </a:prstGeom>
          <a:solidFill>
            <a:srgbClr val="F4F6FA"/>
          </a:solidFill>
          <a:ln w="9525">
            <a:solidFill>
              <a:srgbClr val="C9D0D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136392" y="2944368"/>
            <a:ext cx="5669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19%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3675888" y="2962656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5D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Indian patients disclose herbal use to their doctor</a:t>
            </a:r>
            <a:endParaRPr lang="en-US" sz="630" dirty="0"/>
          </a:p>
        </p:txBody>
      </p:sp>
      <p:sp>
        <p:nvSpPr>
          <p:cNvPr id="32" name="Shape 30"/>
          <p:cNvSpPr/>
          <p:nvPr/>
        </p:nvSpPr>
        <p:spPr>
          <a:xfrm>
            <a:off x="4425696" y="2926080"/>
            <a:ext cx="1280160" cy="530352"/>
          </a:xfrm>
          <a:prstGeom prst="roundRect">
            <a:avLst>
              <a:gd name="adj" fmla="val 8621"/>
            </a:avLst>
          </a:prstGeom>
          <a:solidFill>
            <a:srgbClr val="F4F6FA"/>
          </a:solidFill>
          <a:ln w="9525">
            <a:solidFill>
              <a:srgbClr val="C9D0D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489704" y="2944368"/>
            <a:ext cx="5669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1,473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5029200" y="2962656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5D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ASU&amp;H adverse-event reports nationally since 2018</a:t>
            </a:r>
            <a:endParaRPr lang="en-US" sz="630" dirty="0"/>
          </a:p>
        </p:txBody>
      </p:sp>
      <p:sp>
        <p:nvSpPr>
          <p:cNvPr id="35" name="Text 33"/>
          <p:cNvSpPr txBox="1"/>
          <p:nvPr/>
        </p:nvSpPr>
        <p:spPr>
          <a:xfrm>
            <a:off x="365760" y="3611880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i="1" dirty="0">
                <a:solidFill>
                  <a:srgbClr val="5D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Impacted: patients on thyroid, diabetes, BP/heart, blood-thinner, transplant or epilepsy medicines and their families; doctors who never hear about the co-use; the Ministry's pharmacovigilance network that never receives the reports.</a:t>
            </a:r>
            <a:endParaRPr lang="en-US" sz="760" dirty="0"/>
          </a:p>
        </p:txBody>
      </p:sp>
      <p:sp>
        <p:nvSpPr>
          <p:cNvPr id="36" name="Shape 34"/>
          <p:cNvSpPr/>
          <p:nvPr/>
        </p:nvSpPr>
        <p:spPr>
          <a:xfrm>
            <a:off x="5989320" y="777240"/>
            <a:ext cx="2926080" cy="4023360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 w="9525">
            <a:solidFill>
              <a:srgbClr val="C9D0D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989320" y="777240"/>
            <a:ext cx="2926080" cy="237744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080760" y="7772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126480" y="1143000"/>
            <a:ext cx="2651760" cy="1078992"/>
          </a:xfrm>
          <a:prstGeom prst="roundRect">
            <a:avLst>
              <a:gd name="adj" fmla="val 4237"/>
            </a:avLst>
          </a:prstGeom>
          <a:solidFill>
            <a:srgbClr val="F4F6FA"/>
          </a:solidFill>
          <a:ln w="9525">
            <a:solidFill>
              <a:srgbClr val="C9D0D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217920" y="1234440"/>
            <a:ext cx="502920" cy="237744"/>
          </a:xfrm>
          <a:prstGeom prst="roundRect">
            <a:avLst>
              <a:gd name="adj" fmla="val 19231"/>
            </a:avLst>
          </a:prstGeom>
          <a:solidFill>
            <a:srgbClr val="F4A300"/>
          </a:solidFill>
          <a:ln w="9525">
            <a:solidFill>
              <a:srgbClr val="F4A30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217920" y="123444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</a:t>
            </a:r>
            <a:endParaRPr lang="en-US" sz="850" dirty="0"/>
          </a:p>
        </p:txBody>
      </p:sp>
      <p:sp>
        <p:nvSpPr>
          <p:cNvPr id="42" name="Text 40"/>
          <p:cNvSpPr txBox="1"/>
          <p:nvPr/>
        </p:nvSpPr>
        <p:spPr>
          <a:xfrm>
            <a:off x="6784848" y="123444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&amp; caregivers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6217920" y="152704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Adults 30–70 on long-term medicines who also take Ayurvedic products; family members managing an elder's medicines; Hindi or English, phone-first.</a:t>
            </a:r>
            <a:endParaRPr lang="en-US" sz="760" dirty="0"/>
          </a:p>
        </p:txBody>
      </p:sp>
      <p:sp>
        <p:nvSpPr>
          <p:cNvPr id="44" name="Shape 42"/>
          <p:cNvSpPr/>
          <p:nvPr/>
        </p:nvSpPr>
        <p:spPr>
          <a:xfrm>
            <a:off x="6126480" y="2331720"/>
            <a:ext cx="2651760" cy="1078992"/>
          </a:xfrm>
          <a:prstGeom prst="roundRect">
            <a:avLst>
              <a:gd name="adj" fmla="val 4237"/>
            </a:avLst>
          </a:prstGeom>
          <a:solidFill>
            <a:srgbClr val="F4F6FA"/>
          </a:solidFill>
          <a:ln w="9525">
            <a:solidFill>
              <a:srgbClr val="C9D0D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217920" y="2423160"/>
            <a:ext cx="502920" cy="237744"/>
          </a:xfrm>
          <a:prstGeom prst="roundRect">
            <a:avLst>
              <a:gd name="adj" fmla="val 19231"/>
            </a:avLst>
          </a:prstGeom>
          <a:solidFill>
            <a:srgbClr val="F4A300"/>
          </a:solidFill>
          <a:ln w="9525">
            <a:solidFill>
              <a:srgbClr val="F4A300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217920" y="242316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</a:t>
            </a:r>
            <a:endParaRPr lang="en-US" sz="850" dirty="0"/>
          </a:p>
        </p:txBody>
      </p:sp>
      <p:sp>
        <p:nvSpPr>
          <p:cNvPr id="47" name="Text 45"/>
          <p:cNvSpPr txBox="1"/>
          <p:nvPr/>
        </p:nvSpPr>
        <p:spPr>
          <a:xfrm>
            <a:off x="6784848" y="242316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Clinicians &amp; pharmacies</a:t>
            </a:r>
            <a:endParaRPr lang="en-US" sz="950" dirty="0"/>
          </a:p>
        </p:txBody>
      </p:sp>
      <p:sp>
        <p:nvSpPr>
          <p:cNvPr id="48" name="Text 46"/>
          <p:cNvSpPr txBox="1"/>
          <p:nvPr/>
        </p:nvSpPr>
        <p:spPr>
          <a:xfrm>
            <a:off x="6217920" y="271576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MBBS/MD doctors, BAMS vaidyas, hospital pharmacies, retail chemists, telemedicine and hospital-HIS platforms (API).</a:t>
            </a:r>
            <a:endParaRPr lang="en-US" sz="760" dirty="0"/>
          </a:p>
        </p:txBody>
      </p:sp>
      <p:sp>
        <p:nvSpPr>
          <p:cNvPr id="49" name="Shape 47"/>
          <p:cNvSpPr/>
          <p:nvPr/>
        </p:nvSpPr>
        <p:spPr>
          <a:xfrm>
            <a:off x="6126480" y="3520440"/>
            <a:ext cx="2651760" cy="1078992"/>
          </a:xfrm>
          <a:prstGeom prst="roundRect">
            <a:avLst>
              <a:gd name="adj" fmla="val 4237"/>
            </a:avLst>
          </a:prstGeom>
          <a:solidFill>
            <a:srgbClr val="F4F6FA"/>
          </a:solidFill>
          <a:ln w="9525">
            <a:solidFill>
              <a:srgbClr val="C9D0D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217920" y="3611880"/>
            <a:ext cx="502920" cy="237744"/>
          </a:xfrm>
          <a:prstGeom prst="roundRect">
            <a:avLst>
              <a:gd name="adj" fmla="val 19231"/>
            </a:avLst>
          </a:prstGeom>
          <a:solidFill>
            <a:srgbClr val="F4A300"/>
          </a:solidFill>
          <a:ln w="9525">
            <a:solidFill>
              <a:srgbClr val="F4A300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217920" y="361188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B2G</a:t>
            </a:r>
            <a:endParaRPr lang="en-US" sz="850" dirty="0"/>
          </a:p>
        </p:txBody>
      </p:sp>
      <p:sp>
        <p:nvSpPr>
          <p:cNvPr id="52" name="Text 50"/>
          <p:cNvSpPr txBox="1"/>
          <p:nvPr/>
        </p:nvSpPr>
        <p:spPr>
          <a:xfrm>
            <a:off x="6784848" y="361188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Regulators</a:t>
            </a:r>
            <a:endParaRPr lang="en-US" sz="950" dirty="0"/>
          </a:p>
        </p:txBody>
      </p:sp>
      <p:sp>
        <p:nvSpPr>
          <p:cNvPr id="53" name="Text 51"/>
          <p:cNvSpPr txBox="1"/>
          <p:nvPr/>
        </p:nvSpPr>
        <p:spPr>
          <a:xfrm>
            <a:off x="6217920" y="390448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Ayush / NPvCC at AIIA and the 99 Peripheral Pharmacovigilance Centres: structured ICSRs and co-use analytics.</a:t>
            </a:r>
            <a:endParaRPr lang="en-US" sz="7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928"/>
            <a:ext cx="9144000" cy="36576"/>
          </a:xfrm>
          <a:prstGeom prst="rect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28016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F4A300"/>
          </a:solidFill>
          <a:ln w="9525">
            <a:solidFill>
              <a:srgbClr val="F4A3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28600" y="128016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Hunters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6400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TAKESURE — OUR UNIQUE SOLUTION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0" y="91440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HACK@BVP 8.0</a:t>
            </a:r>
            <a:endParaRPr lang="en-US" sz="8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BVCOE · New Delhi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28600" y="4937760"/>
            <a:ext cx="64008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TakeSure · Confidence before taking something · Team Bug Hunters · HACK@BVP 8.0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4937760"/>
            <a:ext cx="25146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support · not diagnosis   3</a:t>
            </a:r>
            <a:endParaRPr lang="en-US" sz="700" dirty="0"/>
          </a:p>
        </p:txBody>
      </p:sp>
      <p:sp>
        <p:nvSpPr>
          <p:cNvPr id="11" name="Text 9"/>
          <p:cNvSpPr txBox="1"/>
          <p:nvPr/>
        </p:nvSpPr>
        <p:spPr>
          <a:xfrm>
            <a:off x="274320" y="731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92608" y="1069848"/>
            <a:ext cx="237744" cy="237744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2608" y="10698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6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36" dirty="0"/>
          </a:p>
        </p:txBody>
      </p:sp>
      <p:sp>
        <p:nvSpPr>
          <p:cNvPr id="14" name="Text 12"/>
          <p:cNvSpPr txBox="1"/>
          <p:nvPr/>
        </p:nvSpPr>
        <p:spPr>
          <a:xfrm>
            <a:off x="621792" y="1051560"/>
            <a:ext cx="4892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— </a:t>
            </a:r>
            <a:pPr indent="0" marL="0">
              <a:buNone/>
            </a:pPr>
            <a:r>
              <a:rPr lang="en-US" sz="86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 the prescription and the Ayurvedic product label (or type names). OCR reads them; every name is shown for confirmation before anything is checked.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292608" y="1581912"/>
            <a:ext cx="237744" cy="237744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92608" y="15819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6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36" dirty="0"/>
          </a:p>
        </p:txBody>
      </p:sp>
      <p:sp>
        <p:nvSpPr>
          <p:cNvPr id="17" name="Text 15"/>
          <p:cNvSpPr txBox="1"/>
          <p:nvPr/>
        </p:nvSpPr>
        <p:spPr>
          <a:xfrm>
            <a:off x="621792" y="1563624"/>
            <a:ext cx="4892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— </a:t>
            </a:r>
            <a:pPr indent="0" marL="0">
              <a:buNone/>
            </a:pPr>
            <a:r>
              <a:rPr lang="en-US" sz="86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brand → generic (Thyronorm → levothyroxine), product → herbs (Chyawanprash → amla, ashwagandha…) via a curated bridge dictionary + fuzzy matching.</a:t>
            </a:r>
            <a:endParaRPr lang="en-US" sz="860" dirty="0"/>
          </a:p>
        </p:txBody>
      </p:sp>
      <p:sp>
        <p:nvSpPr>
          <p:cNvPr id="18" name="Shape 16"/>
          <p:cNvSpPr/>
          <p:nvPr/>
        </p:nvSpPr>
        <p:spPr>
          <a:xfrm>
            <a:off x="292608" y="2093976"/>
            <a:ext cx="237744" cy="237744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92608" y="209397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6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36" dirty="0"/>
          </a:p>
        </p:txBody>
      </p:sp>
      <p:sp>
        <p:nvSpPr>
          <p:cNvPr id="20" name="Text 18"/>
          <p:cNvSpPr txBox="1"/>
          <p:nvPr/>
        </p:nvSpPr>
        <p:spPr>
          <a:xfrm>
            <a:off x="621792" y="2075688"/>
            <a:ext cx="4892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— </a:t>
            </a:r>
            <a:pPr indent="0" marL="0">
              <a:buNone/>
            </a:pPr>
            <a:r>
              <a:rPr lang="en-US" sz="86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rule engine over a cited knowledge base → GREEN / AMBER / RED / NOT IN DATABASE, with timing gaps (e.g. keep 2–3 h between Triphala and oral medicines).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292608" y="2606040"/>
            <a:ext cx="237744" cy="237744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92608" y="26060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6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36" dirty="0"/>
          </a:p>
        </p:txBody>
      </p:sp>
      <p:sp>
        <p:nvSpPr>
          <p:cNvPr id="23" name="Text 21"/>
          <p:cNvSpPr txBox="1"/>
          <p:nvPr/>
        </p:nvSpPr>
        <p:spPr>
          <a:xfrm>
            <a:off x="621792" y="2587752"/>
            <a:ext cx="4892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— </a:t>
            </a:r>
            <a:pPr indent="0" marL="0">
              <a:buNone/>
            </a:pPr>
            <a:r>
              <a:rPr lang="en-US" sz="86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rewrites only the matched evidence into simple Hindi/English + 3 questions to ask the doctor. It cannot add, remove or re-grade an interaction.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292608" y="3118104"/>
            <a:ext cx="237744" cy="237744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92608" y="31181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6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36" dirty="0"/>
          </a:p>
        </p:txBody>
      </p:sp>
      <p:sp>
        <p:nvSpPr>
          <p:cNvPr id="26" name="Text 24"/>
          <p:cNvSpPr txBox="1"/>
          <p:nvPr/>
        </p:nvSpPr>
        <p:spPr>
          <a:xfrm>
            <a:off x="621792" y="3099816"/>
            <a:ext cx="4892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— </a:t>
            </a:r>
            <a:pPr indent="0" marL="0">
              <a:buNone/>
            </a:pPr>
            <a:r>
              <a:rPr lang="en-US" sz="86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One-page PDF with sources for the doctor; one-tap suspected-ADR report in the Ministry of Ayush format for the Ayush Suraksha portal.</a:t>
            </a:r>
            <a:endParaRPr lang="en-US" sz="860" dirty="0"/>
          </a:p>
        </p:txBody>
      </p:sp>
      <p:sp>
        <p:nvSpPr>
          <p:cNvPr id="27" name="Text 25"/>
          <p:cNvSpPr txBox="1"/>
          <p:nvPr/>
        </p:nvSpPr>
        <p:spPr>
          <a:xfrm>
            <a:off x="274320" y="36393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Novelty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292608" y="3913632"/>
            <a:ext cx="5212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84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“Verdict from published data; AI only explains.” </a:t>
            </a:r>
            <a:pPr indent="0" marL="0">
              <a:spcAft>
                <a:spcPts val="300"/>
              </a:spcAft>
              <a:buNone/>
            </a:pPr>
            <a:r>
              <a:rPr lang="en-US" sz="84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 level never comes from a language model — it comes from a versioned, cited knowledge-base row. Turn the AI off and the verdict is identical.</a:t>
            </a:r>
            <a:endParaRPr lang="en-US" sz="84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84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missing bridge table: </a:t>
            </a:r>
            <a:pPr indent="0" marL="0">
              <a:spcAft>
                <a:spcPts val="300"/>
              </a:spcAft>
              <a:buNone/>
            </a:pPr>
            <a:r>
              <a:rPr lang="en-US" sz="84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brand names × Ayurvedic herb synonyms (Sanskrit/Hindi/Latin) × graded published evidence — open, auditable, co-curated with Ayurveda colleges.</a:t>
            </a:r>
            <a:endParaRPr lang="en-US" sz="840" dirty="0"/>
          </a:p>
        </p:txBody>
      </p:sp>
      <p:sp>
        <p:nvSpPr>
          <p:cNvPr id="29" name="Shape 27"/>
          <p:cNvSpPr/>
          <p:nvPr/>
        </p:nvSpPr>
        <p:spPr>
          <a:xfrm>
            <a:off x="5715000" y="713232"/>
            <a:ext cx="3200400" cy="4133088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9525">
            <a:solidFill>
              <a:srgbClr val="C9D0DD"/>
            </a:solidFill>
            <a:prstDash val="solid"/>
          </a:ln>
        </p:spPr>
      </p:sp>
      <p:pic>
        <p:nvPicPr>
          <p:cNvPr id="30" name="Image 0" descr="C:/Temp/final-ppt/flowchart_big_t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749808"/>
            <a:ext cx="2468880" cy="4032504"/>
          </a:xfrm>
          <a:prstGeom prst="rect">
            <a:avLst/>
          </a:prstGeom>
        </p:spPr>
      </p:pic>
      <p:sp>
        <p:nvSpPr>
          <p:cNvPr id="31" name="Text 28"/>
          <p:cNvSpPr txBox="1"/>
          <p:nvPr/>
        </p:nvSpPr>
        <p:spPr>
          <a:xfrm>
            <a:off x="5760720" y="74980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5D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workflow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928"/>
            <a:ext cx="9144000" cy="36576"/>
          </a:xfrm>
          <a:prstGeom prst="rect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28016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F4A300"/>
          </a:solidFill>
          <a:ln w="9525">
            <a:solidFill>
              <a:srgbClr val="F4A3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28600" y="128016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Hunters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6400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 + ARCHITECTURE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0" y="91440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HACK@BVP 8.0</a:t>
            </a:r>
            <a:endParaRPr lang="en-US" sz="8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BVCOE · New Delhi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28600" y="4937760"/>
            <a:ext cx="64008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TakeSure · Confidence before taking something · Team Bug Hunters · HACK@BVP 8.0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4937760"/>
            <a:ext cx="25146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support · not diagnosis   4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228600" y="731520"/>
            <a:ext cx="2926080" cy="4096512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 w="9525">
            <a:solidFill>
              <a:srgbClr val="C9D0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" y="731520"/>
            <a:ext cx="2926080" cy="237744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0040" y="73152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1033272"/>
            <a:ext cx="2743200" cy="493776"/>
          </a:xfrm>
          <a:prstGeom prst="roundRect">
            <a:avLst>
              <a:gd name="adj" fmla="val 9259"/>
            </a:avLst>
          </a:prstGeom>
          <a:solidFill>
            <a:srgbClr val="F4F6FA"/>
          </a:solidFill>
          <a:ln w="9525">
            <a:solidFill>
              <a:srgbClr val="C9D0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048" y="1143000"/>
            <a:ext cx="329184" cy="274320"/>
          </a:xfrm>
          <a:prstGeom prst="roundRect">
            <a:avLst>
              <a:gd name="adj" fmla="val 16667"/>
            </a:avLst>
          </a:prstGeom>
          <a:solidFill>
            <a:srgbClr val="14213D"/>
          </a:solidFill>
          <a:ln w="9525">
            <a:solidFill>
              <a:srgbClr val="1421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84048" y="114300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</a:t>
            </a:r>
            <a:endParaRPr lang="en-US" sz="700" dirty="0"/>
          </a:p>
        </p:txBody>
      </p:sp>
      <p:sp>
        <p:nvSpPr>
          <p:cNvPr id="17" name="Text 15"/>
          <p:cNvSpPr txBox="1"/>
          <p:nvPr/>
        </p:nvSpPr>
        <p:spPr>
          <a:xfrm>
            <a:off x="786384" y="106070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786384" y="1216152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4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(React) + TypeScript, Tailwind CSS, Framer Motion · installable PWA · Hindi/English UI</a:t>
            </a:r>
            <a:endParaRPr lang="en-US" sz="640" dirty="0"/>
          </a:p>
        </p:txBody>
      </p:sp>
      <p:sp>
        <p:nvSpPr>
          <p:cNvPr id="19" name="Shape 17"/>
          <p:cNvSpPr/>
          <p:nvPr/>
        </p:nvSpPr>
        <p:spPr>
          <a:xfrm>
            <a:off x="320040" y="1568196"/>
            <a:ext cx="2743200" cy="493776"/>
          </a:xfrm>
          <a:prstGeom prst="roundRect">
            <a:avLst>
              <a:gd name="adj" fmla="val 9259"/>
            </a:avLst>
          </a:prstGeom>
          <a:solidFill>
            <a:srgbClr val="F4F6FA"/>
          </a:solidFill>
          <a:ln w="9525">
            <a:solidFill>
              <a:srgbClr val="C9D0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048" y="1677924"/>
            <a:ext cx="329184" cy="274320"/>
          </a:xfrm>
          <a:prstGeom prst="roundRect">
            <a:avLst>
              <a:gd name="adj" fmla="val 16667"/>
            </a:avLst>
          </a:prstGeom>
          <a:solidFill>
            <a:srgbClr val="14213D"/>
          </a:solidFill>
          <a:ln w="9525">
            <a:solidFill>
              <a:srgbClr val="1421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84048" y="1677924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</a:t>
            </a:r>
            <a:endParaRPr lang="en-US" sz="700" dirty="0"/>
          </a:p>
        </p:txBody>
      </p:sp>
      <p:sp>
        <p:nvSpPr>
          <p:cNvPr id="22" name="Text 20"/>
          <p:cNvSpPr txBox="1"/>
          <p:nvPr/>
        </p:nvSpPr>
        <p:spPr>
          <a:xfrm>
            <a:off x="786384" y="159562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786384" y="1751076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4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(Python), Pydantic v2 validation, SQLAlchemy · REST API with typed errors</a:t>
            </a:r>
            <a:endParaRPr lang="en-US" sz="640" dirty="0"/>
          </a:p>
        </p:txBody>
      </p:sp>
      <p:sp>
        <p:nvSpPr>
          <p:cNvPr id="24" name="Shape 22"/>
          <p:cNvSpPr/>
          <p:nvPr/>
        </p:nvSpPr>
        <p:spPr>
          <a:xfrm>
            <a:off x="320040" y="2103120"/>
            <a:ext cx="2743200" cy="493776"/>
          </a:xfrm>
          <a:prstGeom prst="roundRect">
            <a:avLst>
              <a:gd name="adj" fmla="val 9259"/>
            </a:avLst>
          </a:prstGeom>
          <a:solidFill>
            <a:srgbClr val="F4F6FA"/>
          </a:solidFill>
          <a:ln w="9525">
            <a:solidFill>
              <a:srgbClr val="C9D0D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048" y="2212848"/>
            <a:ext cx="329184" cy="274320"/>
          </a:xfrm>
          <a:prstGeom prst="roundRect">
            <a:avLst>
              <a:gd name="adj" fmla="val 16667"/>
            </a:avLst>
          </a:prstGeom>
          <a:solidFill>
            <a:srgbClr val="14213D"/>
          </a:solidFill>
          <a:ln w="9525">
            <a:solidFill>
              <a:srgbClr val="14213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84048" y="2212848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700" dirty="0"/>
          </a:p>
        </p:txBody>
      </p:sp>
      <p:sp>
        <p:nvSpPr>
          <p:cNvPr id="27" name="Text 25"/>
          <p:cNvSpPr txBox="1"/>
          <p:nvPr/>
        </p:nvSpPr>
        <p:spPr>
          <a:xfrm>
            <a:off x="786384" y="213055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786384" y="2286000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4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(Supabase) in production; SQLite for offline/demo · tables: herbs, drugs, products, interactions, sources</a:t>
            </a:r>
            <a:endParaRPr lang="en-US" sz="640" dirty="0"/>
          </a:p>
        </p:txBody>
      </p:sp>
      <p:sp>
        <p:nvSpPr>
          <p:cNvPr id="29" name="Shape 27"/>
          <p:cNvSpPr/>
          <p:nvPr/>
        </p:nvSpPr>
        <p:spPr>
          <a:xfrm>
            <a:off x="320040" y="2638044"/>
            <a:ext cx="2743200" cy="493776"/>
          </a:xfrm>
          <a:prstGeom prst="roundRect">
            <a:avLst>
              <a:gd name="adj" fmla="val 9259"/>
            </a:avLst>
          </a:prstGeom>
          <a:solidFill>
            <a:srgbClr val="F4F6FA"/>
          </a:solidFill>
          <a:ln w="9525">
            <a:solidFill>
              <a:srgbClr val="C9D0D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4048" y="2747772"/>
            <a:ext cx="329184" cy="274320"/>
          </a:xfrm>
          <a:prstGeom prst="roundRect">
            <a:avLst>
              <a:gd name="adj" fmla="val 16667"/>
            </a:avLst>
          </a:prstGeom>
          <a:solidFill>
            <a:srgbClr val="14213D"/>
          </a:solidFill>
          <a:ln w="9525">
            <a:solidFill>
              <a:srgbClr val="14213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84048" y="2747772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</a:t>
            </a:r>
            <a:endParaRPr lang="en-US" sz="700" dirty="0"/>
          </a:p>
        </p:txBody>
      </p:sp>
      <p:sp>
        <p:nvSpPr>
          <p:cNvPr id="32" name="Text 30"/>
          <p:cNvSpPr txBox="1"/>
          <p:nvPr/>
        </p:nvSpPr>
        <p:spPr>
          <a:xfrm>
            <a:off x="786384" y="266547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786384" y="2820924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4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Tesseract (eng + hin) on the server; Google Vision / Groq vision model as optional cloud reader</a:t>
            </a:r>
            <a:endParaRPr lang="en-US" sz="640" dirty="0"/>
          </a:p>
        </p:txBody>
      </p:sp>
      <p:sp>
        <p:nvSpPr>
          <p:cNvPr id="34" name="Shape 32"/>
          <p:cNvSpPr/>
          <p:nvPr/>
        </p:nvSpPr>
        <p:spPr>
          <a:xfrm>
            <a:off x="320040" y="3172968"/>
            <a:ext cx="2743200" cy="493776"/>
          </a:xfrm>
          <a:prstGeom prst="roundRect">
            <a:avLst>
              <a:gd name="adj" fmla="val 9259"/>
            </a:avLst>
          </a:prstGeom>
          <a:solidFill>
            <a:srgbClr val="F4F6FA"/>
          </a:solidFill>
          <a:ln w="9525">
            <a:solidFill>
              <a:srgbClr val="C9D0D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84048" y="3282696"/>
            <a:ext cx="329184" cy="274320"/>
          </a:xfrm>
          <a:prstGeom prst="roundRect">
            <a:avLst>
              <a:gd name="adj" fmla="val 16667"/>
            </a:avLst>
          </a:prstGeom>
          <a:solidFill>
            <a:srgbClr val="14213D"/>
          </a:solidFill>
          <a:ln w="9525">
            <a:solidFill>
              <a:srgbClr val="14213D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84048" y="3282696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FZ</a:t>
            </a:r>
            <a:endParaRPr lang="en-US" sz="700" dirty="0"/>
          </a:p>
        </p:txBody>
      </p:sp>
      <p:sp>
        <p:nvSpPr>
          <p:cNvPr id="37" name="Text 35"/>
          <p:cNvSpPr txBox="1"/>
          <p:nvPr/>
        </p:nvSpPr>
        <p:spPr>
          <a:xfrm>
            <a:off x="786384" y="320040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</a:t>
            </a:r>
            <a:endParaRPr lang="en-US" sz="800" dirty="0"/>
          </a:p>
        </p:txBody>
      </p:sp>
      <p:sp>
        <p:nvSpPr>
          <p:cNvPr id="38" name="Text 36"/>
          <p:cNvSpPr txBox="1"/>
          <p:nvPr/>
        </p:nvSpPr>
        <p:spPr>
          <a:xfrm>
            <a:off x="786384" y="3355848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4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RapidFuzz token-set matching; ≥85 accept, 70–85 ask the user, &lt;70 not recognised</a:t>
            </a:r>
            <a:endParaRPr lang="en-US" sz="640" dirty="0"/>
          </a:p>
        </p:txBody>
      </p:sp>
      <p:sp>
        <p:nvSpPr>
          <p:cNvPr id="39" name="Shape 37"/>
          <p:cNvSpPr/>
          <p:nvPr/>
        </p:nvSpPr>
        <p:spPr>
          <a:xfrm>
            <a:off x="320040" y="3707892"/>
            <a:ext cx="2743200" cy="493776"/>
          </a:xfrm>
          <a:prstGeom prst="roundRect">
            <a:avLst>
              <a:gd name="adj" fmla="val 9259"/>
            </a:avLst>
          </a:prstGeom>
          <a:solidFill>
            <a:srgbClr val="F4F6FA"/>
          </a:solidFill>
          <a:ln w="9525">
            <a:solidFill>
              <a:srgbClr val="C9D0D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84048" y="3817620"/>
            <a:ext cx="329184" cy="274320"/>
          </a:xfrm>
          <a:prstGeom prst="roundRect">
            <a:avLst>
              <a:gd name="adj" fmla="val 16667"/>
            </a:avLst>
          </a:prstGeom>
          <a:solidFill>
            <a:srgbClr val="14213D"/>
          </a:solidFill>
          <a:ln w="9525">
            <a:solidFill>
              <a:srgbClr val="14213D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84048" y="381762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700" dirty="0"/>
          </a:p>
        </p:txBody>
      </p:sp>
      <p:sp>
        <p:nvSpPr>
          <p:cNvPr id="42" name="Text 40"/>
          <p:cNvSpPr txBox="1"/>
          <p:nvPr/>
        </p:nvSpPr>
        <p:spPr>
          <a:xfrm>
            <a:off x="786384" y="373532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explainer</a:t>
            </a:r>
            <a:endParaRPr lang="en-US" sz="800" dirty="0"/>
          </a:p>
        </p:txBody>
      </p:sp>
      <p:sp>
        <p:nvSpPr>
          <p:cNvPr id="43" name="Text 41"/>
          <p:cNvSpPr txBox="1"/>
          <p:nvPr/>
        </p:nvSpPr>
        <p:spPr>
          <a:xfrm>
            <a:off x="786384" y="3890772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4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 (Llama / GPT-OSS) with JSON-schema output, temperature 0, facts-only prompt, fallback text</a:t>
            </a:r>
            <a:endParaRPr lang="en-US" sz="640" dirty="0"/>
          </a:p>
        </p:txBody>
      </p:sp>
      <p:sp>
        <p:nvSpPr>
          <p:cNvPr id="44" name="Shape 42"/>
          <p:cNvSpPr/>
          <p:nvPr/>
        </p:nvSpPr>
        <p:spPr>
          <a:xfrm>
            <a:off x="320040" y="4242816"/>
            <a:ext cx="2743200" cy="493776"/>
          </a:xfrm>
          <a:prstGeom prst="roundRect">
            <a:avLst>
              <a:gd name="adj" fmla="val 9259"/>
            </a:avLst>
          </a:prstGeom>
          <a:solidFill>
            <a:srgbClr val="F4F6FA"/>
          </a:solidFill>
          <a:ln w="9525">
            <a:solidFill>
              <a:srgbClr val="C9D0D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84048" y="4352544"/>
            <a:ext cx="329184" cy="274320"/>
          </a:xfrm>
          <a:prstGeom prst="roundRect">
            <a:avLst>
              <a:gd name="adj" fmla="val 16667"/>
            </a:avLst>
          </a:prstGeom>
          <a:solidFill>
            <a:srgbClr val="14213D"/>
          </a:solidFill>
          <a:ln w="9525">
            <a:solidFill>
              <a:srgbClr val="14213D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384048" y="4352544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700" dirty="0"/>
          </a:p>
        </p:txBody>
      </p:sp>
      <p:sp>
        <p:nvSpPr>
          <p:cNvPr id="47" name="Text 45"/>
          <p:cNvSpPr txBox="1"/>
          <p:nvPr/>
        </p:nvSpPr>
        <p:spPr>
          <a:xfrm>
            <a:off x="786384" y="427024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&amp; hosting</a:t>
            </a:r>
            <a:endParaRPr lang="en-US" sz="800" dirty="0"/>
          </a:p>
        </p:txBody>
      </p:sp>
      <p:sp>
        <p:nvSpPr>
          <p:cNvPr id="48" name="Text 46"/>
          <p:cNvSpPr txBox="1"/>
          <p:nvPr/>
        </p:nvSpPr>
        <p:spPr>
          <a:xfrm>
            <a:off x="786384" y="4425696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4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ReportLab for doctor summary + ADR form · Vercel (web) + Render/Railway (API)</a:t>
            </a:r>
            <a:endParaRPr lang="en-US" sz="640" dirty="0"/>
          </a:p>
        </p:txBody>
      </p:sp>
      <p:sp>
        <p:nvSpPr>
          <p:cNvPr id="49" name="Shape 47"/>
          <p:cNvSpPr/>
          <p:nvPr/>
        </p:nvSpPr>
        <p:spPr>
          <a:xfrm>
            <a:off x="3291840" y="731520"/>
            <a:ext cx="5623560" cy="4096512"/>
          </a:xfrm>
          <a:prstGeom prst="roundRect">
            <a:avLst>
              <a:gd name="adj" fmla="val 1116"/>
            </a:avLst>
          </a:prstGeom>
          <a:solidFill>
            <a:srgbClr val="FFFFFF"/>
          </a:solidFill>
          <a:ln w="9525">
            <a:solidFill>
              <a:srgbClr val="C9D0D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291840" y="731520"/>
            <a:ext cx="5623560" cy="237744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3383280" y="731520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3401568" y="1033272"/>
            <a:ext cx="1280160" cy="841248"/>
          </a:xfrm>
          <a:prstGeom prst="roundRect">
            <a:avLst>
              <a:gd name="adj" fmla="val 5435"/>
            </a:avLst>
          </a:prstGeom>
          <a:solidFill>
            <a:srgbClr val="F4F6FA"/>
          </a:solidFill>
          <a:ln w="9525">
            <a:solidFill>
              <a:srgbClr val="C9D0D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465576" y="1097280"/>
            <a:ext cx="219456" cy="219456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3465576" y="109728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4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64" dirty="0"/>
          </a:p>
        </p:txBody>
      </p:sp>
      <p:sp>
        <p:nvSpPr>
          <p:cNvPr id="55" name="Text 53"/>
          <p:cNvSpPr txBox="1"/>
          <p:nvPr/>
        </p:nvSpPr>
        <p:spPr>
          <a:xfrm>
            <a:off x="3730752" y="108813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760" dirty="0"/>
          </a:p>
        </p:txBody>
      </p:sp>
      <p:sp>
        <p:nvSpPr>
          <p:cNvPr id="56" name="Text 54"/>
          <p:cNvSpPr txBox="1"/>
          <p:nvPr/>
        </p:nvSpPr>
        <p:spPr>
          <a:xfrm>
            <a:off x="3465576" y="1362456"/>
            <a:ext cx="11612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 + product label photos, or typed names</a:t>
            </a:r>
            <a:endParaRPr lang="en-US" sz="630" dirty="0"/>
          </a:p>
        </p:txBody>
      </p:sp>
      <p:sp>
        <p:nvSpPr>
          <p:cNvPr id="57" name="Shape 55"/>
          <p:cNvSpPr/>
          <p:nvPr/>
        </p:nvSpPr>
        <p:spPr>
          <a:xfrm>
            <a:off x="4764024" y="1033272"/>
            <a:ext cx="1280160" cy="841248"/>
          </a:xfrm>
          <a:prstGeom prst="roundRect">
            <a:avLst>
              <a:gd name="adj" fmla="val 5435"/>
            </a:avLst>
          </a:prstGeom>
          <a:solidFill>
            <a:srgbClr val="F4F6FA"/>
          </a:solidFill>
          <a:ln w="9525">
            <a:solidFill>
              <a:srgbClr val="C9D0D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828032" y="1097280"/>
            <a:ext cx="219456" cy="219456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4828032" y="109728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4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64" dirty="0"/>
          </a:p>
        </p:txBody>
      </p:sp>
      <p:sp>
        <p:nvSpPr>
          <p:cNvPr id="60" name="Text 58"/>
          <p:cNvSpPr txBox="1"/>
          <p:nvPr/>
        </p:nvSpPr>
        <p:spPr>
          <a:xfrm>
            <a:off x="5093208" y="108813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</a:t>
            </a:r>
            <a:endParaRPr lang="en-US" sz="760" dirty="0"/>
          </a:p>
        </p:txBody>
      </p:sp>
      <p:sp>
        <p:nvSpPr>
          <p:cNvPr id="61" name="Text 59"/>
          <p:cNvSpPr txBox="1"/>
          <p:nvPr/>
        </p:nvSpPr>
        <p:spPr>
          <a:xfrm>
            <a:off x="4828032" y="1362456"/>
            <a:ext cx="11612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Tesseract eng+hin / vision model · file deleted after read</a:t>
            </a:r>
            <a:endParaRPr lang="en-US" sz="630" dirty="0"/>
          </a:p>
        </p:txBody>
      </p:sp>
      <p:sp>
        <p:nvSpPr>
          <p:cNvPr id="62" name="Shape 60"/>
          <p:cNvSpPr/>
          <p:nvPr/>
        </p:nvSpPr>
        <p:spPr>
          <a:xfrm>
            <a:off x="6126480" y="1033272"/>
            <a:ext cx="1280160" cy="841248"/>
          </a:xfrm>
          <a:prstGeom prst="roundRect">
            <a:avLst>
              <a:gd name="adj" fmla="val 5435"/>
            </a:avLst>
          </a:prstGeom>
          <a:solidFill>
            <a:srgbClr val="F4F6FA"/>
          </a:solidFill>
          <a:ln w="9525">
            <a:solidFill>
              <a:srgbClr val="C9D0DD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190488" y="1097280"/>
            <a:ext cx="219456" cy="219456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6190488" y="109728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4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64" dirty="0"/>
          </a:p>
        </p:txBody>
      </p:sp>
      <p:sp>
        <p:nvSpPr>
          <p:cNvPr id="65" name="Text 63"/>
          <p:cNvSpPr txBox="1"/>
          <p:nvPr/>
        </p:nvSpPr>
        <p:spPr>
          <a:xfrm>
            <a:off x="6455664" y="108813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Matcher</a:t>
            </a:r>
            <a:endParaRPr lang="en-US" sz="760" dirty="0"/>
          </a:p>
        </p:txBody>
      </p:sp>
      <p:sp>
        <p:nvSpPr>
          <p:cNvPr id="66" name="Text 64"/>
          <p:cNvSpPr txBox="1"/>
          <p:nvPr/>
        </p:nvSpPr>
        <p:spPr>
          <a:xfrm>
            <a:off x="6190488" y="1362456"/>
            <a:ext cx="11612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RapidFuzz · brand→generic · product→herbs · user confirms</a:t>
            </a:r>
            <a:endParaRPr lang="en-US" sz="630" dirty="0"/>
          </a:p>
        </p:txBody>
      </p:sp>
      <p:sp>
        <p:nvSpPr>
          <p:cNvPr id="67" name="Shape 65"/>
          <p:cNvSpPr/>
          <p:nvPr/>
        </p:nvSpPr>
        <p:spPr>
          <a:xfrm>
            <a:off x="7488936" y="1033272"/>
            <a:ext cx="1280160" cy="841248"/>
          </a:xfrm>
          <a:prstGeom prst="roundRect">
            <a:avLst>
              <a:gd name="adj" fmla="val 5435"/>
            </a:avLst>
          </a:prstGeom>
          <a:solidFill>
            <a:srgbClr val="14213D"/>
          </a:solidFill>
          <a:ln w="9525">
            <a:solidFill>
              <a:srgbClr val="14213D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552944" y="1097280"/>
            <a:ext cx="219456" cy="219456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7552944" y="109728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4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64" dirty="0"/>
          </a:p>
        </p:txBody>
      </p:sp>
      <p:sp>
        <p:nvSpPr>
          <p:cNvPr id="70" name="Text 68"/>
          <p:cNvSpPr txBox="1"/>
          <p:nvPr/>
        </p:nvSpPr>
        <p:spPr>
          <a:xfrm>
            <a:off x="7818120" y="108813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 (decides)</a:t>
            </a:r>
            <a:endParaRPr lang="en-US" sz="760" dirty="0"/>
          </a:p>
        </p:txBody>
      </p:sp>
      <p:sp>
        <p:nvSpPr>
          <p:cNvPr id="71" name="Text 69"/>
          <p:cNvSpPr txBox="1"/>
          <p:nvPr/>
        </p:nvSpPr>
        <p:spPr>
          <a:xfrm>
            <a:off x="7552944" y="1362456"/>
            <a:ext cx="11612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0" dirty="0">
                <a:solidFill>
                  <a:srgbClr val="DC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R1–R5: severity + grade → GREEN / AMBER / RED / NOT IN DB</a:t>
            </a:r>
            <a:endParaRPr lang="en-US" sz="630" dirty="0"/>
          </a:p>
        </p:txBody>
      </p:sp>
      <p:sp>
        <p:nvSpPr>
          <p:cNvPr id="72" name="Shape 70"/>
          <p:cNvSpPr/>
          <p:nvPr/>
        </p:nvSpPr>
        <p:spPr>
          <a:xfrm>
            <a:off x="3401568" y="1947672"/>
            <a:ext cx="1280160" cy="841248"/>
          </a:xfrm>
          <a:prstGeom prst="roundRect">
            <a:avLst>
              <a:gd name="adj" fmla="val 5435"/>
            </a:avLst>
          </a:prstGeom>
          <a:solidFill>
            <a:srgbClr val="F4F6FA"/>
          </a:solidFill>
          <a:ln w="9525">
            <a:solidFill>
              <a:srgbClr val="C9D0DD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465576" y="2011680"/>
            <a:ext cx="219456" cy="219456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3465576" y="201168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4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64" dirty="0"/>
          </a:p>
        </p:txBody>
      </p:sp>
      <p:sp>
        <p:nvSpPr>
          <p:cNvPr id="75" name="Text 73"/>
          <p:cNvSpPr txBox="1"/>
          <p:nvPr/>
        </p:nvSpPr>
        <p:spPr>
          <a:xfrm>
            <a:off x="3730752" y="200253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Explainer (AI)</a:t>
            </a:r>
            <a:endParaRPr lang="en-US" sz="760" dirty="0"/>
          </a:p>
        </p:txBody>
      </p:sp>
      <p:sp>
        <p:nvSpPr>
          <p:cNvPr id="76" name="Text 74"/>
          <p:cNvSpPr txBox="1"/>
          <p:nvPr/>
        </p:nvSpPr>
        <p:spPr>
          <a:xfrm>
            <a:off x="3465576" y="2276856"/>
            <a:ext cx="11612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LLM · matched rows only · JSON schema · cannot change verdict</a:t>
            </a:r>
            <a:endParaRPr lang="en-US" sz="630" dirty="0"/>
          </a:p>
        </p:txBody>
      </p:sp>
      <p:sp>
        <p:nvSpPr>
          <p:cNvPr id="77" name="Shape 75"/>
          <p:cNvSpPr/>
          <p:nvPr/>
        </p:nvSpPr>
        <p:spPr>
          <a:xfrm>
            <a:off x="4764024" y="1947672"/>
            <a:ext cx="1280160" cy="841248"/>
          </a:xfrm>
          <a:prstGeom prst="roundRect">
            <a:avLst>
              <a:gd name="adj" fmla="val 5435"/>
            </a:avLst>
          </a:prstGeom>
          <a:solidFill>
            <a:srgbClr val="F4F6FA"/>
          </a:solidFill>
          <a:ln w="9525">
            <a:solidFill>
              <a:srgbClr val="C9D0DD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828032" y="2011680"/>
            <a:ext cx="219456" cy="219456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4828032" y="201168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4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64" dirty="0"/>
          </a:p>
        </p:txBody>
      </p:sp>
      <p:sp>
        <p:nvSpPr>
          <p:cNvPr id="80" name="Text 78"/>
          <p:cNvSpPr txBox="1"/>
          <p:nvPr/>
        </p:nvSpPr>
        <p:spPr>
          <a:xfrm>
            <a:off x="5093208" y="200253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760" dirty="0"/>
          </a:p>
        </p:txBody>
      </p:sp>
      <p:sp>
        <p:nvSpPr>
          <p:cNvPr id="81" name="Text 79"/>
          <p:cNvSpPr txBox="1"/>
          <p:nvPr/>
        </p:nvSpPr>
        <p:spPr>
          <a:xfrm>
            <a:off x="4828032" y="2276856"/>
            <a:ext cx="11612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card (Hindi/English) · doctor PDF · ADR report</a:t>
            </a:r>
            <a:endParaRPr lang="en-US" sz="630" dirty="0"/>
          </a:p>
        </p:txBody>
      </p:sp>
      <p:sp>
        <p:nvSpPr>
          <p:cNvPr id="82" name="Shape 80"/>
          <p:cNvSpPr/>
          <p:nvPr/>
        </p:nvSpPr>
        <p:spPr>
          <a:xfrm>
            <a:off x="6126480" y="1947672"/>
            <a:ext cx="1280160" cy="841248"/>
          </a:xfrm>
          <a:prstGeom prst="roundRect">
            <a:avLst>
              <a:gd name="adj" fmla="val 5435"/>
            </a:avLst>
          </a:prstGeom>
          <a:solidFill>
            <a:srgbClr val="F4F6FA"/>
          </a:solidFill>
          <a:ln w="9525">
            <a:solidFill>
              <a:srgbClr val="C9D0DD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190488" y="2011680"/>
            <a:ext cx="219456" cy="219456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6190488" y="201168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4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64" dirty="0"/>
          </a:p>
        </p:txBody>
      </p:sp>
      <p:sp>
        <p:nvSpPr>
          <p:cNvPr id="85" name="Text 83"/>
          <p:cNvSpPr txBox="1"/>
          <p:nvPr/>
        </p:nvSpPr>
        <p:spPr>
          <a:xfrm>
            <a:off x="6455664" y="200253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Anonymised log</a:t>
            </a:r>
            <a:endParaRPr lang="en-US" sz="760" dirty="0"/>
          </a:p>
        </p:txBody>
      </p:sp>
      <p:sp>
        <p:nvSpPr>
          <p:cNvPr id="86" name="Text 84"/>
          <p:cNvSpPr txBox="1"/>
          <p:nvPr/>
        </p:nvSpPr>
        <p:spPr>
          <a:xfrm>
            <a:off x="6190488" y="2276856"/>
            <a:ext cx="11612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 + verdict + state → dashboard for Ministry / NPvCC</a:t>
            </a:r>
            <a:endParaRPr lang="en-US" sz="630" dirty="0"/>
          </a:p>
        </p:txBody>
      </p:sp>
      <p:sp>
        <p:nvSpPr>
          <p:cNvPr id="87" name="Shape 85"/>
          <p:cNvSpPr/>
          <p:nvPr/>
        </p:nvSpPr>
        <p:spPr>
          <a:xfrm>
            <a:off x="7488936" y="1947672"/>
            <a:ext cx="1280160" cy="841248"/>
          </a:xfrm>
          <a:prstGeom prst="roundRect">
            <a:avLst>
              <a:gd name="adj" fmla="val 5435"/>
            </a:avLst>
          </a:prstGeom>
          <a:solidFill>
            <a:srgbClr val="FFF4DC"/>
          </a:solidFill>
          <a:ln w="9525">
            <a:solidFill>
              <a:srgbClr val="FFF4DC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7552944" y="2011680"/>
            <a:ext cx="219456" cy="219456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7552944" y="201168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4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864" dirty="0"/>
          </a:p>
        </p:txBody>
      </p:sp>
      <p:sp>
        <p:nvSpPr>
          <p:cNvPr id="90" name="Text 88"/>
          <p:cNvSpPr txBox="1"/>
          <p:nvPr/>
        </p:nvSpPr>
        <p:spPr>
          <a:xfrm>
            <a:off x="7818120" y="200253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</a:t>
            </a:r>
            <a:endParaRPr lang="en-US" sz="760" dirty="0"/>
          </a:p>
        </p:txBody>
      </p:sp>
      <p:sp>
        <p:nvSpPr>
          <p:cNvPr id="91" name="Text 89"/>
          <p:cNvSpPr txBox="1"/>
          <p:nvPr/>
        </p:nvSpPr>
        <p:spPr>
          <a:xfrm>
            <a:off x="7552944" y="2276856"/>
            <a:ext cx="11612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/ SQLite · herb × drug rows: severity, grade A/B/C, timing, DOI/PMID</a:t>
            </a:r>
            <a:endParaRPr lang="en-US" sz="630" dirty="0"/>
          </a:p>
        </p:txBody>
      </p:sp>
      <p:sp>
        <p:nvSpPr>
          <p:cNvPr id="92" name="Text 90"/>
          <p:cNvSpPr txBox="1"/>
          <p:nvPr/>
        </p:nvSpPr>
        <p:spPr>
          <a:xfrm>
            <a:off x="3401568" y="29260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3401568" y="3154680"/>
            <a:ext cx="1737360" cy="1572768"/>
          </a:xfrm>
          <a:prstGeom prst="roundRect">
            <a:avLst>
              <a:gd name="adj" fmla="val 2907"/>
            </a:avLst>
          </a:prstGeom>
          <a:solidFill>
            <a:srgbClr val="F4F6FA"/>
          </a:solidFill>
          <a:ln w="9525">
            <a:solidFill>
              <a:srgbClr val="C9D0DD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465576" y="3218688"/>
            <a:ext cx="201168" cy="201168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3465576" y="32186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92" dirty="0"/>
          </a:p>
        </p:txBody>
      </p:sp>
      <p:sp>
        <p:nvSpPr>
          <p:cNvPr id="96" name="Text 94"/>
          <p:cNvSpPr txBox="1"/>
          <p:nvPr/>
        </p:nvSpPr>
        <p:spPr>
          <a:xfrm>
            <a:off x="3712464" y="32004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path</a:t>
            </a:r>
            <a:endParaRPr lang="en-US" sz="780" dirty="0"/>
          </a:p>
        </p:txBody>
      </p:sp>
      <p:sp>
        <p:nvSpPr>
          <p:cNvPr id="97" name="Text 95"/>
          <p:cNvSpPr txBox="1"/>
          <p:nvPr/>
        </p:nvSpPr>
        <p:spPr>
          <a:xfrm>
            <a:off x="3474720" y="3474720"/>
            <a:ext cx="160020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→ OCR text → candidate names → user confirms → rule engine looks up every herb × medicine pair → worst row wins (RED &gt; AMBER &gt; GREEN; unknown is never GREEN).</a:t>
            </a:r>
            <a:endParaRPr lang="en-US" sz="650" dirty="0"/>
          </a:p>
        </p:txBody>
      </p:sp>
      <p:sp>
        <p:nvSpPr>
          <p:cNvPr id="98" name="Shape 96"/>
          <p:cNvSpPr/>
          <p:nvPr/>
        </p:nvSpPr>
        <p:spPr>
          <a:xfrm>
            <a:off x="5230368" y="3154680"/>
            <a:ext cx="1737360" cy="1572768"/>
          </a:xfrm>
          <a:prstGeom prst="roundRect">
            <a:avLst>
              <a:gd name="adj" fmla="val 2907"/>
            </a:avLst>
          </a:prstGeom>
          <a:solidFill>
            <a:srgbClr val="F4F6FA"/>
          </a:solidFill>
          <a:ln w="9525">
            <a:solidFill>
              <a:srgbClr val="C9D0DD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5294376" y="3218688"/>
            <a:ext cx="201168" cy="201168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5294376" y="32186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92" dirty="0"/>
          </a:p>
        </p:txBody>
      </p:sp>
      <p:sp>
        <p:nvSpPr>
          <p:cNvPr id="101" name="Text 99"/>
          <p:cNvSpPr txBox="1"/>
          <p:nvPr/>
        </p:nvSpPr>
        <p:spPr>
          <a:xfrm>
            <a:off x="5541264" y="32004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guardrail</a:t>
            </a:r>
            <a:endParaRPr lang="en-US" sz="780" dirty="0"/>
          </a:p>
        </p:txBody>
      </p:sp>
      <p:sp>
        <p:nvSpPr>
          <p:cNvPr id="102" name="Text 100"/>
          <p:cNvSpPr txBox="1"/>
          <p:nvPr/>
        </p:nvSpPr>
        <p:spPr>
          <a:xfrm>
            <a:off x="5303520" y="3474720"/>
            <a:ext cx="160020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matched rows go to the LLM, which returns {summary_hi, summary_en, timing_gap, doctor_questions[3]}; invalid or directive output is rejected and the knowledge-base text is shown instead.</a:t>
            </a:r>
            <a:endParaRPr lang="en-US" sz="650" dirty="0"/>
          </a:p>
        </p:txBody>
      </p:sp>
      <p:sp>
        <p:nvSpPr>
          <p:cNvPr id="103" name="Shape 101"/>
          <p:cNvSpPr/>
          <p:nvPr/>
        </p:nvSpPr>
        <p:spPr>
          <a:xfrm>
            <a:off x="7059168" y="3154680"/>
            <a:ext cx="1737360" cy="1572768"/>
          </a:xfrm>
          <a:prstGeom prst="roundRect">
            <a:avLst>
              <a:gd name="adj" fmla="val 2907"/>
            </a:avLst>
          </a:prstGeom>
          <a:solidFill>
            <a:srgbClr val="F4F6FA"/>
          </a:solidFill>
          <a:ln w="9525">
            <a:solidFill>
              <a:srgbClr val="C9D0DD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7123176" y="3218688"/>
            <a:ext cx="201168" cy="201168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05" name="Text 103"/>
          <p:cNvSpPr txBox="1"/>
          <p:nvPr/>
        </p:nvSpPr>
        <p:spPr>
          <a:xfrm>
            <a:off x="7123176" y="32186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92" dirty="0"/>
          </a:p>
        </p:txBody>
      </p:sp>
      <p:sp>
        <p:nvSpPr>
          <p:cNvPr id="106" name="Text 104"/>
          <p:cNvSpPr txBox="1"/>
          <p:nvPr/>
        </p:nvSpPr>
        <p:spPr>
          <a:xfrm>
            <a:off x="7370064" y="32004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780" dirty="0"/>
          </a:p>
        </p:txBody>
      </p:sp>
      <p:sp>
        <p:nvSpPr>
          <p:cNvPr id="107" name="Text 105"/>
          <p:cNvSpPr txBox="1"/>
          <p:nvPr/>
        </p:nvSpPr>
        <p:spPr>
          <a:xfrm>
            <a:off x="7132320" y="3474720"/>
            <a:ext cx="160020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Uploads are deleted after extraction; the log stores ids and verdicts only — the basis of the anonymised dashboard for the Ministry of Ayush.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928"/>
            <a:ext cx="9144000" cy="36576"/>
          </a:xfrm>
          <a:prstGeom prst="rect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28016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F4A300"/>
          </a:solidFill>
          <a:ln w="9525">
            <a:solidFill>
              <a:srgbClr val="F4A3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28600" y="128016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Hunters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6400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AND SHOWSTOPPERS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0" y="91440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HACK@BVP 8.0</a:t>
            </a:r>
            <a:endParaRPr lang="en-US" sz="8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BVCOE · New Delhi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28600" y="4937760"/>
            <a:ext cx="64008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TakeSure · Confidence before taking something · Team Bug Hunters · HACK@BVP 8.0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4937760"/>
            <a:ext cx="25146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support · not diagnosis   5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228600" y="731520"/>
            <a:ext cx="196596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C9D0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" y="731520"/>
            <a:ext cx="1965960" cy="219456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01752" y="731520"/>
            <a:ext cx="1819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750" dirty="0"/>
          </a:p>
        </p:txBody>
      </p:sp>
      <p:sp>
        <p:nvSpPr>
          <p:cNvPr id="14" name="Text 12"/>
          <p:cNvSpPr txBox="1"/>
          <p:nvPr/>
        </p:nvSpPr>
        <p:spPr>
          <a:xfrm>
            <a:off x="301752" y="1005840"/>
            <a:ext cx="1819656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66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Proven, off-the-shelf stack</a:t>
            </a:r>
            <a:endParaRPr lang="en-US" sz="66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66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OCR: Google Vision / Paddle OCR</a:t>
            </a:r>
            <a:endParaRPr lang="en-US" sz="66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66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RapidFuzz for name matching</a:t>
            </a:r>
            <a:endParaRPr lang="en-US" sz="66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66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for KB lookup</a:t>
            </a:r>
            <a:endParaRPr lang="en-US" sz="66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66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only explains — rules decide risk</a:t>
            </a:r>
            <a:endParaRPr lang="en-US" sz="66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66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custom ML training</a:t>
            </a:r>
            <a:endParaRPr lang="en-US" sz="660" dirty="0"/>
          </a:p>
        </p:txBody>
      </p:sp>
      <p:sp>
        <p:nvSpPr>
          <p:cNvPr id="15" name="Shape 13"/>
          <p:cNvSpPr/>
          <p:nvPr/>
        </p:nvSpPr>
        <p:spPr>
          <a:xfrm>
            <a:off x="2286000" y="731520"/>
            <a:ext cx="196596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C9D0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0" y="731520"/>
            <a:ext cx="1965960" cy="219456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359152" y="731520"/>
            <a:ext cx="1819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EVIDENCE</a:t>
            </a:r>
            <a:endParaRPr lang="en-US" sz="750" dirty="0"/>
          </a:p>
        </p:txBody>
      </p:sp>
      <p:sp>
        <p:nvSpPr>
          <p:cNvPr id="18" name="Text 16"/>
          <p:cNvSpPr txBox="1"/>
          <p:nvPr/>
        </p:nvSpPr>
        <p:spPr>
          <a:xfrm>
            <a:off x="2359152" y="1005840"/>
            <a:ext cx="1819656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66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/ citable sources: Ayurvedic Pharmacopoeia, NIH LiverTox, MSKCC, PubMed, WHO monographs</a:t>
            </a:r>
            <a:endParaRPr lang="en-US" sz="66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66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entry stores evidence, severity &amp; source</a:t>
            </a:r>
            <a:endParaRPr lang="en-US" sz="66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66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graded A / B / C</a:t>
            </a:r>
            <a:endParaRPr lang="en-US" sz="660" dirty="0"/>
          </a:p>
        </p:txBody>
      </p:sp>
      <p:sp>
        <p:nvSpPr>
          <p:cNvPr id="19" name="Shape 17"/>
          <p:cNvSpPr/>
          <p:nvPr/>
        </p:nvSpPr>
        <p:spPr>
          <a:xfrm>
            <a:off x="228600" y="2240280"/>
            <a:ext cx="196596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9D0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" y="2240280"/>
            <a:ext cx="1965960" cy="219456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01752" y="2240280"/>
            <a:ext cx="1819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750" dirty="0"/>
          </a:p>
        </p:txBody>
      </p:sp>
      <p:sp>
        <p:nvSpPr>
          <p:cNvPr id="22" name="Text 20"/>
          <p:cNvSpPr txBox="1"/>
          <p:nvPr/>
        </p:nvSpPr>
        <p:spPr>
          <a:xfrm>
            <a:off x="301752" y="2514600"/>
            <a:ext cx="181965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66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Backend · Mobile/Frontend · Data curation</a:t>
            </a:r>
            <a:endParaRPr lang="en-US" sz="66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66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Local/offline components + free/low-cost infrastructure</a:t>
            </a:r>
            <a:endParaRPr lang="en-US" sz="66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66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Swappable LLM provider</a:t>
            </a:r>
            <a:endParaRPr lang="en-US" sz="660" dirty="0"/>
          </a:p>
        </p:txBody>
      </p:sp>
      <p:sp>
        <p:nvSpPr>
          <p:cNvPr id="23" name="Shape 21"/>
          <p:cNvSpPr/>
          <p:nvPr/>
        </p:nvSpPr>
        <p:spPr>
          <a:xfrm>
            <a:off x="2286000" y="2240280"/>
            <a:ext cx="196596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9D0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6000" y="2240280"/>
            <a:ext cx="1965960" cy="219456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359152" y="2240280"/>
            <a:ext cx="1819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SCOPE</a:t>
            </a:r>
            <a:endParaRPr lang="en-US" sz="750" dirty="0"/>
          </a:p>
        </p:txBody>
      </p:sp>
      <p:sp>
        <p:nvSpPr>
          <p:cNvPr id="26" name="Text 24"/>
          <p:cNvSpPr txBox="1"/>
          <p:nvPr/>
        </p:nvSpPr>
        <p:spPr>
          <a:xfrm>
            <a:off x="2359152" y="2514600"/>
            <a:ext cx="181965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66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 herb–drug pairs · 2 photo inputs · manual text-entry fallback · risk / safety card · ADR reporting form</a:t>
            </a:r>
            <a:endParaRPr lang="en-US" sz="66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66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MVP: diagnosis · dosing · herb–herb interactions · custom ML training</a:t>
            </a:r>
            <a:endParaRPr lang="en-US" sz="660" dirty="0"/>
          </a:p>
        </p:txBody>
      </p:sp>
      <p:sp>
        <p:nvSpPr>
          <p:cNvPr id="27" name="Shape 25"/>
          <p:cNvSpPr/>
          <p:nvPr/>
        </p:nvSpPr>
        <p:spPr>
          <a:xfrm>
            <a:off x="228600" y="3520440"/>
            <a:ext cx="4023360" cy="1298448"/>
          </a:xfrm>
          <a:prstGeom prst="roundRect">
            <a:avLst>
              <a:gd name="adj" fmla="val 3521"/>
            </a:avLst>
          </a:prstGeom>
          <a:solidFill>
            <a:srgbClr val="FFFFFF"/>
          </a:solidFill>
          <a:ln w="9525">
            <a:solidFill>
              <a:srgbClr val="C9D0D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8600" y="3520440"/>
            <a:ext cx="4023360" cy="219456"/>
          </a:xfrm>
          <a:prstGeom prst="rect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01752" y="3520440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/ OPERATIONAL SAFETY</a:t>
            </a:r>
            <a:endParaRPr lang="en-US" sz="750" dirty="0"/>
          </a:p>
        </p:txBody>
      </p:sp>
      <p:sp>
        <p:nvSpPr>
          <p:cNvPr id="30" name="Text 28"/>
          <p:cNvSpPr txBox="1"/>
          <p:nvPr/>
        </p:nvSpPr>
        <p:spPr>
          <a:xfrm>
            <a:off x="301752" y="3794760"/>
            <a:ext cx="387705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66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 workflow aligned with Ministry/ICSR fields</a:t>
            </a:r>
            <a:endParaRPr lang="en-US" sz="66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66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to Ayush Suraksha instead of a parallel reporting system</a:t>
            </a:r>
            <a:endParaRPr lang="en-US" sz="66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66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not retained beyond the session unless the user opts in</a:t>
            </a:r>
            <a:endParaRPr lang="en-US" sz="66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66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support — not diagnosis or prescription</a:t>
            </a:r>
            <a:endParaRPr lang="en-US" sz="660" dirty="0"/>
          </a:p>
        </p:txBody>
      </p:sp>
      <p:sp>
        <p:nvSpPr>
          <p:cNvPr id="31" name="Text 29"/>
          <p:cNvSpPr txBox="1"/>
          <p:nvPr/>
        </p:nvSpPr>
        <p:spPr>
          <a:xfrm>
            <a:off x="228600" y="4828032"/>
            <a:ext cx="4023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" dirty="0">
                <a:solidFill>
                  <a:srgbClr val="F7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89120" y="731520"/>
          <a:ext cx="45262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292608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/ BLOCKER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OCR misread
</a:t>
                      </a:r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5D6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Handwritten prescriptions · poor-quality or unusual printed labels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4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Extracted names shown for user confirmation · manual text entry always available · fuzzy-matching thresholds separate confident from uncertain matches</a:t>
                      </a:r>
                      <a:endParaRPr lang="en-US" sz="6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Unknown herb / drug
</a:t>
                      </a:r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5D6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Herb or drug may not be in the KB · coverage gaps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4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 guess · neutral “NOT IN DATABASE” result · unknown items logged for future curation · MVP deliberately scoped</a:t>
                      </a:r>
                      <a:endParaRPr lang="en-US" sz="6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 / conflicting evidence
</a:t>
                      </a:r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5D6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clinical evidence · sources may disagree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4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A/B/C grade on every result · source / reference visible · conflicting sources kept at lower confidence, not hidden · KB entries reviewed before publication</a:t>
                      </a:r>
                      <a:endParaRPr lang="en-US" sz="6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7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hallucination
</a:t>
                      </a:r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5D6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Unsupported medical claims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4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receives ONLY matched KB info · never determines severity or verdict · schema-validated output · raw KB text if validation fails · safety decision works with LLM off</a:t>
                      </a:r>
                      <a:endParaRPr lang="en-US" sz="6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7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Medical liability / safety scope
</a:t>
                      </a:r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5D6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 may read it as a prescription or diagnosis tool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4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Positioned as DECISION SUPPORT · never says stop / start · no diagnosis or dosing · evidence + sources shown · questions for the doctor · report-incorrect-info mechanism</a:t>
                      </a:r>
                      <a:endParaRPr lang="en-US" sz="6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7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/ connectivity failure
</a:t>
                      </a:r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5D6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Internet or external API / provider failure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4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/ offline fallback · SQLite KB · PaddleOCR runs locally · LLM provider swappable · DB lookup independent of LLM · cached outputs for demo continuity</a:t>
                      </a:r>
                      <a:endParaRPr lang="en-US" sz="6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928"/>
            <a:ext cx="9144000" cy="36576"/>
          </a:xfrm>
          <a:prstGeom prst="rect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28016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F4A300"/>
          </a:solidFill>
          <a:ln w="9525">
            <a:solidFill>
              <a:srgbClr val="F4A3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28600" y="128016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Hunters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6400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USP (UNIQUE SELLING PROPOSITION) &amp; BUSINESS MODEL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0" y="91440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HACK@BVP 8.0</a:t>
            </a:r>
            <a:endParaRPr lang="en-US" sz="8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BVCOE · New Delhi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28600" y="4937760"/>
            <a:ext cx="64008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TakeSure · Confidence before taking something · Team Bug Hunters · HACK@BVP 8.0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4937760"/>
            <a:ext cx="25146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support · not diagnosis   6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228600" y="731520"/>
            <a:ext cx="4297680" cy="2487168"/>
          </a:xfrm>
          <a:prstGeom prst="roundRect">
            <a:avLst>
              <a:gd name="adj" fmla="val 1838"/>
            </a:avLst>
          </a:prstGeom>
          <a:solidFill>
            <a:srgbClr val="FFFFFF"/>
          </a:solidFill>
          <a:ln w="9525">
            <a:solidFill>
              <a:srgbClr val="C9D0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" y="731520"/>
            <a:ext cx="4297680" cy="237744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0040" y="73152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USP (UNIQUE SELLING PROPOSITION)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1042416"/>
            <a:ext cx="4114800" cy="475488"/>
          </a:xfrm>
          <a:prstGeom prst="roundRect">
            <a:avLst>
              <a:gd name="adj" fmla="val 9615"/>
            </a:avLst>
          </a:prstGeom>
          <a:solidFill>
            <a:srgbClr val="F4F6FA"/>
          </a:solidFill>
          <a:ln w="9525">
            <a:solidFill>
              <a:srgbClr val="C9D0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048" y="1161288"/>
            <a:ext cx="237744" cy="237744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84048" y="11612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6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36" dirty="0"/>
          </a:p>
        </p:txBody>
      </p:sp>
      <p:sp>
        <p:nvSpPr>
          <p:cNvPr id="17" name="Text 15"/>
          <p:cNvSpPr txBox="1"/>
          <p:nvPr/>
        </p:nvSpPr>
        <p:spPr>
          <a:xfrm>
            <a:off x="694944" y="1078992"/>
            <a:ext cx="3685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first safety layer between the two medical systems people already mix</a:t>
            </a:r>
            <a:pPr indent="0" marL="0">
              <a:buNone/>
            </a:pPr>
            <a:r>
              <a:rPr lang="en-US" sz="74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nothing public today checks an Ayurvedic product against an allopathic prescription.</a:t>
            </a:r>
            <a:endParaRPr lang="en-US" sz="740" dirty="0"/>
          </a:p>
        </p:txBody>
      </p:sp>
      <p:sp>
        <p:nvSpPr>
          <p:cNvPr id="18" name="Shape 16"/>
          <p:cNvSpPr/>
          <p:nvPr/>
        </p:nvSpPr>
        <p:spPr>
          <a:xfrm>
            <a:off x="320040" y="1572768"/>
            <a:ext cx="4114800" cy="475488"/>
          </a:xfrm>
          <a:prstGeom prst="roundRect">
            <a:avLst>
              <a:gd name="adj" fmla="val 9615"/>
            </a:avLst>
          </a:prstGeom>
          <a:solidFill>
            <a:srgbClr val="F4F6FA"/>
          </a:solidFill>
          <a:ln w="9525">
            <a:solidFill>
              <a:srgbClr val="C9D0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048" y="1691640"/>
            <a:ext cx="237744" cy="237744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84048" y="16916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6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36" dirty="0"/>
          </a:p>
        </p:txBody>
      </p:sp>
      <p:sp>
        <p:nvSpPr>
          <p:cNvPr id="21" name="Text 19"/>
          <p:cNvSpPr txBox="1"/>
          <p:nvPr/>
        </p:nvSpPr>
        <p:spPr>
          <a:xfrm>
            <a:off x="694944" y="1609344"/>
            <a:ext cx="3685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from published data; AI only explains</a:t>
            </a:r>
            <a:pPr indent="0" marL="0">
              <a:buNone/>
            </a:pPr>
            <a:r>
              <a:rPr lang="en-US" sz="74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auditable rules over cited rows; the opposite of a “ChatGPT wrapper”.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20040" y="2103120"/>
            <a:ext cx="4114800" cy="475488"/>
          </a:xfrm>
          <a:prstGeom prst="roundRect">
            <a:avLst>
              <a:gd name="adj" fmla="val 9615"/>
            </a:avLst>
          </a:prstGeom>
          <a:solidFill>
            <a:srgbClr val="F4F6FA"/>
          </a:solidFill>
          <a:ln w="9525">
            <a:solidFill>
              <a:srgbClr val="C9D0D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048" y="2221992"/>
            <a:ext cx="237744" cy="237744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84048" y="22219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6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36" dirty="0"/>
          </a:p>
        </p:txBody>
      </p:sp>
      <p:sp>
        <p:nvSpPr>
          <p:cNvPr id="25" name="Text 23"/>
          <p:cNvSpPr txBox="1"/>
          <p:nvPr/>
        </p:nvSpPr>
        <p:spPr>
          <a:xfrm>
            <a:off x="694944" y="2139696"/>
            <a:ext cx="3685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India:</a:t>
            </a:r>
            <a:pPr indent="0" marL="0">
              <a:buNone/>
            </a:pPr>
            <a:r>
              <a:rPr lang="en-US" sz="74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Indian brand names, Sanskrit/Hindi synonyms, Hindi explanations, Ministry of Ayush ADR format, Ayush Suraksha portal link.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320040" y="2633472"/>
            <a:ext cx="4114800" cy="475488"/>
          </a:xfrm>
          <a:prstGeom prst="roundRect">
            <a:avLst>
              <a:gd name="adj" fmla="val 9615"/>
            </a:avLst>
          </a:prstGeom>
          <a:solidFill>
            <a:srgbClr val="F4F6FA"/>
          </a:solidFill>
          <a:ln w="9525">
            <a:solidFill>
              <a:srgbClr val="C9D0D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4048" y="2752344"/>
            <a:ext cx="237744" cy="237744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84048" y="275234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6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36" dirty="0"/>
          </a:p>
        </p:txBody>
      </p:sp>
      <p:sp>
        <p:nvSpPr>
          <p:cNvPr id="29" name="Text 27"/>
          <p:cNvSpPr txBox="1"/>
          <p:nvPr/>
        </p:nvSpPr>
        <p:spPr>
          <a:xfrm>
            <a:off x="694944" y="2670048"/>
            <a:ext cx="3685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by design:</a:t>
            </a:r>
            <a:pPr indent="0" marL="0">
              <a:buNone/>
            </a:pPr>
            <a:r>
              <a:rPr lang="en-US" sz="74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evidence grades, timing gaps instead of alarms, “not in database” instead of guesses.</a:t>
            </a:r>
            <a:endParaRPr lang="en-US" sz="740" dirty="0"/>
          </a:p>
        </p:txBody>
      </p:sp>
      <p:sp>
        <p:nvSpPr>
          <p:cNvPr id="30" name="Shape 28"/>
          <p:cNvSpPr/>
          <p:nvPr/>
        </p:nvSpPr>
        <p:spPr>
          <a:xfrm>
            <a:off x="4617720" y="731520"/>
            <a:ext cx="4297680" cy="2487168"/>
          </a:xfrm>
          <a:prstGeom prst="roundRect">
            <a:avLst>
              <a:gd name="adj" fmla="val 1838"/>
            </a:avLst>
          </a:prstGeom>
          <a:solidFill>
            <a:srgbClr val="FFFFFF"/>
          </a:solidFill>
          <a:ln w="9525">
            <a:solidFill>
              <a:srgbClr val="C9D0D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17720" y="731520"/>
            <a:ext cx="4297680" cy="237744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709160" y="73152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709160" y="1042416"/>
            <a:ext cx="4114800" cy="475488"/>
          </a:xfrm>
          <a:prstGeom prst="roundRect">
            <a:avLst>
              <a:gd name="adj" fmla="val 9615"/>
            </a:avLst>
          </a:prstGeom>
          <a:solidFill>
            <a:srgbClr val="F4F6FA"/>
          </a:solidFill>
          <a:ln w="9525">
            <a:solidFill>
              <a:srgbClr val="C9D0D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73168" y="1152144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14213D"/>
          </a:solidFill>
          <a:ln w="9525">
            <a:solidFill>
              <a:srgbClr val="14213D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773168" y="115214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</a:t>
            </a:r>
            <a:endParaRPr lang="en-US" sz="680" dirty="0"/>
          </a:p>
        </p:txBody>
      </p:sp>
      <p:sp>
        <p:nvSpPr>
          <p:cNvPr id="36" name="Text 34"/>
          <p:cNvSpPr txBox="1"/>
          <p:nvPr/>
        </p:nvSpPr>
        <p:spPr>
          <a:xfrm>
            <a:off x="5504688" y="1078992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for citizens</a:t>
            </a:r>
            <a:pPr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Web/PWA checker in Hindi &amp; English; grows the knowledge base and the ADR signal.</a:t>
            </a:r>
            <a:endParaRPr lang="en-US" sz="720" dirty="0"/>
          </a:p>
        </p:txBody>
      </p:sp>
      <p:sp>
        <p:nvSpPr>
          <p:cNvPr id="37" name="Shape 35"/>
          <p:cNvSpPr/>
          <p:nvPr/>
        </p:nvSpPr>
        <p:spPr>
          <a:xfrm>
            <a:off x="4709160" y="1572768"/>
            <a:ext cx="4114800" cy="475488"/>
          </a:xfrm>
          <a:prstGeom prst="roundRect">
            <a:avLst>
              <a:gd name="adj" fmla="val 9615"/>
            </a:avLst>
          </a:prstGeom>
          <a:solidFill>
            <a:srgbClr val="F4F6FA"/>
          </a:solidFill>
          <a:ln w="9525">
            <a:solidFill>
              <a:srgbClr val="C9D0D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73168" y="1682496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14213D"/>
          </a:solidFill>
          <a:ln w="9525">
            <a:solidFill>
              <a:srgbClr val="14213D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773168" y="16824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</a:t>
            </a:r>
            <a:endParaRPr lang="en-US" sz="680" dirty="0"/>
          </a:p>
        </p:txBody>
      </p:sp>
      <p:sp>
        <p:nvSpPr>
          <p:cNvPr id="40" name="Text 38"/>
          <p:cNvSpPr txBox="1"/>
          <p:nvPr/>
        </p:nvSpPr>
        <p:spPr>
          <a:xfrm>
            <a:off x="5504688" y="1609344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counter tool</a:t>
            </a:r>
            <a:pPr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Per-query / subscription API for pharmacy chains, hospital HIS, telemedicine apps; QR on the chemist's bill.</a:t>
            </a:r>
            <a:endParaRPr lang="en-US" sz="720" dirty="0"/>
          </a:p>
        </p:txBody>
      </p:sp>
      <p:sp>
        <p:nvSpPr>
          <p:cNvPr id="41" name="Shape 39"/>
          <p:cNvSpPr/>
          <p:nvPr/>
        </p:nvSpPr>
        <p:spPr>
          <a:xfrm>
            <a:off x="4709160" y="2103120"/>
            <a:ext cx="4114800" cy="475488"/>
          </a:xfrm>
          <a:prstGeom prst="roundRect">
            <a:avLst>
              <a:gd name="adj" fmla="val 9615"/>
            </a:avLst>
          </a:prstGeom>
          <a:solidFill>
            <a:srgbClr val="F4F6FA"/>
          </a:solidFill>
          <a:ln w="9525">
            <a:solidFill>
              <a:srgbClr val="C9D0D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73168" y="2212848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14213D"/>
          </a:solidFill>
          <a:ln w="9525">
            <a:solidFill>
              <a:srgbClr val="14213D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773168" y="221284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B2G / CSR</a:t>
            </a:r>
            <a:endParaRPr lang="en-US" sz="680" dirty="0"/>
          </a:p>
        </p:txBody>
      </p:sp>
      <p:sp>
        <p:nvSpPr>
          <p:cNvPr id="44" name="Text 42"/>
          <p:cNvSpPr txBox="1"/>
          <p:nvPr/>
        </p:nvSpPr>
        <p:spPr>
          <a:xfrm>
            <a:off x="5504688" y="2139696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Programmes &amp; grants</a:t>
            </a:r>
            <a:pPr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Co-use analytics and structured ICSRs for the Ministry of Ayush pharmacovigilance network; CSR funding from Ayurvedic brands that want a trust layer.</a:t>
            </a:r>
            <a:endParaRPr lang="en-US" sz="720" dirty="0"/>
          </a:p>
        </p:txBody>
      </p:sp>
      <p:sp>
        <p:nvSpPr>
          <p:cNvPr id="45" name="Shape 43"/>
          <p:cNvSpPr/>
          <p:nvPr/>
        </p:nvSpPr>
        <p:spPr>
          <a:xfrm>
            <a:off x="4709160" y="2633472"/>
            <a:ext cx="4114800" cy="475488"/>
          </a:xfrm>
          <a:prstGeom prst="roundRect">
            <a:avLst>
              <a:gd name="adj" fmla="val 9615"/>
            </a:avLst>
          </a:prstGeom>
          <a:solidFill>
            <a:srgbClr val="F4F6FA"/>
          </a:solidFill>
          <a:ln w="9525">
            <a:solidFill>
              <a:srgbClr val="C9D0D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773168" y="2743200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14213D"/>
          </a:solidFill>
          <a:ln w="9525">
            <a:solidFill>
              <a:srgbClr val="14213D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4773168" y="274320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680" dirty="0"/>
          </a:p>
        </p:txBody>
      </p:sp>
      <p:sp>
        <p:nvSpPr>
          <p:cNvPr id="48" name="Text 46"/>
          <p:cNvSpPr txBox="1"/>
          <p:nvPr/>
        </p:nvSpPr>
        <p:spPr>
          <a:xfrm>
            <a:off x="5504688" y="2670048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 Grid / ABDM integration</a:t>
            </a:r>
            <a:pPr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verdict attached to the ABHA health record; open KB co-curated with Ayurveda colleges.</a:t>
            </a:r>
            <a:endParaRPr lang="en-US" sz="720" dirty="0"/>
          </a:p>
        </p:txBody>
      </p:sp>
      <p:sp>
        <p:nvSpPr>
          <p:cNvPr id="49" name="Text 47"/>
          <p:cNvSpPr txBox="1"/>
          <p:nvPr/>
        </p:nvSpPr>
        <p:spPr>
          <a:xfrm>
            <a:off x="228600" y="331012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 · ONE KNOWLEDGE BASE, FOUR USERS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228600" y="3520440"/>
            <a:ext cx="1234440" cy="129844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C9D0D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28600" y="3520440"/>
            <a:ext cx="1234440" cy="27432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274320" y="35204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&amp; FAMILIES</a:t>
            </a:r>
            <a:endParaRPr lang="en-US" sz="600" dirty="0"/>
          </a:p>
        </p:txBody>
      </p:sp>
      <p:sp>
        <p:nvSpPr>
          <p:cNvPr id="53" name="Text 51"/>
          <p:cNvSpPr txBox="1"/>
          <p:nvPr/>
        </p:nvSpPr>
        <p:spPr>
          <a:xfrm>
            <a:off x="292608" y="3840480"/>
            <a:ext cx="11064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4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60-second verdict in Hindi or English, timing gaps, and three questions to carry to the clinic</a:t>
            </a:r>
            <a:endParaRPr lang="en-US" sz="640" dirty="0"/>
          </a:p>
        </p:txBody>
      </p:sp>
      <p:sp>
        <p:nvSpPr>
          <p:cNvPr id="54" name="Shape 52"/>
          <p:cNvSpPr/>
          <p:nvPr/>
        </p:nvSpPr>
        <p:spPr>
          <a:xfrm>
            <a:off x="1527048" y="3520440"/>
            <a:ext cx="1234440" cy="129844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C9D0DD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527048" y="3520440"/>
            <a:ext cx="1234440" cy="27432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1572768" y="35204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&amp; VAIDYAS</a:t>
            </a:r>
            <a:endParaRPr lang="en-US" sz="600" dirty="0"/>
          </a:p>
        </p:txBody>
      </p:sp>
      <p:sp>
        <p:nvSpPr>
          <p:cNvPr id="57" name="Text 55"/>
          <p:cNvSpPr txBox="1"/>
          <p:nvPr/>
        </p:nvSpPr>
        <p:spPr>
          <a:xfrm>
            <a:off x="1591056" y="3840480"/>
            <a:ext cx="11064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4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finally disclose what they take; a one-page summary with sources bridges both vocabularies</a:t>
            </a:r>
            <a:endParaRPr lang="en-US" sz="640" dirty="0"/>
          </a:p>
        </p:txBody>
      </p:sp>
      <p:sp>
        <p:nvSpPr>
          <p:cNvPr id="58" name="Shape 56"/>
          <p:cNvSpPr/>
          <p:nvPr/>
        </p:nvSpPr>
        <p:spPr>
          <a:xfrm>
            <a:off x="2825496" y="3520440"/>
            <a:ext cx="1234440" cy="129844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C9D0D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825496" y="3520440"/>
            <a:ext cx="1234440" cy="27432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2871216" y="35204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PHARMACISTS &amp; CHEMISTS</a:t>
            </a:r>
            <a:endParaRPr lang="en-US" sz="600" dirty="0"/>
          </a:p>
        </p:txBody>
      </p:sp>
      <p:sp>
        <p:nvSpPr>
          <p:cNvPr id="61" name="Text 59"/>
          <p:cNvSpPr txBox="1"/>
          <p:nvPr/>
        </p:nvSpPr>
        <p:spPr>
          <a:xfrm>
            <a:off x="2889504" y="3840480"/>
            <a:ext cx="11064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4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Counter-side cross-check for the only shop that sells both systems' products; QR on the bill</a:t>
            </a:r>
            <a:endParaRPr lang="en-US" sz="640" dirty="0"/>
          </a:p>
        </p:txBody>
      </p:sp>
      <p:sp>
        <p:nvSpPr>
          <p:cNvPr id="62" name="Shape 60"/>
          <p:cNvSpPr/>
          <p:nvPr/>
        </p:nvSpPr>
        <p:spPr>
          <a:xfrm>
            <a:off x="4123944" y="3520440"/>
            <a:ext cx="1234440" cy="129844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C9D0DD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123944" y="3520440"/>
            <a:ext cx="1234440" cy="274320"/>
          </a:xfrm>
          <a:prstGeom prst="rect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4169664" y="35204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AYUSH / NPvCC</a:t>
            </a:r>
            <a:endParaRPr lang="en-US" sz="600" dirty="0"/>
          </a:p>
        </p:txBody>
      </p:sp>
      <p:sp>
        <p:nvSpPr>
          <p:cNvPr id="65" name="Text 63"/>
          <p:cNvSpPr txBox="1"/>
          <p:nvPr/>
        </p:nvSpPr>
        <p:spPr>
          <a:xfrm>
            <a:off x="4187952" y="3840480"/>
            <a:ext cx="11064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4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ICSRs in the official format, anonymised co-use analytics by state, early signal detection</a:t>
            </a:r>
            <a:endParaRPr lang="en-US" sz="640" dirty="0"/>
          </a:p>
        </p:txBody>
      </p:sp>
      <p:sp>
        <p:nvSpPr>
          <p:cNvPr id="66" name="Text 64"/>
          <p:cNvSpPr txBox="1"/>
          <p:nvPr/>
        </p:nvSpPr>
        <p:spPr>
          <a:xfrm>
            <a:off x="5532120" y="331012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· WHY IT MATTERS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5532120" y="3520440"/>
            <a:ext cx="1078992" cy="1298448"/>
          </a:xfrm>
          <a:prstGeom prst="roundRect">
            <a:avLst>
              <a:gd name="adj" fmla="val 4237"/>
            </a:avLst>
          </a:prstGeom>
          <a:solidFill>
            <a:srgbClr val="F4F6FA"/>
          </a:solidFill>
          <a:ln w="9525">
            <a:solidFill>
              <a:srgbClr val="C9D0DD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5532120" y="3566160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1,473</a:t>
            </a:r>
            <a:endParaRPr lang="en-US" sz="1800" dirty="0"/>
          </a:p>
        </p:txBody>
      </p:sp>
      <p:sp>
        <p:nvSpPr>
          <p:cNvPr id="69" name="Text 67"/>
          <p:cNvSpPr txBox="1"/>
          <p:nvPr/>
        </p:nvSpPr>
        <p:spPr>
          <a:xfrm>
            <a:off x="5586984" y="3968496"/>
            <a:ext cx="9692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ASU&amp;H adverse-event reports nationally since 2018 — TakeSure turns every reaction into a structured ICSR</a:t>
            </a:r>
            <a:endParaRPr lang="en-US" sz="620" dirty="0"/>
          </a:p>
        </p:txBody>
      </p:sp>
      <p:sp>
        <p:nvSpPr>
          <p:cNvPr id="70" name="Shape 68"/>
          <p:cNvSpPr/>
          <p:nvPr/>
        </p:nvSpPr>
        <p:spPr>
          <a:xfrm>
            <a:off x="6675120" y="3520440"/>
            <a:ext cx="1078992" cy="1298448"/>
          </a:xfrm>
          <a:prstGeom prst="roundRect">
            <a:avLst>
              <a:gd name="adj" fmla="val 4237"/>
            </a:avLst>
          </a:prstGeom>
          <a:solidFill>
            <a:srgbClr val="F4F6FA"/>
          </a:solidFill>
          <a:ln w="9525">
            <a:solidFill>
              <a:srgbClr val="C9D0DD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6675120" y="3566160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1800" dirty="0"/>
          </a:p>
        </p:txBody>
      </p:sp>
      <p:sp>
        <p:nvSpPr>
          <p:cNvPr id="72" name="Text 70"/>
          <p:cNvSpPr txBox="1"/>
          <p:nvPr/>
        </p:nvSpPr>
        <p:spPr>
          <a:xfrm>
            <a:off x="6729984" y="3968496"/>
            <a:ext cx="9692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herbal users with a side effect never told their doctor — TakeSure hands them the questions to ask</a:t>
            </a:r>
            <a:endParaRPr lang="en-US" sz="620" dirty="0"/>
          </a:p>
        </p:txBody>
      </p:sp>
      <p:sp>
        <p:nvSpPr>
          <p:cNvPr id="73" name="Shape 71"/>
          <p:cNvSpPr/>
          <p:nvPr/>
        </p:nvSpPr>
        <p:spPr>
          <a:xfrm>
            <a:off x="7818120" y="3520440"/>
            <a:ext cx="1078992" cy="1298448"/>
          </a:xfrm>
          <a:prstGeom prst="roundRect">
            <a:avLst>
              <a:gd name="adj" fmla="val 4237"/>
            </a:avLst>
          </a:prstGeom>
          <a:solidFill>
            <a:srgbClr val="F4F6FA"/>
          </a:solidFill>
          <a:ln w="9525">
            <a:solidFill>
              <a:srgbClr val="C9D0DD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7818120" y="3566160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75" name="Text 73"/>
          <p:cNvSpPr txBox="1"/>
          <p:nvPr/>
        </p:nvSpPr>
        <p:spPr>
          <a:xfrm>
            <a:off x="7872984" y="3968496"/>
            <a:ext cx="9692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tools today check an Ayurvedic product against an allopathic prescription — TakeSure is the first</a:t>
            </a:r>
            <a:endParaRPr lang="en-US" sz="6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928"/>
            <a:ext cx="9144000" cy="36576"/>
          </a:xfrm>
          <a:prstGeom prst="rect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28016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F4A300"/>
          </a:solidFill>
          <a:ln w="9525">
            <a:solidFill>
              <a:srgbClr val="F4A3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28600" y="128016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Hunters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6400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&amp; REFERENCES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0" y="91440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HACK@BVP 8.0</a:t>
            </a:r>
            <a:endParaRPr lang="en-US" sz="8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BVCOE · New Delhi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28600" y="4937760"/>
            <a:ext cx="64008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TakeSure · Confidence before taking something · Team Bug Hunters · HACK@BVP 8.0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4937760"/>
            <a:ext cx="25146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support · not diagnosis   7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228600" y="731520"/>
            <a:ext cx="3154680" cy="4096512"/>
          </a:xfrm>
          <a:prstGeom prst="roundRect">
            <a:avLst>
              <a:gd name="adj" fmla="val 1449"/>
            </a:avLst>
          </a:prstGeom>
          <a:solidFill>
            <a:srgbClr val="FFFFFF"/>
          </a:solidFill>
          <a:ln w="9525">
            <a:solidFill>
              <a:srgbClr val="C9D0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" y="731520"/>
            <a:ext cx="3154680" cy="237744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0040" y="731520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REFERENCES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01752" y="1033272"/>
            <a:ext cx="3017520" cy="429768"/>
          </a:xfrm>
          <a:prstGeom prst="roundRect">
            <a:avLst>
              <a:gd name="adj" fmla="val 8511"/>
            </a:avLst>
          </a:prstGeom>
          <a:solidFill>
            <a:srgbClr val="F4F6FA"/>
          </a:solidFill>
          <a:ln w="9525">
            <a:solidFill>
              <a:srgbClr val="C9D0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" y="1133856"/>
            <a:ext cx="219456" cy="219456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7472" y="113385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4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64" dirty="0"/>
          </a:p>
        </p:txBody>
      </p:sp>
      <p:sp>
        <p:nvSpPr>
          <p:cNvPr id="17" name="Text 15"/>
          <p:cNvSpPr txBox="1"/>
          <p:nvPr/>
        </p:nvSpPr>
        <p:spPr>
          <a:xfrm>
            <a:off x="621792" y="1051560"/>
            <a:ext cx="2670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9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Sharma 2018: ashwagandha &amp; thyroid trial</a:t>
            </a:r>
            <a:endParaRPr lang="en-US" sz="690" dirty="0"/>
          </a:p>
        </p:txBody>
      </p:sp>
      <p:sp>
        <p:nvSpPr>
          <p:cNvPr id="18" name="Text 16"/>
          <p:cNvSpPr txBox="1"/>
          <p:nvPr/>
        </p:nvSpPr>
        <p:spPr>
          <a:xfrm>
            <a:off x="621792" y="1188720"/>
            <a:ext cx="2670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5D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RCT, 50 patients, 600 mg/day, 8 weeks</a:t>
            </a:r>
            <a:endParaRPr lang="en-US" sz="6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" y="1316736"/>
            <a:ext cx="2670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u="sng" dirty="0">
                <a:solidFill>
                  <a:srgbClr val="1155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https://pubmed.ncbi.nlm.nih.gov/28829155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pubmed.ncbi.nlm.nih.gov/28829155</a:t>
            </a:r>
            <a:endParaRPr lang="en-US" sz="600" dirty="0"/>
          </a:p>
        </p:txBody>
      </p:sp>
      <p:sp>
        <p:nvSpPr>
          <p:cNvPr id="20" name="Shape 18"/>
          <p:cNvSpPr/>
          <p:nvPr/>
        </p:nvSpPr>
        <p:spPr>
          <a:xfrm>
            <a:off x="301752" y="1499616"/>
            <a:ext cx="3017520" cy="429768"/>
          </a:xfrm>
          <a:prstGeom prst="roundRect">
            <a:avLst>
              <a:gd name="adj" fmla="val 8511"/>
            </a:avLst>
          </a:prstGeom>
          <a:solidFill>
            <a:srgbClr val="F4F6FA"/>
          </a:solidFill>
          <a:ln w="9525">
            <a:solidFill>
              <a:srgbClr val="C9D0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" y="1600200"/>
            <a:ext cx="219456" cy="219456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47472" y="160020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4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64" dirty="0"/>
          </a:p>
        </p:txBody>
      </p:sp>
      <p:sp>
        <p:nvSpPr>
          <p:cNvPr id="23" name="Text 21"/>
          <p:cNvSpPr txBox="1"/>
          <p:nvPr/>
        </p:nvSpPr>
        <p:spPr>
          <a:xfrm>
            <a:off x="621792" y="1517904"/>
            <a:ext cx="2670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9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Gohil &amp; Patel 2007: herb–drug case reports</a:t>
            </a:r>
            <a:endParaRPr lang="en-US" sz="690" dirty="0"/>
          </a:p>
        </p:txBody>
      </p:sp>
      <p:sp>
        <p:nvSpPr>
          <p:cNvPr id="24" name="Text 22"/>
          <p:cNvSpPr txBox="1"/>
          <p:nvPr/>
        </p:nvSpPr>
        <p:spPr>
          <a:xfrm>
            <a:off x="621792" y="1655064"/>
            <a:ext cx="2670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5D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133 cases, only 6% well documented (Indian J Pharmacol)</a:t>
            </a:r>
            <a:endParaRPr lang="en-US" sz="600" dirty="0"/>
          </a:p>
        </p:txBody>
      </p:sp>
      <p:sp>
        <p:nvSpPr>
          <p:cNvPr id="25" name="Text 23"/>
          <p:cNvSpPr txBox="1"/>
          <p:nvPr/>
        </p:nvSpPr>
        <p:spPr>
          <a:xfrm>
            <a:off x="621792" y="1783080"/>
            <a:ext cx="2670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u="sng" dirty="0">
                <a:solidFill>
                  <a:srgbClr val="1155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https://doi.org/10.4103/0253-7613.33432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doi.org/10.4103/0253-7613.33432</a:t>
            </a:r>
            <a:endParaRPr lang="en-US" sz="600" dirty="0"/>
          </a:p>
        </p:txBody>
      </p:sp>
      <p:sp>
        <p:nvSpPr>
          <p:cNvPr id="26" name="Shape 24"/>
          <p:cNvSpPr/>
          <p:nvPr/>
        </p:nvSpPr>
        <p:spPr>
          <a:xfrm>
            <a:off x="301752" y="1965960"/>
            <a:ext cx="3017520" cy="429768"/>
          </a:xfrm>
          <a:prstGeom prst="roundRect">
            <a:avLst>
              <a:gd name="adj" fmla="val 8511"/>
            </a:avLst>
          </a:prstGeom>
          <a:solidFill>
            <a:srgbClr val="F4F6FA"/>
          </a:solidFill>
          <a:ln w="9525">
            <a:solidFill>
              <a:srgbClr val="C9D0D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7472" y="2066544"/>
            <a:ext cx="219456" cy="219456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47472" y="206654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4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64" dirty="0"/>
          </a:p>
        </p:txBody>
      </p:sp>
      <p:sp>
        <p:nvSpPr>
          <p:cNvPr id="29" name="Text 27"/>
          <p:cNvSpPr txBox="1"/>
          <p:nvPr/>
        </p:nvSpPr>
        <p:spPr>
          <a:xfrm>
            <a:off x="621792" y="1984248"/>
            <a:ext cx="2670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9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Ghosh et al. 2009: herb–drug interaction</a:t>
            </a:r>
            <a:endParaRPr lang="en-US" sz="690" dirty="0"/>
          </a:p>
        </p:txBody>
      </p:sp>
      <p:sp>
        <p:nvSpPr>
          <p:cNvPr id="30" name="Text 28"/>
          <p:cNvSpPr txBox="1"/>
          <p:nvPr/>
        </p:nvSpPr>
        <p:spPr>
          <a:xfrm>
            <a:off x="621792" y="2121408"/>
            <a:ext cx="2670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5D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Fallout of poor doctor–patient communication (JCDR)</a:t>
            </a:r>
            <a:endParaRPr lang="en-US" sz="600" dirty="0"/>
          </a:p>
        </p:txBody>
      </p:sp>
      <p:sp>
        <p:nvSpPr>
          <p:cNvPr id="31" name="Text 29"/>
          <p:cNvSpPr txBox="1"/>
          <p:nvPr/>
        </p:nvSpPr>
        <p:spPr>
          <a:xfrm>
            <a:off x="621792" y="2249424"/>
            <a:ext cx="2670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u="sng" dirty="0">
                <a:solidFill>
                  <a:srgbClr val="1155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https://www.jcdr.net/articles/PDF/576/501.pdf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jcdr.net/articles/PDF/576/501.pdf</a:t>
            </a:r>
            <a:endParaRPr lang="en-US" sz="600" dirty="0"/>
          </a:p>
        </p:txBody>
      </p:sp>
      <p:sp>
        <p:nvSpPr>
          <p:cNvPr id="32" name="Shape 30"/>
          <p:cNvSpPr/>
          <p:nvPr/>
        </p:nvSpPr>
        <p:spPr>
          <a:xfrm>
            <a:off x="301752" y="2432304"/>
            <a:ext cx="3017520" cy="429768"/>
          </a:xfrm>
          <a:prstGeom prst="roundRect">
            <a:avLst>
              <a:gd name="adj" fmla="val 8511"/>
            </a:avLst>
          </a:prstGeom>
          <a:solidFill>
            <a:srgbClr val="F4F6FA"/>
          </a:solidFill>
          <a:ln w="9525">
            <a:solidFill>
              <a:srgbClr val="C9D0D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47472" y="2532888"/>
            <a:ext cx="219456" cy="219456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47472" y="253288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4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64" dirty="0"/>
          </a:p>
        </p:txBody>
      </p:sp>
      <p:sp>
        <p:nvSpPr>
          <p:cNvPr id="35" name="Text 33"/>
          <p:cNvSpPr txBox="1"/>
          <p:nvPr/>
        </p:nvSpPr>
        <p:spPr>
          <a:xfrm>
            <a:off x="621792" y="2450592"/>
            <a:ext cx="2670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9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Interactions between substances in Ayurveda</a:t>
            </a:r>
            <a:endParaRPr lang="en-US" sz="690" dirty="0"/>
          </a:p>
        </p:txBody>
      </p:sp>
      <p:sp>
        <p:nvSpPr>
          <p:cNvPr id="36" name="Text 34"/>
          <p:cNvSpPr txBox="1"/>
          <p:nvPr/>
        </p:nvSpPr>
        <p:spPr>
          <a:xfrm>
            <a:off x="621792" y="2587752"/>
            <a:ext cx="2670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5D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Food–drug &amp; Ayurveda–modern drug review, 2013</a:t>
            </a:r>
            <a:endParaRPr lang="en-US" sz="600" dirty="0"/>
          </a:p>
        </p:txBody>
      </p:sp>
      <p:sp>
        <p:nvSpPr>
          <p:cNvPr id="37" name="Text 35"/>
          <p:cNvSpPr txBox="1"/>
          <p:nvPr/>
        </p:nvSpPr>
        <p:spPr>
          <a:xfrm>
            <a:off x="621792" y="2715768"/>
            <a:ext cx="2670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u="sng" dirty="0">
                <a:solidFill>
                  <a:srgbClr val="1155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https://doi.org/10.1515/dmdi-2013-0014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doi.org/10.1515/dmdi-2013-0014</a:t>
            </a:r>
            <a:endParaRPr lang="en-US" sz="600" dirty="0"/>
          </a:p>
        </p:txBody>
      </p:sp>
      <p:sp>
        <p:nvSpPr>
          <p:cNvPr id="38" name="Shape 36"/>
          <p:cNvSpPr/>
          <p:nvPr/>
        </p:nvSpPr>
        <p:spPr>
          <a:xfrm>
            <a:off x="301752" y="2898648"/>
            <a:ext cx="3017520" cy="429768"/>
          </a:xfrm>
          <a:prstGeom prst="roundRect">
            <a:avLst>
              <a:gd name="adj" fmla="val 8511"/>
            </a:avLst>
          </a:prstGeom>
          <a:solidFill>
            <a:srgbClr val="F4F6FA"/>
          </a:solidFill>
          <a:ln w="9525">
            <a:solidFill>
              <a:srgbClr val="C9D0D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47472" y="2999232"/>
            <a:ext cx="219456" cy="219456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47472" y="29992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4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64" dirty="0"/>
          </a:p>
        </p:txBody>
      </p:sp>
      <p:sp>
        <p:nvSpPr>
          <p:cNvPr id="41" name="Text 39"/>
          <p:cNvSpPr txBox="1"/>
          <p:nvPr/>
        </p:nvSpPr>
        <p:spPr>
          <a:xfrm>
            <a:off x="621792" y="2916936"/>
            <a:ext cx="2670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9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NSSO Survey on Ayush 2022-23 (MoSPI press note)</a:t>
            </a:r>
            <a:endParaRPr lang="en-US" sz="690" dirty="0"/>
          </a:p>
        </p:txBody>
      </p:sp>
      <p:sp>
        <p:nvSpPr>
          <p:cNvPr id="42" name="Text 40"/>
          <p:cNvSpPr txBox="1"/>
          <p:nvPr/>
        </p:nvSpPr>
        <p:spPr>
          <a:xfrm>
            <a:off x="621792" y="3054096"/>
            <a:ext cx="2670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5D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Ayurveda is the most used Ayush system</a:t>
            </a:r>
            <a:endParaRPr lang="en-US" sz="600" dirty="0"/>
          </a:p>
        </p:txBody>
      </p:sp>
      <p:sp>
        <p:nvSpPr>
          <p:cNvPr id="43" name="Text 41"/>
          <p:cNvSpPr txBox="1"/>
          <p:nvPr/>
        </p:nvSpPr>
        <p:spPr>
          <a:xfrm>
            <a:off x="621792" y="3182112"/>
            <a:ext cx="2670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u="sng" dirty="0">
                <a:solidFill>
                  <a:srgbClr val="1155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https://www.mospi.gov.in/sites/default/files/press_release/PressNote_Ayush_13062024N.pdf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mospi.gov.in/…/PressNote_Ayush_13062024N.pdf</a:t>
            </a:r>
            <a:endParaRPr lang="en-US" sz="600" dirty="0"/>
          </a:p>
        </p:txBody>
      </p:sp>
      <p:sp>
        <p:nvSpPr>
          <p:cNvPr id="44" name="Shape 42"/>
          <p:cNvSpPr/>
          <p:nvPr/>
        </p:nvSpPr>
        <p:spPr>
          <a:xfrm>
            <a:off x="301752" y="3364992"/>
            <a:ext cx="3017520" cy="429768"/>
          </a:xfrm>
          <a:prstGeom prst="roundRect">
            <a:avLst>
              <a:gd name="adj" fmla="val 8511"/>
            </a:avLst>
          </a:prstGeom>
          <a:solidFill>
            <a:srgbClr val="F4F6FA"/>
          </a:solidFill>
          <a:ln w="9525">
            <a:solidFill>
              <a:srgbClr val="C9D0D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47472" y="3465576"/>
            <a:ext cx="219456" cy="219456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347472" y="346557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4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64" dirty="0"/>
          </a:p>
        </p:txBody>
      </p:sp>
      <p:sp>
        <p:nvSpPr>
          <p:cNvPr id="47" name="Text 45"/>
          <p:cNvSpPr txBox="1"/>
          <p:nvPr/>
        </p:nvSpPr>
        <p:spPr>
          <a:xfrm>
            <a:off x="621792" y="3383280"/>
            <a:ext cx="2670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9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 Suraksha portal (Ministry of Ayush)</a:t>
            </a:r>
            <a:endParaRPr lang="en-US" sz="690" dirty="0"/>
          </a:p>
        </p:txBody>
      </p:sp>
      <p:sp>
        <p:nvSpPr>
          <p:cNvPr id="48" name="Text 46"/>
          <p:cNvSpPr txBox="1"/>
          <p:nvPr/>
        </p:nvSpPr>
        <p:spPr>
          <a:xfrm>
            <a:off x="621792" y="3520440"/>
            <a:ext cx="2670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5D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Suspected ADR reporting for ASU&amp;H drugs</a:t>
            </a:r>
            <a:endParaRPr lang="en-US" sz="600" dirty="0"/>
          </a:p>
        </p:txBody>
      </p:sp>
      <p:sp>
        <p:nvSpPr>
          <p:cNvPr id="49" name="Text 47"/>
          <p:cNvSpPr txBox="1"/>
          <p:nvPr/>
        </p:nvSpPr>
        <p:spPr>
          <a:xfrm>
            <a:off x="621792" y="3648456"/>
            <a:ext cx="2670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u="sng" dirty="0">
                <a:solidFill>
                  <a:srgbClr val="1155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https://suraksha.ayush.gov.in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suraksha.ayush.gov.in</a:t>
            </a:r>
            <a:endParaRPr lang="en-US" sz="600" dirty="0"/>
          </a:p>
        </p:txBody>
      </p:sp>
      <p:sp>
        <p:nvSpPr>
          <p:cNvPr id="50" name="Shape 48"/>
          <p:cNvSpPr/>
          <p:nvPr/>
        </p:nvSpPr>
        <p:spPr>
          <a:xfrm>
            <a:off x="301752" y="3831336"/>
            <a:ext cx="3017520" cy="429768"/>
          </a:xfrm>
          <a:prstGeom prst="roundRect">
            <a:avLst>
              <a:gd name="adj" fmla="val 8511"/>
            </a:avLst>
          </a:prstGeom>
          <a:solidFill>
            <a:srgbClr val="F4F6FA"/>
          </a:solidFill>
          <a:ln w="9525">
            <a:solidFill>
              <a:srgbClr val="C9D0D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47472" y="3931920"/>
            <a:ext cx="219456" cy="219456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347472" y="393192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4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64" dirty="0"/>
          </a:p>
        </p:txBody>
      </p:sp>
      <p:sp>
        <p:nvSpPr>
          <p:cNvPr id="53" name="Text 51"/>
          <p:cNvSpPr txBox="1"/>
          <p:nvPr/>
        </p:nvSpPr>
        <p:spPr>
          <a:xfrm>
            <a:off x="621792" y="3849624"/>
            <a:ext cx="2670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9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ASU&amp;H pharmacovigilance (ITRA, Jamnagar)</a:t>
            </a:r>
            <a:endParaRPr lang="en-US" sz="690" dirty="0"/>
          </a:p>
        </p:txBody>
      </p:sp>
      <p:sp>
        <p:nvSpPr>
          <p:cNvPr id="54" name="Text 52"/>
          <p:cNvSpPr txBox="1"/>
          <p:nvPr/>
        </p:nvSpPr>
        <p:spPr>
          <a:xfrm>
            <a:off x="621792" y="3986784"/>
            <a:ext cx="2670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5D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PPvC / IPvC reporting network</a:t>
            </a:r>
            <a:endParaRPr lang="en-US" sz="600" dirty="0"/>
          </a:p>
        </p:txBody>
      </p:sp>
      <p:sp>
        <p:nvSpPr>
          <p:cNvPr id="55" name="Text 53"/>
          <p:cNvSpPr txBox="1"/>
          <p:nvPr/>
        </p:nvSpPr>
        <p:spPr>
          <a:xfrm>
            <a:off x="621792" y="4114800"/>
            <a:ext cx="2670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u="sng" dirty="0">
                <a:solidFill>
                  <a:srgbClr val="1155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https://itra.ac.in/pharmacovigilanc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itra.ac.in/pharmacovigilance</a:t>
            </a:r>
            <a:endParaRPr lang="en-US" sz="600" dirty="0"/>
          </a:p>
        </p:txBody>
      </p:sp>
      <p:sp>
        <p:nvSpPr>
          <p:cNvPr id="56" name="Shape 54"/>
          <p:cNvSpPr/>
          <p:nvPr/>
        </p:nvSpPr>
        <p:spPr>
          <a:xfrm>
            <a:off x="301752" y="4297680"/>
            <a:ext cx="3017520" cy="429768"/>
          </a:xfrm>
          <a:prstGeom prst="roundRect">
            <a:avLst>
              <a:gd name="adj" fmla="val 8511"/>
            </a:avLst>
          </a:prstGeom>
          <a:solidFill>
            <a:srgbClr val="F4F6FA"/>
          </a:solidFill>
          <a:ln w="9525">
            <a:solidFill>
              <a:srgbClr val="C9D0DD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47472" y="4398264"/>
            <a:ext cx="219456" cy="219456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347472" y="439826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4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64" dirty="0"/>
          </a:p>
        </p:txBody>
      </p:sp>
      <p:sp>
        <p:nvSpPr>
          <p:cNvPr id="59" name="Text 57"/>
          <p:cNvSpPr txBox="1"/>
          <p:nvPr/>
        </p:nvSpPr>
        <p:spPr>
          <a:xfrm>
            <a:off x="621792" y="4315968"/>
            <a:ext cx="2670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9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tools we build on</a:t>
            </a:r>
            <a:endParaRPr lang="en-US" sz="690" dirty="0"/>
          </a:p>
        </p:txBody>
      </p:sp>
      <p:sp>
        <p:nvSpPr>
          <p:cNvPr id="60" name="Text 58"/>
          <p:cNvSpPr txBox="1"/>
          <p:nvPr/>
        </p:nvSpPr>
        <p:spPr>
          <a:xfrm>
            <a:off x="621792" y="4453128"/>
            <a:ext cx="2670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5D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(Tesseract) and name matching (RapidFuzz)</a:t>
            </a:r>
            <a:endParaRPr lang="en-US" sz="600" dirty="0"/>
          </a:p>
        </p:txBody>
      </p:sp>
      <p:sp>
        <p:nvSpPr>
          <p:cNvPr id="61" name="Text 59"/>
          <p:cNvSpPr txBox="1"/>
          <p:nvPr/>
        </p:nvSpPr>
        <p:spPr>
          <a:xfrm>
            <a:off x="621792" y="4581144"/>
            <a:ext cx="2670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u="sng" dirty="0">
                <a:solidFill>
                  <a:srgbClr val="1155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invalidUrl="" action="" tgtFrame="" tooltip="https://github.com/tesseract-ocr/tesseract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github.com/tesseract-ocr · github.com/rapidfuzz</a:t>
            </a:r>
            <a:endParaRPr lang="en-US" sz="600" dirty="0"/>
          </a:p>
        </p:txBody>
      </p:sp>
      <p:sp>
        <p:nvSpPr>
          <p:cNvPr id="62" name="Text 60"/>
          <p:cNvSpPr txBox="1"/>
          <p:nvPr/>
        </p:nvSpPr>
        <p:spPr>
          <a:xfrm>
            <a:off x="3520440" y="749808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EXISTING TOOLS</a:t>
            </a:r>
            <a:endParaRPr lang="en-US" sz="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0440" y="987552"/>
          <a:ext cx="539496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1051560"/>
                <a:gridCol w="1051560"/>
                <a:gridCol w="1234440"/>
                <a:gridCol w="118872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MEDSCAPE · DRUGS.COM · 1MG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MSKCC · NATURAL MEDICINES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TAKESURE (OUR APP)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F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TAKESURE?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6E00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Ayurveda × allopathy check</a:t>
                      </a:r>
                      <a:endParaRPr lang="en-US" sz="7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Allopathic × allopathic pairs only
</a:t>
                      </a:r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B86E00"/>
                          </a:solidFill>
                          <a:latin typeface="Segoe UI Symbol" pitchFamily="34" charset="0"/>
                          <a:ea typeface="Segoe UI Symbol" pitchFamily="34" charset="-122"/>
                          <a:cs typeface="Segoe UI Symbol" pitchFamily="34" charset="-120"/>
                        </a:rPr>
                        <a:t>★☆☆☆☆  1 / 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t">
                    <a:lnL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 Single-herb monographs only
</a:t>
                      </a:r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B86E00"/>
                          </a:solidFill>
                          <a:latin typeface="Segoe UI Symbol" pitchFamily="34" charset="0"/>
                          <a:ea typeface="Segoe UI Symbol" pitchFamily="34" charset="-122"/>
                          <a:cs typeface="Segoe UI Symbol" pitchFamily="34" charset="-120"/>
                        </a:rPr>
                        <a:t>★★☆☆☆  2 / 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t">
                    <a:lnL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Prescription × Ayurvedic product, every herb–drug pair checked
</a:t>
                      </a:r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B86E00"/>
                          </a:solidFill>
                          <a:latin typeface="Segoe UI Symbol" pitchFamily="34" charset="0"/>
                          <a:ea typeface="Segoe UI Symbol" pitchFamily="34" charset="-122"/>
                          <a:cs typeface="Segoe UI Symbol" pitchFamily="34" charset="-120"/>
                        </a:rPr>
                        <a:t>★★★★★  5 / 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t">
                    <a:lnL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b="1" dirty="0">
                          <a:solidFill>
                            <a:srgbClr val="7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Only tool that checks the two systems people already mix.</a:t>
                      </a:r>
                      <a:endParaRPr lang="en-US" sz="6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Indian brands &amp; Hindi</a:t>
                      </a:r>
                      <a:endParaRPr lang="en-US" sz="7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 Partly covered
</a:t>
                      </a:r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B86E00"/>
                          </a:solidFill>
                          <a:latin typeface="Segoe UI Symbol" pitchFamily="34" charset="0"/>
                          <a:ea typeface="Segoe UI Symbol" pitchFamily="34" charset="-122"/>
                          <a:cs typeface="Segoe UI Symbol" pitchFamily="34" charset="-120"/>
                        </a:rPr>
                        <a:t>★★★☆☆  3 / 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t">
                    <a:lnL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Western herbs, English only
</a:t>
                      </a:r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B86E00"/>
                          </a:solidFill>
                          <a:latin typeface="Segoe UI Symbol" pitchFamily="34" charset="0"/>
                          <a:ea typeface="Segoe UI Symbol" pitchFamily="34" charset="-122"/>
                          <a:cs typeface="Segoe UI Symbol" pitchFamily="34" charset="-120"/>
                        </a:rPr>
                        <a:t>★☆☆☆☆  1 / 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t">
                    <a:lnL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Indian brands + Sanskrit / Hindi synonyms, Hindi UI
</a:t>
                      </a:r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B86E00"/>
                          </a:solidFill>
                          <a:latin typeface="Segoe UI Symbol" pitchFamily="34" charset="0"/>
                          <a:ea typeface="Segoe UI Symbol" pitchFamily="34" charset="-122"/>
                          <a:cs typeface="Segoe UI Symbol" pitchFamily="34" charset="-120"/>
                        </a:rPr>
                        <a:t>★★★★★  5 / 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t">
                    <a:lnL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b="1" dirty="0">
                          <a:solidFill>
                            <a:srgbClr val="7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Matches Himalaya, Dabur and the names patients actually use.</a:t>
                      </a:r>
                      <a:endParaRPr lang="en-US" sz="6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C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Sources on every verdict</a:t>
                      </a:r>
                      <a:endParaRPr lang="en-US" sz="7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Sources shown
</a:t>
                      </a:r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B86E00"/>
                          </a:solidFill>
                          <a:latin typeface="Segoe UI Symbol" pitchFamily="34" charset="0"/>
                          <a:ea typeface="Segoe UI Symbol" pitchFamily="34" charset="-122"/>
                          <a:cs typeface="Segoe UI Symbol" pitchFamily="34" charset="-120"/>
                        </a:rPr>
                        <a:t>★★★★☆  4 / 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t">
                    <a:lnL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Sources shown
</a:t>
                      </a:r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B86E00"/>
                          </a:solidFill>
                          <a:latin typeface="Segoe UI Symbol" pitchFamily="34" charset="0"/>
                          <a:ea typeface="Segoe UI Symbol" pitchFamily="34" charset="-122"/>
                          <a:cs typeface="Segoe UI Symbol" pitchFamily="34" charset="-120"/>
                        </a:rPr>
                        <a:t>★★★★☆  4 / 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t">
                    <a:lnL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Sources + grade A/B/C with DOI/PMID; marked “needs verification” until re-checked
</a:t>
                      </a:r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B86E00"/>
                          </a:solidFill>
                          <a:latin typeface="Segoe UI Symbol" pitchFamily="34" charset="0"/>
                          <a:ea typeface="Segoe UI Symbol" pitchFamily="34" charset="-122"/>
                          <a:cs typeface="Segoe UI Symbol" pitchFamily="34" charset="-120"/>
                        </a:rPr>
                        <a:t>★★★★☆  4 / 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t">
                    <a:lnL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b="1" dirty="0">
                          <a:solidFill>
                            <a:srgbClr val="7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Weak evidence is shown as weak, never hidden — and we say so when a citation is not yet re-verified.</a:t>
                      </a:r>
                      <a:endParaRPr lang="en-US" sz="6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ADR report to Ministry</a:t>
                      </a:r>
                      <a:endParaRPr lang="en-US" sz="7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 reporting
</a:t>
                      </a:r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B86E00"/>
                          </a:solidFill>
                          <a:latin typeface="Segoe UI Symbol" pitchFamily="34" charset="0"/>
                          <a:ea typeface="Segoe UI Symbol" pitchFamily="34" charset="-122"/>
                          <a:cs typeface="Segoe UI Symbol" pitchFamily="34" charset="-120"/>
                        </a:rPr>
                        <a:t>★☆☆☆☆  1 / 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t">
                    <a:lnL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 reporting
</a:t>
                      </a:r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B86E00"/>
                          </a:solidFill>
                          <a:latin typeface="Segoe UI Symbol" pitchFamily="34" charset="0"/>
                          <a:ea typeface="Segoe UI Symbol" pitchFamily="34" charset="-122"/>
                          <a:cs typeface="Segoe UI Symbol" pitchFamily="34" charset="-120"/>
                        </a:rPr>
                        <a:t>★☆☆☆☆  1 / 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t">
                    <a:lnL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One-tap report in Ministry of Ayush format
</a:t>
                      </a:r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B86E00"/>
                          </a:solidFill>
                          <a:latin typeface="Segoe UI Symbol" pitchFamily="34" charset="0"/>
                          <a:ea typeface="Segoe UI Symbol" pitchFamily="34" charset="-122"/>
                          <a:cs typeface="Segoe UI Symbol" pitchFamily="34" charset="-120"/>
                        </a:rPr>
                        <a:t>★★★★★  5 / 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t">
                    <a:lnL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b="1" dirty="0">
                          <a:solidFill>
                            <a:srgbClr val="7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Feeds the Ayush pharmacovigilance network.</a:t>
                      </a:r>
                      <a:endParaRPr lang="en-US" sz="6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 RATING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Medscape  2.3 / 5
</a:t>
                      </a:r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4A300"/>
                          </a:solidFill>
                          <a:latin typeface="Segoe UI Symbol" pitchFamily="34" charset="0"/>
                          <a:ea typeface="Segoe UI Symbol" pitchFamily="34" charset="-122"/>
                          <a:cs typeface="Segoe UI Symbol" pitchFamily="34" charset="-120"/>
                        </a:rPr>
                        <a:t>★★☆☆☆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MSKCC  2.0 / 5
</a:t>
                      </a:r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4A300"/>
                          </a:solidFill>
                          <a:latin typeface="Segoe UI Symbol" pitchFamily="34" charset="0"/>
                          <a:ea typeface="Segoe UI Symbol" pitchFamily="34" charset="-122"/>
                          <a:cs typeface="Segoe UI Symbol" pitchFamily="34" charset="-120"/>
                        </a:rPr>
                        <a:t>★★☆☆☆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TakeSure  4.8 / 5
</a:t>
                      </a:r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4A300"/>
                          </a:solidFill>
                          <a:latin typeface="Segoe UI Symbol" pitchFamily="34" charset="0"/>
                          <a:ea typeface="Segoe UI Symbol" pitchFamily="34" charset="-122"/>
                          <a:cs typeface="Segoe UI Symbol" pitchFamily="34" charset="-120"/>
                        </a:rPr>
                        <a:t>★★★★★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F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TakeSure scores 2.5 points higher than the best alternative.</a:t>
                      </a:r>
                      <a:endParaRPr lang="en-US" sz="6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6E00"/>
                    </a:solidFill>
                  </a:tcPr>
                </a:tc>
              </a:tr>
            </a:tbl>
          </a:graphicData>
        </a:graphic>
      </p:graphicFrame>
      <p:sp>
        <p:nvSpPr>
          <p:cNvPr id="64" name="Text 61"/>
          <p:cNvSpPr txBox="1"/>
          <p:nvPr/>
        </p:nvSpPr>
        <p:spPr>
          <a:xfrm>
            <a:off x="3520440" y="4224528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20" i="1" dirty="0">
                <a:solidFill>
                  <a:srgbClr val="5D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out of 5 are the team's assessment on the four features compared (sourced = 4, +1 with evidence grade · partly = 3 · single herb = 2 · none = 1). TakeSure takes 4/5 on Sources deliberately: every citation stays marked “needs verification” until a second reviewer re-opens the DOI/PMID.</a:t>
            </a:r>
            <a:endParaRPr lang="en-US" sz="6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TakeSure — Hack@BVP 8.0</dc:title>
  <dc:subject>PptxGenJS Presentation</dc:subject>
  <dc:creator>Team Bug Hunters</dc:creator>
  <cp:lastModifiedBy>Team Bug Hunters</cp:lastModifiedBy>
  <cp:revision>1</cp:revision>
  <dcterms:created xsi:type="dcterms:W3CDTF">2026-10-17T18:43:59Z</dcterms:created>
  <dcterms:modified xsi:type="dcterms:W3CDTF">2026-10-17T18:43:59Z</dcterms:modified>
</cp:coreProperties>
</file>