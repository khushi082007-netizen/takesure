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abstract for the Hack@BVP 8.0 Abstract Round. Problem, proposed solution, approach (workflow), expected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17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29768" y="14630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TakeSure — </a:t>
            </a:r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before taking something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822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both. Check the pair. Ask the right questions.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29768" y="1024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Ayurveda × Allopathy herb–drug interaction checker for Indian patients, doctors and the Ministry of Ayush</a:t>
            </a:r>
            <a:endParaRPr lang="en-US" sz="850" dirty="0"/>
          </a:p>
        </p:txBody>
      </p:sp>
      <p:pic>
        <p:nvPicPr>
          <p:cNvPr id="6" name="Image 0" descr="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55448"/>
            <a:ext cx="1572768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6766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 · Abstract Round</a:t>
            </a:r>
            <a:endParaRPr lang="en-US" sz="8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 Hunters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Dhriti Garg · Shiwani Goyal · Khushi Gupta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1417320"/>
            <a:ext cx="7562088" cy="18288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" y="1417320"/>
            <a:ext cx="6702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Health &amp; Well-Being (AI4Impact secondary) · SDG 3 · SDG 9 · SDG 10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29768" y="17007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patient's story — the gap today, and what TakeSure would do about 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40680" y="1801368"/>
            <a:ext cx="1691640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" y="1938528"/>
            <a:ext cx="160020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" y="1938528"/>
            <a:ext cx="1563624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4" name="Image 1" descr="img/pan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011680"/>
            <a:ext cx="1508760" cy="5852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3776" y="26151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Thyronorm for thyroid and starts ashwagandha for stress.</a:t>
            </a:r>
            <a:endParaRPr lang="en-US" sz="740" dirty="0"/>
          </a:p>
        </p:txBody>
      </p:sp>
      <p:sp>
        <p:nvSpPr>
          <p:cNvPr id="16" name="Shape 12"/>
          <p:cNvSpPr/>
          <p:nvPr/>
        </p:nvSpPr>
        <p:spPr>
          <a:xfrm>
            <a:off x="2130552" y="1938528"/>
            <a:ext cx="160020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48840" y="1938528"/>
            <a:ext cx="1563624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8" name="Image 2" descr="img/panel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2011680"/>
            <a:ext cx="1508760" cy="5852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194560" y="26151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asks, nobody tells.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doctor never hears of it; the label says nothing.</a:t>
            </a:r>
            <a:endParaRPr lang="en-US" sz="740" dirty="0"/>
          </a:p>
        </p:txBody>
      </p:sp>
      <p:sp>
        <p:nvSpPr>
          <p:cNvPr id="20" name="Shape 15"/>
          <p:cNvSpPr/>
          <p:nvPr/>
        </p:nvSpPr>
        <p:spPr>
          <a:xfrm>
            <a:off x="3831336" y="1938528"/>
            <a:ext cx="160020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49624" y="1938528"/>
            <a:ext cx="1563624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2" name="Image 3" descr="img/panel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2011680"/>
            <a:ext cx="1508760" cy="5852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895344" y="26151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photographs both.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reads the names, confirms them and checks the pair.</a:t>
            </a:r>
            <a:endParaRPr lang="en-US" sz="740" dirty="0"/>
          </a:p>
        </p:txBody>
      </p:sp>
      <p:sp>
        <p:nvSpPr>
          <p:cNvPr id="24" name="Shape 18"/>
          <p:cNvSpPr/>
          <p:nvPr/>
        </p:nvSpPr>
        <p:spPr>
          <a:xfrm>
            <a:off x="5532120" y="1938528"/>
            <a:ext cx="160020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550408" y="1938528"/>
            <a:ext cx="1563624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6" name="Image 4" descr="img/panel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011680"/>
            <a:ext cx="1508760" cy="58521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96128" y="26151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AMBER.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 source, timing advice, three questions. One tap sends the PDF to her doctor.</a:t>
            </a:r>
            <a:endParaRPr lang="en-US" sz="740" dirty="0"/>
          </a:p>
        </p:txBody>
      </p:sp>
      <p:sp>
        <p:nvSpPr>
          <p:cNvPr id="28" name="Shape 21"/>
          <p:cNvSpPr/>
          <p:nvPr/>
        </p:nvSpPr>
        <p:spPr>
          <a:xfrm>
            <a:off x="429768" y="3145536"/>
            <a:ext cx="182880" cy="1828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29768" y="3145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676656" y="3127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1611173" y="3246120"/>
            <a:ext cx="2064715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29768" y="3383280"/>
            <a:ext cx="3246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medical systems, zero cross-checking.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thyroid patient on Thyronorm adds ashwagandha; a transplant patient on tacrolimus drinks giloy kadha; a cardiac patient on warfarin takes guggul.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can cause harm: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ashwagandha can raise thyroid hormone, giloy can oppose immunosuppression, guggul can increase bleeding.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asks, nobody tells.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rarely asks about herbs, the patient rarely mentions them, the chemist has no tool, the label says nothing.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 not cover it.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Medscape, Drugs.com and 1mg check only allopathic × allopathic pairs; Western herb databases are English-only, paid and do not know Indian brands like Himalaya Ashvagandha or Dabur Giloy Ghanvati.</a:t>
            </a:r>
            <a:endParaRPr lang="en-US" sz="790" dirty="0"/>
          </a:p>
        </p:txBody>
      </p:sp>
      <p:sp>
        <p:nvSpPr>
          <p:cNvPr id="33" name="Shape 26"/>
          <p:cNvSpPr/>
          <p:nvPr/>
        </p:nvSpPr>
        <p:spPr>
          <a:xfrm>
            <a:off x="429768" y="4901184"/>
            <a:ext cx="1581912" cy="329184"/>
          </a:xfrm>
          <a:prstGeom prst="roundRect">
            <a:avLst>
              <a:gd name="adj" fmla="val 13889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84632" y="490118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051560" y="491947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 patients use allopathic and herbal medicines together</a:t>
            </a:r>
            <a:endParaRPr lang="en-US" sz="680" dirty="0"/>
          </a:p>
        </p:txBody>
      </p:sp>
      <p:sp>
        <p:nvSpPr>
          <p:cNvPr id="36" name="Shape 29"/>
          <p:cNvSpPr/>
          <p:nvPr/>
        </p:nvSpPr>
        <p:spPr>
          <a:xfrm>
            <a:off x="2093976" y="4901184"/>
            <a:ext cx="1581912" cy="329184"/>
          </a:xfrm>
          <a:prstGeom prst="roundRect">
            <a:avLst>
              <a:gd name="adj" fmla="val 13889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2148840" y="490118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2715768" y="491947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herbal users do not know the dose, side effects or interactions</a:t>
            </a:r>
            <a:endParaRPr lang="en-US" sz="680" dirty="0"/>
          </a:p>
        </p:txBody>
      </p:sp>
      <p:sp>
        <p:nvSpPr>
          <p:cNvPr id="39" name="Shape 32"/>
          <p:cNvSpPr/>
          <p:nvPr/>
        </p:nvSpPr>
        <p:spPr>
          <a:xfrm>
            <a:off x="429768" y="5266944"/>
            <a:ext cx="1581912" cy="329184"/>
          </a:xfrm>
          <a:prstGeom prst="roundRect">
            <a:avLst>
              <a:gd name="adj" fmla="val 13889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84632" y="52669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1051560" y="528523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patients ever disclose herbal use to their doctor</a:t>
            </a:r>
            <a:endParaRPr lang="en-US" sz="680" dirty="0"/>
          </a:p>
        </p:txBody>
      </p:sp>
      <p:sp>
        <p:nvSpPr>
          <p:cNvPr id="42" name="Shape 35"/>
          <p:cNvSpPr/>
          <p:nvPr/>
        </p:nvSpPr>
        <p:spPr>
          <a:xfrm>
            <a:off x="2093976" y="5266944"/>
            <a:ext cx="1581912" cy="329184"/>
          </a:xfrm>
          <a:prstGeom prst="roundRect">
            <a:avLst>
              <a:gd name="adj" fmla="val 13889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148840" y="52669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2715768" y="528523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ASU&amp;H adverse-event reports received nationally since 2018</a:t>
            </a:r>
            <a:endParaRPr lang="en-US" sz="680" dirty="0"/>
          </a:p>
        </p:txBody>
      </p:sp>
      <p:sp>
        <p:nvSpPr>
          <p:cNvPr id="45" name="Shape 38"/>
          <p:cNvSpPr/>
          <p:nvPr/>
        </p:nvSpPr>
        <p:spPr>
          <a:xfrm>
            <a:off x="3886200" y="3145536"/>
            <a:ext cx="182880" cy="1828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3886200" y="3145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7" name="Text 40"/>
          <p:cNvSpPr txBox="1"/>
          <p:nvPr/>
        </p:nvSpPr>
        <p:spPr>
          <a:xfrm>
            <a:off x="4133088" y="3127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517490" y="3246120"/>
            <a:ext cx="1614830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886200" y="3383280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both.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photographs the allopathic prescription and the Ayurvedic product label (or types the names); every name is confirmed before checking.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Indian names.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→ generic (Thyronorm → levothyroxine) and product → herbs (Chyawanprash → amla, ashwagandha…) with Sanskrit / Hindi / Latin synonyms.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data.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checks every herb–drug pair against a curated, cited knowledge base: GREEN / AMBER / RED / NOT IN DATABASE, with timing advice.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simply.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rewrites only the matched evidence into plain Hindi or English, with sources and three questions to ask the doctor.</a:t>
            </a:r>
            <a:endParaRPr lang="en-US" sz="790" dirty="0"/>
          </a:p>
          <a:p>
            <a:pPr marL="127000" indent="-1270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7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one tap. </a:t>
            </a:r>
            <a:pPr indent="0" marL="0">
              <a:lnSpc>
                <a:spcPct val="102000"/>
              </a:lnSpc>
              <a:buNone/>
            </a:pPr>
            <a:r>
              <a:rPr lang="en-US" sz="7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PDF for the doctor and a pre-filled suspected-ADR report in the Ministry of Ayush format for the Ayush Suraksha portal.</a:t>
            </a:r>
            <a:endParaRPr lang="en-US" sz="790" dirty="0"/>
          </a:p>
        </p:txBody>
      </p:sp>
      <p:sp>
        <p:nvSpPr>
          <p:cNvPr id="50" name="Shape 43"/>
          <p:cNvSpPr/>
          <p:nvPr/>
        </p:nvSpPr>
        <p:spPr>
          <a:xfrm>
            <a:off x="3886200" y="5230368"/>
            <a:ext cx="324612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886200" y="5230368"/>
            <a:ext cx="45720" cy="3657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4005072" y="5230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rule: The verdict comes from published data; AI only explains it.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429768" y="5596128"/>
            <a:ext cx="182880" cy="1828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429768" y="5596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5" name="Text 48"/>
          <p:cNvSpPr txBox="1"/>
          <p:nvPr/>
        </p:nvSpPr>
        <p:spPr>
          <a:xfrm>
            <a:off x="676656" y="5577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— project workflow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2810866" y="5696712"/>
            <a:ext cx="432145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29768" y="5852160"/>
            <a:ext cx="749808" cy="429768"/>
          </a:xfrm>
          <a:prstGeom prst="roundRect">
            <a:avLst>
              <a:gd name="adj" fmla="val 10638"/>
            </a:avLst>
          </a:prstGeom>
          <a:solidFill>
            <a:srgbClr val="FFF4DC"/>
          </a:solidFill>
          <a:ln w="9525">
            <a:solidFill>
              <a:srgbClr val="E8C27A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448056" y="5870448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photo</a:t>
            </a:r>
            <a:endParaRPr lang="en-US" sz="72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allopathic medicines</a:t>
            </a:r>
            <a:endParaRPr lang="en-US" sz="720" dirty="0"/>
          </a:p>
        </p:txBody>
      </p:sp>
      <p:sp>
        <p:nvSpPr>
          <p:cNvPr id="59" name="Shape 52"/>
          <p:cNvSpPr/>
          <p:nvPr/>
        </p:nvSpPr>
        <p:spPr>
          <a:xfrm>
            <a:off x="429768" y="6336792"/>
            <a:ext cx="749808" cy="429768"/>
          </a:xfrm>
          <a:prstGeom prst="roundRect">
            <a:avLst>
              <a:gd name="adj" fmla="val 10638"/>
            </a:avLst>
          </a:prstGeom>
          <a:solidFill>
            <a:srgbClr val="FFF4DC"/>
          </a:solidFill>
          <a:ln w="9525">
            <a:solidFill>
              <a:srgbClr val="E8C27A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448056" y="6355080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</a:t>
            </a:r>
            <a:endParaRPr lang="en-US" sz="72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label / brand</a:t>
            </a:r>
            <a:endParaRPr lang="en-US" sz="720" dirty="0"/>
          </a:p>
        </p:txBody>
      </p:sp>
      <p:sp>
        <p:nvSpPr>
          <p:cNvPr id="61" name="Text 54"/>
          <p:cNvSpPr txBox="1"/>
          <p:nvPr/>
        </p:nvSpPr>
        <p:spPr>
          <a:xfrm>
            <a:off x="1179576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2" name="Shape 55"/>
          <p:cNvSpPr/>
          <p:nvPr/>
        </p:nvSpPr>
        <p:spPr>
          <a:xfrm>
            <a:off x="1289304" y="58521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1316736" y="5879592"/>
            <a:ext cx="676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OCR</a:t>
            </a:r>
            <a:endParaRPr lang="en-US" sz="74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both images; user confirms names</a:t>
            </a:r>
            <a:endParaRPr lang="en-US" sz="740" dirty="0"/>
          </a:p>
        </p:txBody>
      </p:sp>
      <p:sp>
        <p:nvSpPr>
          <p:cNvPr id="64" name="Text 57"/>
          <p:cNvSpPr txBox="1"/>
          <p:nvPr/>
        </p:nvSpPr>
        <p:spPr>
          <a:xfrm>
            <a:off x="2020824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5" name="Shape 58"/>
          <p:cNvSpPr/>
          <p:nvPr/>
        </p:nvSpPr>
        <p:spPr>
          <a:xfrm>
            <a:off x="2130552" y="58521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2157984" y="5879592"/>
            <a:ext cx="676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Match</a:t>
            </a:r>
            <a:endParaRPr lang="en-US" sz="74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→ generic; product → herbs; synonyms</a:t>
            </a:r>
            <a:endParaRPr lang="en-US" sz="740" dirty="0"/>
          </a:p>
        </p:txBody>
      </p:sp>
      <p:sp>
        <p:nvSpPr>
          <p:cNvPr id="67" name="Text 60"/>
          <p:cNvSpPr txBox="1"/>
          <p:nvPr/>
        </p:nvSpPr>
        <p:spPr>
          <a:xfrm>
            <a:off x="2862072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8" name="Shape 61"/>
          <p:cNvSpPr/>
          <p:nvPr/>
        </p:nvSpPr>
        <p:spPr>
          <a:xfrm>
            <a:off x="2971800" y="5852160"/>
            <a:ext cx="786384" cy="914400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2999232" y="5879592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Knowledge base</a:t>
            </a:r>
            <a:endParaRPr lang="en-US" sz="74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herb–drug table; grade A/B/C</a:t>
            </a:r>
            <a:endParaRPr lang="en-US" sz="740" dirty="0"/>
          </a:p>
        </p:txBody>
      </p:sp>
      <p:sp>
        <p:nvSpPr>
          <p:cNvPr id="70" name="Text 63"/>
          <p:cNvSpPr txBox="1"/>
          <p:nvPr/>
        </p:nvSpPr>
        <p:spPr>
          <a:xfrm>
            <a:off x="3758184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71" name="Shape 64"/>
          <p:cNvSpPr/>
          <p:nvPr/>
        </p:nvSpPr>
        <p:spPr>
          <a:xfrm>
            <a:off x="3867912" y="5852160"/>
            <a:ext cx="786384" cy="914400"/>
          </a:xfrm>
          <a:prstGeom prst="roundRect">
            <a:avLst>
              <a:gd name="adj" fmla="val 5814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3895344" y="5879592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74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severity; AI does not</a:t>
            </a:r>
            <a:endParaRPr lang="en-US" sz="740" dirty="0"/>
          </a:p>
        </p:txBody>
      </p:sp>
      <p:sp>
        <p:nvSpPr>
          <p:cNvPr id="73" name="Text 66"/>
          <p:cNvSpPr txBox="1"/>
          <p:nvPr/>
        </p:nvSpPr>
        <p:spPr>
          <a:xfrm>
            <a:off x="4654296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74" name="Shape 67"/>
          <p:cNvSpPr/>
          <p:nvPr/>
        </p:nvSpPr>
        <p:spPr>
          <a:xfrm>
            <a:off x="4764024" y="5852160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E6F4EA"/>
          </a:solidFill>
          <a:ln w="9525">
            <a:solidFill>
              <a:srgbClr val="E6F4EA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4764024" y="5852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680" dirty="0"/>
          </a:p>
        </p:txBody>
      </p:sp>
      <p:sp>
        <p:nvSpPr>
          <p:cNvPr id="76" name="Shape 69"/>
          <p:cNvSpPr/>
          <p:nvPr/>
        </p:nvSpPr>
        <p:spPr>
          <a:xfrm>
            <a:off x="4764024" y="6085332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4764024" y="60853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680" dirty="0"/>
          </a:p>
        </p:txBody>
      </p:sp>
      <p:sp>
        <p:nvSpPr>
          <p:cNvPr id="78" name="Shape 71"/>
          <p:cNvSpPr/>
          <p:nvPr/>
        </p:nvSpPr>
        <p:spPr>
          <a:xfrm>
            <a:off x="4764024" y="6318504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FDE8E8"/>
          </a:solidFill>
          <a:ln w="9525">
            <a:solidFill>
              <a:srgbClr val="FDE8E8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4764024" y="6318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680" dirty="0"/>
          </a:p>
        </p:txBody>
      </p:sp>
      <p:sp>
        <p:nvSpPr>
          <p:cNvPr id="80" name="Shape 73"/>
          <p:cNvSpPr/>
          <p:nvPr/>
        </p:nvSpPr>
        <p:spPr>
          <a:xfrm>
            <a:off x="4764024" y="6551676"/>
            <a:ext cx="731520" cy="201168"/>
          </a:xfrm>
          <a:prstGeom prst="roundRect">
            <a:avLst>
              <a:gd name="adj" fmla="val 13636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4764024" y="65516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DB</a:t>
            </a:r>
            <a:endParaRPr lang="en-US" sz="680" dirty="0"/>
          </a:p>
        </p:txBody>
      </p:sp>
      <p:sp>
        <p:nvSpPr>
          <p:cNvPr id="82" name="Text 75"/>
          <p:cNvSpPr txBox="1"/>
          <p:nvPr/>
        </p:nvSpPr>
        <p:spPr>
          <a:xfrm>
            <a:off x="5495544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3" name="Shape 76"/>
          <p:cNvSpPr/>
          <p:nvPr/>
        </p:nvSpPr>
        <p:spPr>
          <a:xfrm>
            <a:off x="5605272" y="5852160"/>
            <a:ext cx="786384" cy="914400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84" name="Text 77"/>
          <p:cNvSpPr txBox="1"/>
          <p:nvPr/>
        </p:nvSpPr>
        <p:spPr>
          <a:xfrm>
            <a:off x="5632704" y="5879592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AI explains</a:t>
            </a:r>
            <a:endParaRPr lang="en-US" sz="74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Hindi/English + 3 doctor questions</a:t>
            </a:r>
            <a:endParaRPr lang="en-US" sz="740" dirty="0"/>
          </a:p>
        </p:txBody>
      </p:sp>
      <p:sp>
        <p:nvSpPr>
          <p:cNvPr id="85" name="Text 78"/>
          <p:cNvSpPr txBox="1"/>
          <p:nvPr/>
        </p:nvSpPr>
        <p:spPr>
          <a:xfrm>
            <a:off x="6391656" y="5852160"/>
            <a:ext cx="109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6" name="Shape 79"/>
          <p:cNvSpPr/>
          <p:nvPr/>
        </p:nvSpPr>
        <p:spPr>
          <a:xfrm>
            <a:off x="6501384" y="5852160"/>
            <a:ext cx="749808" cy="429768"/>
          </a:xfrm>
          <a:prstGeom prst="roundRect">
            <a:avLst>
              <a:gd name="adj" fmla="val 10638"/>
            </a:avLst>
          </a:prstGeom>
          <a:solidFill>
            <a:srgbClr val="FFF4DC"/>
          </a:solidFill>
          <a:ln w="9525">
            <a:solidFill>
              <a:srgbClr val="E8C27A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6519672" y="5870448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PDF</a:t>
            </a:r>
            <a:endParaRPr lang="en-US" sz="72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sources</a:t>
            </a:r>
            <a:endParaRPr lang="en-US" sz="720" dirty="0"/>
          </a:p>
        </p:txBody>
      </p:sp>
      <p:sp>
        <p:nvSpPr>
          <p:cNvPr id="88" name="Shape 81"/>
          <p:cNvSpPr/>
          <p:nvPr/>
        </p:nvSpPr>
        <p:spPr>
          <a:xfrm>
            <a:off x="6501384" y="6336792"/>
            <a:ext cx="749808" cy="429768"/>
          </a:xfrm>
          <a:prstGeom prst="roundRect">
            <a:avLst>
              <a:gd name="adj" fmla="val 10638"/>
            </a:avLst>
          </a:prstGeom>
          <a:solidFill>
            <a:srgbClr val="FFF4DC"/>
          </a:solidFill>
          <a:ln w="9525">
            <a:solidFill>
              <a:srgbClr val="E8C27A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6519672" y="6355080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report</a:t>
            </a:r>
            <a:endParaRPr lang="en-US" sz="72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 format</a:t>
            </a:r>
            <a:endParaRPr lang="en-US" sz="720" dirty="0"/>
          </a:p>
        </p:txBody>
      </p:sp>
      <p:sp>
        <p:nvSpPr>
          <p:cNvPr id="90" name="Text 83"/>
          <p:cNvSpPr txBox="1"/>
          <p:nvPr/>
        </p:nvSpPr>
        <p:spPr>
          <a:xfrm>
            <a:off x="429768" y="6821424"/>
            <a:ext cx="6702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rules: </a:t>
            </a:r>
            <a:pPr indent="0" marL="0">
              <a:buNone/>
            </a:pPr>
            <a:r>
              <a:rPr lang="en-US" sz="6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row wins; an unknown pair is never shown as green; grade-C evidence caps at AMBER; the answer is identical with the AI switched off.</a:t>
            </a:r>
            <a:endParaRPr lang="en-US" sz="69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7059168"/>
          <a:ext cx="3246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31520"/>
                <a:gridCol w="594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Medscape · Drugs.com · 1mg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MSKCC · Natural Medicines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Ayurveda × allopathy pair check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86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single herbs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every pair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brands &amp; Hindi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86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brands + synonyms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on every verdict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E7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 evidence grade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report to Ministry of Ayush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one tap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</a:tbl>
          </a:graphicData>
        </a:graphic>
      </p:graphicFrame>
      <p:sp>
        <p:nvSpPr>
          <p:cNvPr id="92" name="Text 84"/>
          <p:cNvSpPr txBox="1"/>
          <p:nvPr/>
        </p:nvSpPr>
        <p:spPr>
          <a:xfrm>
            <a:off x="429768" y="854049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assessment from each tool's public documentation.</a:t>
            </a:r>
            <a:endParaRPr lang="en-US" sz="660" dirty="0"/>
          </a:p>
        </p:txBody>
      </p:sp>
      <p:sp>
        <p:nvSpPr>
          <p:cNvPr id="93" name="Text 85"/>
          <p:cNvSpPr txBox="1"/>
          <p:nvPr/>
        </p:nvSpPr>
        <p:spPr>
          <a:xfrm>
            <a:off x="3886200" y="705916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 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PWA (Hindi/English UI) · FastAPI + Pydantic REST API · PostgreSQL in production, SQLite offline · Tesseract OCR · RapidFuzz matching (≥85 accept, 70–85 ask the user) · Groq LLM, JSON-schema output, temperature 0 · ReportLab PDFs. No model training; runs fully offline on a laptop.</a:t>
            </a:r>
            <a:endParaRPr lang="en-US" sz="6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base. 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herb × drug pairs curated from PubMed, NIH LiverTox, MSKCC, WHO monographs and the Ayurvedic Pharmacopoeia, graded on the Stockley's model. Decision support only, never diagnosis. Sample rows:</a:t>
            </a:r>
            <a:endParaRPr lang="en-US" sz="69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7936992"/>
          <a:ext cx="3246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822960"/>
                <a:gridCol w="6858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Herb × drug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Ashwagandha × Levothyroxine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86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 · grade B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raise thyroid hormone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2018, PMID 28829155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Guggul × Warfarin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· grade B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increase bleeding risk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MSKCC About Herbs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Giloy × Tacrolimus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· grade C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oppose immuno-suppression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Nagral 2021, LiverTox</a:t>
                      </a: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5" name="Shape 86"/>
          <p:cNvSpPr/>
          <p:nvPr/>
        </p:nvSpPr>
        <p:spPr>
          <a:xfrm>
            <a:off x="429768" y="9070848"/>
            <a:ext cx="182880" cy="1828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6" name="Text 87"/>
          <p:cNvSpPr txBox="1"/>
          <p:nvPr/>
        </p:nvSpPr>
        <p:spPr>
          <a:xfrm>
            <a:off x="429768" y="9070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97" name="Text 88"/>
          <p:cNvSpPr txBox="1"/>
          <p:nvPr/>
        </p:nvSpPr>
        <p:spPr>
          <a:xfrm>
            <a:off x="676656" y="9052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98" name="Shape 89"/>
          <p:cNvSpPr/>
          <p:nvPr/>
        </p:nvSpPr>
        <p:spPr>
          <a:xfrm>
            <a:off x="1911096" y="9171432"/>
            <a:ext cx="522122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429768" y="9336024"/>
            <a:ext cx="182880" cy="1828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0" name="Text 91"/>
          <p:cNvSpPr txBox="1"/>
          <p:nvPr/>
        </p:nvSpPr>
        <p:spPr>
          <a:xfrm>
            <a:off x="429768" y="9336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1" name="Text 92"/>
          <p:cNvSpPr txBox="1"/>
          <p:nvPr/>
        </p:nvSpPr>
        <p:spPr>
          <a:xfrm>
            <a:off x="676656" y="93268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caregivers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sourced answer before the first dose, in their own language, instead of silence or a guess. Free for citizens.</a:t>
            </a:r>
            <a:endParaRPr lang="en-US" sz="740" dirty="0"/>
          </a:p>
        </p:txBody>
      </p:sp>
      <p:sp>
        <p:nvSpPr>
          <p:cNvPr id="102" name="Shape 93"/>
          <p:cNvSpPr/>
          <p:nvPr/>
        </p:nvSpPr>
        <p:spPr>
          <a:xfrm>
            <a:off x="3886200" y="9336024"/>
            <a:ext cx="182880" cy="1828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3" name="Text 94"/>
          <p:cNvSpPr txBox="1"/>
          <p:nvPr/>
        </p:nvSpPr>
        <p:spPr>
          <a:xfrm>
            <a:off x="3886200" y="9336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4" name="Text 95"/>
          <p:cNvSpPr txBox="1"/>
          <p:nvPr/>
        </p:nvSpPr>
        <p:spPr>
          <a:xfrm>
            <a:off x="4133088" y="93268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vaidyas &amp; chemists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learn what patients actually take; a QR on the chemist's bill or an API inside hospital and telemedicine systems makes the check routine.</a:t>
            </a:r>
            <a:endParaRPr lang="en-US" sz="740" dirty="0"/>
          </a:p>
        </p:txBody>
      </p:sp>
      <p:sp>
        <p:nvSpPr>
          <p:cNvPr id="105" name="Shape 96"/>
          <p:cNvSpPr/>
          <p:nvPr/>
        </p:nvSpPr>
        <p:spPr>
          <a:xfrm>
            <a:off x="429768" y="9811512"/>
            <a:ext cx="182880" cy="1828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6" name="Text 97"/>
          <p:cNvSpPr txBox="1"/>
          <p:nvPr/>
        </p:nvSpPr>
        <p:spPr>
          <a:xfrm>
            <a:off x="429768" y="9811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7" name="Text 98"/>
          <p:cNvSpPr txBox="1"/>
          <p:nvPr/>
        </p:nvSpPr>
        <p:spPr>
          <a:xfrm>
            <a:off x="676656" y="98023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reproducible ADR reports and real co-use data from the catchment of its 99 peripheral pharmacovigilance centres.</a:t>
            </a:r>
            <a:endParaRPr lang="en-US" sz="740" dirty="0"/>
          </a:p>
        </p:txBody>
      </p:sp>
      <p:sp>
        <p:nvSpPr>
          <p:cNvPr id="108" name="Shape 99"/>
          <p:cNvSpPr/>
          <p:nvPr/>
        </p:nvSpPr>
        <p:spPr>
          <a:xfrm>
            <a:off x="3886200" y="9811512"/>
            <a:ext cx="182880" cy="1828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9" name="Text 100"/>
          <p:cNvSpPr txBox="1"/>
          <p:nvPr/>
        </p:nvSpPr>
        <p:spPr>
          <a:xfrm>
            <a:off x="3886200" y="9811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10" name="Text 101"/>
          <p:cNvSpPr txBox="1"/>
          <p:nvPr/>
        </p:nvSpPr>
        <p:spPr>
          <a:xfrm>
            <a:off x="4133088" y="98023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public today checks an Ayurvedic product against an allopathic prescription. TakeSure builds the missing bridge table: Indian brands × Ayurvedic herb synonyms × graded evidence, open and auditable. Honest by design: grades, timing gaps instead of alarms, “not in database” instead of guesses.</a:t>
            </a:r>
            <a:endParaRPr lang="en-US" sz="740" dirty="0"/>
          </a:p>
        </p:txBody>
      </p:sp>
      <p:sp>
        <p:nvSpPr>
          <p:cNvPr id="111" name="Shape 102"/>
          <p:cNvSpPr/>
          <p:nvPr/>
        </p:nvSpPr>
        <p:spPr>
          <a:xfrm>
            <a:off x="0" y="10387584"/>
            <a:ext cx="7562088" cy="3017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2" name="Text 103"/>
          <p:cNvSpPr txBox="1"/>
          <p:nvPr/>
        </p:nvSpPr>
        <p:spPr>
          <a:xfrm>
            <a:off x="429768" y="1038758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Ministry of Ayush Pharmacovigilance Programme for ASU&amp;H drugs · decision support only, never diagnosis</a:t>
            </a:r>
            <a:endParaRPr lang="en-US" sz="720" dirty="0"/>
          </a:p>
        </p:txBody>
      </p:sp>
      <p:sp>
        <p:nvSpPr>
          <p:cNvPr id="113" name="Text 104"/>
          <p:cNvSpPr txBox="1"/>
          <p:nvPr/>
        </p:nvSpPr>
        <p:spPr>
          <a:xfrm>
            <a:off x="4846320" y="1038758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 Hunters · HACK@BVP 8.0 · BVEST XIII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TakeSure — Hack@BVP 8.0 Abstract</dc:title>
  <dc:subject>PptxGenJS Presentation</dc:subject>
  <dc:creator>Team Bug Hunters</dc:creator>
  <cp:lastModifiedBy>Team Bug Hunters</cp:lastModifiedBy>
  <cp:revision>1</cp:revision>
  <dcterms:created xsi:type="dcterms:W3CDTF">2026-10-16T12:07:17Z</dcterms:created>
  <dcterms:modified xsi:type="dcterms:W3CDTF">2026-10-16T12:07:17Z</dcterms:modified>
</cp:coreProperties>
</file>