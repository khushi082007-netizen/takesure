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USP: first Ayurveda × allopathy safety layer; verdict from data, AI only explains; built for India; honest by design. Business model: free B2C, B2B API, B2G/CSR programmes, ABDM platform. Roadmap from hackathon MVP to Ministry integration; three impact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01168"/>
            <a:ext cx="146304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92608" y="201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Name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9144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 (UNIQUE SELLING PROPOSITION)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BUSINESS MODEL</a:t>
            </a:r>
            <a:endParaRPr lang="en-US" sz="1900" dirty="0"/>
          </a:p>
        </p:txBody>
      </p:sp>
      <p:pic>
        <p:nvPicPr>
          <p:cNvPr id="5" name="Image 0" descr="assets/devsphere_alp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28016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89520" y="56692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DevSphereIndia</a:t>
            </a:r>
            <a:endParaRPr lang="en-US" sz="550" dirty="0"/>
          </a:p>
        </p:txBody>
      </p:sp>
      <p:pic>
        <p:nvPicPr>
          <p:cNvPr id="7" name="Image 1" descr="assets/codeslayer_alph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752" y="822960"/>
            <a:ext cx="4224528" cy="246888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82296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(UNIQUE SELLING PROPOSITION)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645152" y="822960"/>
            <a:ext cx="4206240" cy="246888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754880" y="8229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01752" y="1124712"/>
            <a:ext cx="4224528" cy="640080"/>
          </a:xfrm>
          <a:prstGeom prst="rect">
            <a:avLst/>
          </a:prstGeom>
          <a:solidFill>
            <a:srgbClr val="EFE9DE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9768" y="1316736"/>
            <a:ext cx="256032" cy="256032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9768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1161288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safety layer between the two medical systems people already mix</a:t>
            </a:r>
            <a:pPr indent="0" marL="0">
              <a:buNone/>
            </a:pPr>
            <a:r>
              <a:rPr lang="en-US" sz="9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nothing public today checks an Ayurvedic product against an allopathic prescription.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01752" y="1819656"/>
            <a:ext cx="4224528" cy="640080"/>
          </a:xfrm>
          <a:prstGeom prst="rect">
            <a:avLst/>
          </a:prstGeom>
          <a:solidFill>
            <a:srgbClr val="EFE9DE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768" y="2011680"/>
            <a:ext cx="256032" cy="256032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29768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804672" y="185623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from published data; AI only explains</a:t>
            </a:r>
            <a:pPr indent="0" marL="0">
              <a:buNone/>
            </a:pPr>
            <a:r>
              <a:rPr lang="en-US" sz="9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auditable rules over cited rows; the opposite of a “ChatGPT wrapper”.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01752" y="2514600"/>
            <a:ext cx="4224528" cy="640080"/>
          </a:xfrm>
          <a:prstGeom prst="rect">
            <a:avLst/>
          </a:prstGeom>
          <a:solidFill>
            <a:srgbClr val="EFE9DE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9768" y="2706624"/>
            <a:ext cx="256032" cy="256032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29768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804672" y="2551176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India:</a:t>
            </a:r>
            <a:pPr indent="0" marL="0">
              <a:buNone/>
            </a:pPr>
            <a:r>
              <a:rPr lang="en-US" sz="9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Indian brand names, Sanskrit/Hindi synonyms, Hindi explanations, Ministry of Ayush ADR format, Ayush Suraksha portal link.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01752" y="3209544"/>
            <a:ext cx="4224528" cy="640080"/>
          </a:xfrm>
          <a:prstGeom prst="rect">
            <a:avLst/>
          </a:prstGeom>
          <a:solidFill>
            <a:srgbClr val="EFE9DE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29768" y="3401568"/>
            <a:ext cx="256032" cy="256032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29768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804672" y="3246120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design:</a:t>
            </a:r>
            <a:pPr indent="0" marL="0">
              <a:buNone/>
            </a:pPr>
            <a:r>
              <a:rPr lang="en-US" sz="9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evidence grades, timing gaps instead of alarms, “not in database” instead of guesses.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645152" y="1124712"/>
            <a:ext cx="868680" cy="640080"/>
          </a:xfrm>
          <a:prstGeom prst="rect">
            <a:avLst/>
          </a:prstGeom>
          <a:solidFill>
            <a:srgbClr val="4E6B3A"/>
          </a:solidFill>
          <a:ln w="12700">
            <a:solidFill>
              <a:srgbClr val="4E6B3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645152" y="112471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513832" y="1124712"/>
            <a:ext cx="3337560" cy="640080"/>
          </a:xfrm>
          <a:prstGeom prst="rect">
            <a:avLst/>
          </a:prstGeom>
          <a:solidFill>
            <a:srgbClr val="E3E9DC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632704" y="11612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citizens</a:t>
            </a:r>
            <a:pPr indent="0" marL="0">
              <a:buNone/>
            </a:pPr>
            <a:r>
              <a:rPr lang="en-US" sz="86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Web/PWA checker in Hindi &amp; English; grows the knowledge base and the ADR signal.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4645152" y="1819656"/>
            <a:ext cx="868680" cy="6400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645152" y="181965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513832" y="1819656"/>
            <a:ext cx="3337560" cy="640080"/>
          </a:xfrm>
          <a:prstGeom prst="rect">
            <a:avLst/>
          </a:prstGeom>
          <a:solidFill>
            <a:srgbClr val="F0DFC6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632704" y="18562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counter tool</a:t>
            </a:r>
            <a:pPr indent="0" marL="0">
              <a:buNone/>
            </a:pPr>
            <a:r>
              <a:rPr lang="en-US" sz="86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Per-query / subscription API for pharmacy chains, hospital HIS, telemedicine apps; QR on the chemist's bill.</a:t>
            </a:r>
            <a:endParaRPr lang="en-US" sz="860" dirty="0"/>
          </a:p>
        </p:txBody>
      </p:sp>
      <p:sp>
        <p:nvSpPr>
          <p:cNvPr id="36" name="Shape 32"/>
          <p:cNvSpPr/>
          <p:nvPr/>
        </p:nvSpPr>
        <p:spPr>
          <a:xfrm>
            <a:off x="4645152" y="2514600"/>
            <a:ext cx="868680" cy="64008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645152" y="25146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/ CSR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5513832" y="2514600"/>
            <a:ext cx="3337560" cy="640080"/>
          </a:xfrm>
          <a:prstGeom prst="rect">
            <a:avLst/>
          </a:prstGeom>
          <a:solidFill>
            <a:srgbClr val="EFD9C0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632704" y="25511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&amp; grants</a:t>
            </a:r>
            <a:pPr indent="0" marL="0">
              <a:buNone/>
            </a:pPr>
            <a:r>
              <a:rPr lang="en-US" sz="86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Co-use analytics and structured ICSRs for the Ministry of Ayush pharmacovigilance network; CSR funding from Ayurvedic brands that want a trust layer.</a:t>
            </a:r>
            <a:endParaRPr lang="en-US" sz="860" dirty="0"/>
          </a:p>
        </p:txBody>
      </p:sp>
      <p:sp>
        <p:nvSpPr>
          <p:cNvPr id="40" name="Shape 36"/>
          <p:cNvSpPr/>
          <p:nvPr/>
        </p:nvSpPr>
        <p:spPr>
          <a:xfrm>
            <a:off x="4645152" y="3209544"/>
            <a:ext cx="868680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4645152" y="320954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513832" y="3209544"/>
            <a:ext cx="3337560" cy="640080"/>
          </a:xfrm>
          <a:prstGeom prst="rect">
            <a:avLst/>
          </a:prstGeom>
          <a:solidFill>
            <a:srgbClr val="E8E1D6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632704" y="3246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Grid / ABDM integration</a:t>
            </a:r>
            <a:pPr indent="0" marL="0">
              <a:buNone/>
            </a:pPr>
            <a:r>
              <a:rPr lang="en-US" sz="86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verdict attached to the ABHA health record; open KB co-curated with Ayurveda colleges.</a:t>
            </a:r>
            <a:endParaRPr lang="en-US" sz="860" dirty="0"/>
          </a:p>
        </p:txBody>
      </p:sp>
      <p:sp>
        <p:nvSpPr>
          <p:cNvPr id="44" name="Shape 40"/>
          <p:cNvSpPr/>
          <p:nvPr/>
        </p:nvSpPr>
        <p:spPr>
          <a:xfrm>
            <a:off x="301752" y="3959352"/>
            <a:ext cx="5074920" cy="1005840"/>
          </a:xfrm>
          <a:prstGeom prst="rect">
            <a:avLst/>
          </a:prstGeom>
          <a:solidFill>
            <a:srgbClr val="EFE9DE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11480" y="40050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· ONE KNOWLEDGE BASE, FOUR USERS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411480" y="4233672"/>
            <a:ext cx="118872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438912" y="42336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FAMILIES</a:t>
            </a:r>
            <a:endParaRPr lang="en-US" sz="630" dirty="0"/>
          </a:p>
        </p:txBody>
      </p:sp>
      <p:sp>
        <p:nvSpPr>
          <p:cNvPr id="48" name="Shape 44"/>
          <p:cNvSpPr/>
          <p:nvPr/>
        </p:nvSpPr>
        <p:spPr>
          <a:xfrm>
            <a:off x="411480" y="4471416"/>
            <a:ext cx="11887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57200" y="44897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verdict in Hindi or English, timing gaps, and three questions to carry to the clinic</a:t>
            </a:r>
            <a:endParaRPr lang="en-US" sz="640" dirty="0"/>
          </a:p>
        </p:txBody>
      </p:sp>
      <p:sp>
        <p:nvSpPr>
          <p:cNvPr id="50" name="Shape 46"/>
          <p:cNvSpPr/>
          <p:nvPr/>
        </p:nvSpPr>
        <p:spPr>
          <a:xfrm>
            <a:off x="1634033" y="4233672"/>
            <a:ext cx="1188720" cy="23774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1661465" y="42336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&amp; VAIDYAS</a:t>
            </a:r>
            <a:endParaRPr lang="en-US" sz="630" dirty="0"/>
          </a:p>
        </p:txBody>
      </p:sp>
      <p:sp>
        <p:nvSpPr>
          <p:cNvPr id="52" name="Shape 48"/>
          <p:cNvSpPr/>
          <p:nvPr/>
        </p:nvSpPr>
        <p:spPr>
          <a:xfrm>
            <a:off x="1634033" y="4471416"/>
            <a:ext cx="11887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679753" y="44897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finally disclose what they take; a one-page summary with sources bridges both vocabularies</a:t>
            </a:r>
            <a:endParaRPr lang="en-US" sz="640" dirty="0"/>
          </a:p>
        </p:txBody>
      </p:sp>
      <p:sp>
        <p:nvSpPr>
          <p:cNvPr id="54" name="Shape 50"/>
          <p:cNvSpPr/>
          <p:nvPr/>
        </p:nvSpPr>
        <p:spPr>
          <a:xfrm>
            <a:off x="2856586" y="4233672"/>
            <a:ext cx="1188720" cy="237744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884018" y="42336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PHARMACISTS &amp; CHEMISTS</a:t>
            </a:r>
            <a:endParaRPr lang="en-US" sz="630" dirty="0"/>
          </a:p>
        </p:txBody>
      </p:sp>
      <p:sp>
        <p:nvSpPr>
          <p:cNvPr id="56" name="Shape 52"/>
          <p:cNvSpPr/>
          <p:nvPr/>
        </p:nvSpPr>
        <p:spPr>
          <a:xfrm>
            <a:off x="2856586" y="4471416"/>
            <a:ext cx="11887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2902306" y="44897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Counter-side cross-check for the only shop that sells both systems' products; QR on the bill</a:t>
            </a:r>
            <a:endParaRPr lang="en-US" sz="640" dirty="0"/>
          </a:p>
        </p:txBody>
      </p:sp>
      <p:sp>
        <p:nvSpPr>
          <p:cNvPr id="58" name="Shape 54"/>
          <p:cNvSpPr/>
          <p:nvPr/>
        </p:nvSpPr>
        <p:spPr>
          <a:xfrm>
            <a:off x="4079138" y="4233672"/>
            <a:ext cx="1188720" cy="237744"/>
          </a:xfrm>
          <a:prstGeom prst="rect">
            <a:avLst/>
          </a:prstGeom>
          <a:solidFill>
            <a:srgbClr val="4E6B3A"/>
          </a:solidFill>
          <a:ln w="12700">
            <a:solidFill>
              <a:srgbClr val="4E6B3A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4106570" y="42336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 / NPvCC</a:t>
            </a:r>
            <a:endParaRPr lang="en-US" sz="630" dirty="0"/>
          </a:p>
        </p:txBody>
      </p:sp>
      <p:sp>
        <p:nvSpPr>
          <p:cNvPr id="60" name="Shape 56"/>
          <p:cNvSpPr/>
          <p:nvPr/>
        </p:nvSpPr>
        <p:spPr>
          <a:xfrm>
            <a:off x="4079138" y="4471416"/>
            <a:ext cx="11887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4124858" y="44897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ICSRs in the official format, anonymised co-use analytics by state, early signal detection</a:t>
            </a:r>
            <a:endParaRPr lang="en-US" sz="640" dirty="0"/>
          </a:p>
        </p:txBody>
      </p:sp>
      <p:sp>
        <p:nvSpPr>
          <p:cNvPr id="62" name="Shape 58"/>
          <p:cNvSpPr/>
          <p:nvPr/>
        </p:nvSpPr>
        <p:spPr>
          <a:xfrm>
            <a:off x="5422392" y="3959352"/>
            <a:ext cx="3429000" cy="1005840"/>
          </a:xfrm>
          <a:prstGeom prst="rect">
            <a:avLst/>
          </a:prstGeom>
          <a:solidFill>
            <a:srgbClr val="EFE9DE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5532120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· WHY IT MATTERS</a:t>
            </a:r>
            <a:endParaRPr lang="en-US" sz="750" dirty="0"/>
          </a:p>
        </p:txBody>
      </p:sp>
      <p:sp>
        <p:nvSpPr>
          <p:cNvPr id="64" name="Text 60"/>
          <p:cNvSpPr txBox="1"/>
          <p:nvPr/>
        </p:nvSpPr>
        <p:spPr>
          <a:xfrm>
            <a:off x="5513832" y="4206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1,473</a:t>
            </a:r>
            <a:endParaRPr lang="en-US" sz="1700" dirty="0"/>
          </a:p>
        </p:txBody>
      </p:sp>
      <p:sp>
        <p:nvSpPr>
          <p:cNvPr id="65" name="Text 61"/>
          <p:cNvSpPr txBox="1"/>
          <p:nvPr/>
        </p:nvSpPr>
        <p:spPr>
          <a:xfrm>
            <a:off x="5513832" y="45079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ASU&amp;H adverse-event reports nationally since 2018 — TakeSure turns every reaction into a structured ICSR</a:t>
            </a:r>
            <a:endParaRPr lang="en-US" sz="630" dirty="0"/>
          </a:p>
        </p:txBody>
      </p:sp>
      <p:sp>
        <p:nvSpPr>
          <p:cNvPr id="66" name="Text 62"/>
          <p:cNvSpPr txBox="1"/>
          <p:nvPr/>
        </p:nvSpPr>
        <p:spPr>
          <a:xfrm>
            <a:off x="6611112" y="4206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1700" dirty="0"/>
          </a:p>
        </p:txBody>
      </p:sp>
      <p:sp>
        <p:nvSpPr>
          <p:cNvPr id="67" name="Text 63"/>
          <p:cNvSpPr txBox="1"/>
          <p:nvPr/>
        </p:nvSpPr>
        <p:spPr>
          <a:xfrm>
            <a:off x="6611112" y="45079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herbal users with a side effect never told their doctor — TakeSure hands them the questions to ask</a:t>
            </a:r>
            <a:endParaRPr lang="en-US" sz="630" dirty="0"/>
          </a:p>
        </p:txBody>
      </p:sp>
      <p:sp>
        <p:nvSpPr>
          <p:cNvPr id="68" name="Text 64"/>
          <p:cNvSpPr txBox="1"/>
          <p:nvPr/>
        </p:nvSpPr>
        <p:spPr>
          <a:xfrm>
            <a:off x="7708392" y="4206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69" name="Text 65"/>
          <p:cNvSpPr txBox="1"/>
          <p:nvPr/>
        </p:nvSpPr>
        <p:spPr>
          <a:xfrm>
            <a:off x="7708392" y="45079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tools today check an Ayurvedic product against an allopathic prescription — TakeSure is the first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2026-10-04T07:02:45Z</dcterms:created>
  <dcterms:modified xsi:type="dcterms:W3CDTF">2026-10-04T07:02:45Z</dcterms:modified>
</cp:coreProperties>
</file>