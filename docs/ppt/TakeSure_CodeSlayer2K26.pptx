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team name, members with roles, and the Google Drive link. Tracks: Healthcare (primary), AI/ML, Open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two systems, zero cross-checks. Three numbers: 37% co-use, 65% lack interaction knowledge, 19% disclose. Target users: B2C patients/caregivers, B2B clinicians and pharmacies, B2G Ministry of Ayush.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features: Scan, Match, Decide, Explain, Report. The novelty: the verdict comes from data, the AI only explains, and the bridge table between Indian brands, herb synonyms and evidence does not exist anywhere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core, AI at the edges. Walk the top row left to right: inputs, OCR, matcher, rule engine; the knowledge base feeds the rule engine; the explainer only sees matched rows; outputs and the anonymised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proven parts, no training, roles split, runs offline. Showstoppers: each risk has a concrete mitigation; the AI hallucination row is the one judges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USP: first Ayurveda × allopathy checker, verdict from data. Business: free B2C, API for pharmacies/HIS/telemedicine, Ministry programmes and CSR, ABDM integration. References compacted here because the deck is capped at six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901952"/>
          </a:xfrm>
          <a:prstGeom prst="rect">
            <a:avLst/>
          </a:prstGeom>
        </p:spPr>
      </p:pic>
      <p:pic>
        <p:nvPicPr>
          <p:cNvPr id="3" name="Image 1" descr="assets/codes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73152"/>
            <a:ext cx="896112" cy="886968"/>
          </a:xfrm>
          <a:prstGeom prst="rect">
            <a:avLst/>
          </a:prstGeom>
        </p:spPr>
      </p:pic>
      <p:pic>
        <p:nvPicPr>
          <p:cNvPr id="4" name="Image 2" descr="assets/devsphe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55448"/>
            <a:ext cx="841248" cy="83210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9728" y="877824"/>
            <a:ext cx="1792224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109728" y="877824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2212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 :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2240280" y="219456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</a:t>
            </a:r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Confidence before taking something.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× Allopathy herb–drug interaction checker: photo of prescription + photo of product → sourced, plain-language safety verdict + Ministry of Ayush ADR report.</a:t>
            </a:r>
            <a:endParaRPr lang="en-US" sz="115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28529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: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2240280" y="28712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32186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(Names + Roles Briefly):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2240280" y="321868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1]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Team lead · backend, rule engine &amp; pitch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2]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Frontend · web app, Hindi/English UI, result card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3]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Medical research · knowledge base &amp; evidence grading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 4]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OCR, PDF/ADR export &amp; demo video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Chosen: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240280" y="41513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Innovation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5537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explanation video (Google Drive): [paste link here — set to “Anyone with the link can view”]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4809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the Ministry of Ayush Pharmacovigilance Programme for ASU&amp;H drugs · decision support, never diagnosis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1097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AUDIENCE</a:t>
            </a:r>
            <a:endParaRPr lang="en-US" sz="1900" dirty="0"/>
          </a:p>
        </p:txBody>
      </p:sp>
      <p:pic>
        <p:nvPicPr>
          <p:cNvPr id="3" name="Image 0" descr="assets/codes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896112" cy="886968"/>
          </a:xfrm>
          <a:prstGeom prst="rect">
            <a:avLst/>
          </a:prstGeom>
        </p:spPr>
      </p:pic>
      <p:pic>
        <p:nvPicPr>
          <p:cNvPr id="4" name="Image 1" descr="assets/devsphe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54864"/>
            <a:ext cx="822960" cy="81381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" y="749808"/>
            <a:ext cx="178308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1440" y="7498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20040" y="1600200"/>
            <a:ext cx="56235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664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We're Solving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96596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runs two medical systems side by side — and nobody checks the combination.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thyroid patient on Thyronorm adds ashwagandha for stress; a transplant patient on tacrolimus drinks giloy kadha; a cardiac patient on warfarin takes guggul for cholesterol. Ashwagandha can raise thyroid hormone, giloy can oppose immunosuppression, guggul can increase bleeding.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allopathic doctor rarely asks, the patient rarely tells, the chemist has no tool, and the product label says nothing about allopathic medicines.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checkers (Medscape, Drugs.com, 1mg) only know allopathic × allopathic pairs; Western herb databases are English-only, paid and do not know Indian brands like Himalaya Ashvagandha or Dabur Giloy Ghanvati.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57200" y="356616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3602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39502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hospital patients used allopathic + herbal medicines together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1801368" y="356616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801368" y="3602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1847088" y="39502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herbal users lacked knowledge of dose, side effects, interactions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3145536" y="356616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145536" y="3602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3191256" y="39502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Indian patients disclose herbal use to their doctor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489704" y="3566160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489704" y="360273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1,473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4535424" y="3950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ASU&amp;H adverse-event reports nationally since 2018</a:t>
            </a:r>
            <a:endParaRPr lang="en-US" sz="75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38912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Impacted: patients on thyroid, diabetes, BP/heart, blood-thinner, transplant or epilepsy medicines and their families; doctors who never hear about the co-use; the Ministry's pharmacovigilance network that never receives the reports.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6126480" y="1600200"/>
            <a:ext cx="269748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6364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263640" y="2011680"/>
            <a:ext cx="2423160" cy="896112"/>
          </a:xfrm>
          <a:prstGeom prst="roundRect">
            <a:avLst>
              <a:gd name="adj" fmla="val 6122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55080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Patients &amp; caregivers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6355080" y="2286000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30–70 on long-term medicines who also take Ayurvedic products; family members managing an elder's medicines; Hindi or English, phone-first.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263640" y="2980944"/>
            <a:ext cx="2423160" cy="896112"/>
          </a:xfrm>
          <a:prstGeom prst="roundRect">
            <a:avLst>
              <a:gd name="adj" fmla="val 6122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355080" y="30266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Clinicians &amp; pharmacies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6355080" y="3255264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MBBS/MD doctors, BAMS vaidyas, hospital pharmacies, retail chemists, telemedicine and hospital-HIS platforms (API).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263640" y="3950208"/>
            <a:ext cx="2423160" cy="896112"/>
          </a:xfrm>
          <a:prstGeom prst="roundRect">
            <a:avLst>
              <a:gd name="adj" fmla="val 6122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55080" y="3995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· Regulators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6355080" y="42245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Ayush / NPvCC at AIIA and the 99 Peripheral Pharmacovigilance Centres: structured ICSRs and co-use analytics.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1097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UNIQUE SOLUTION</a:t>
            </a:r>
            <a:endParaRPr lang="en-US" sz="2200" dirty="0"/>
          </a:p>
        </p:txBody>
      </p:sp>
      <p:pic>
        <p:nvPicPr>
          <p:cNvPr id="3" name="Image 0" descr="assets/codes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896112" cy="886968"/>
          </a:xfrm>
          <a:prstGeom prst="rect">
            <a:avLst/>
          </a:prstGeom>
        </p:spPr>
      </p:pic>
      <p:pic>
        <p:nvPicPr>
          <p:cNvPr id="4" name="Image 1" descr="assets/devsphe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54864"/>
            <a:ext cx="822960" cy="81381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" y="749808"/>
            <a:ext cx="178308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1440" y="7498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20040" y="1600200"/>
            <a:ext cx="452628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19933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—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the prescription and the Ayurvedic product label (or type names). OCR reads them; every name is shown for confirmation before anything is checked.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2596896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257860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—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→ generic (Thyronorm → levothyroxine), product → herbs (Chyawanprash → amla, ashwagandha…) via a curated bridge dictionary + fuzzy matching.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182112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316382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—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 engine over a cited knowledge base → GREEN / AMBER / RED / NOT IN DATABASE, with timing gaps (e.g. keep 2–3 h between Triphala and oral medicines).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376732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374904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—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rewrites only the matched evidence into simple Hindi/English + 3 questions to ask the doctor. It cannot add, remove or re-grade an interaction.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4352544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7200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433425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—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PDF with sources for the doctor; one-tap suspected-ADR report in the Ministry of Ayush format for the Ayush Suraksha portal.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029200" y="1600200"/>
            <a:ext cx="3794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1663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965960"/>
          <a:ext cx="35204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48640"/>
                <a:gridCol w="548640"/>
                <a:gridCol w="548640"/>
                <a:gridCol w="457200"/>
                <a:gridCol w="457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Ayurveda × allopathy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brands &amp; Hindi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Sources &amp; evidence grade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 to Ministry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Medscape · Drugs.com · 1mg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★★☆☆☆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☆☆☆☆☆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/ 20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MSKCC · Natural Medicines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★★★☆☆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☆☆☆☆☆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/ 20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TakeSure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4A017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</a:t>
                      </a:r>
                      <a:endParaRPr lang="en-US" sz="750" dirty="0">
                        <a:latin typeface="Segoe UI Symbol" charset="0"/>
                        <a:ea typeface="Segoe UI Symbol" charset="0"/>
                        <a:cs typeface="Segoe UI Symbo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7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/ 20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</a:tr>
            </a:tbl>
          </a:graphicData>
        </a:graphic>
      </p:graphicFrame>
      <p:sp>
        <p:nvSpPr>
          <p:cNvPr id="27" name="Text 22"/>
          <p:cNvSpPr txBox="1"/>
          <p:nvPr/>
        </p:nvSpPr>
        <p:spPr>
          <a:xfrm>
            <a:off x="5166360" y="3163824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our assessment of each tool against the five things an Indian patient needs; sources: product sites &amp; documentation.</a:t>
            </a:r>
            <a:endParaRPr lang="en-US" sz="550" dirty="0"/>
          </a:p>
        </p:txBody>
      </p:sp>
      <p:sp>
        <p:nvSpPr>
          <p:cNvPr id="28" name="Text 23"/>
          <p:cNvSpPr txBox="1"/>
          <p:nvPr/>
        </p:nvSpPr>
        <p:spPr>
          <a:xfrm>
            <a:off x="5166360" y="3310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5166360" y="359359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“Verdict from published data; AI only explains.”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level never comes from a language model — it comes from a versioned, cited knowledge-base row. Turn the AI off and the verdict is identical.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bridge table: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names × Ayurvedic herb synonyms (Sanskrit/Hindi/Latin) × graded published evidence — open, auditable, co-curated with Ayurveda colleges.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5166360" y="4553712"/>
            <a:ext cx="3520440" cy="347472"/>
          </a:xfrm>
          <a:prstGeom prst="roundRect">
            <a:avLst>
              <a:gd name="adj" fmla="val 15789"/>
            </a:avLst>
          </a:prstGeom>
          <a:solidFill>
            <a:srgbClr val="FFF4DF"/>
          </a:solidFill>
          <a:ln w="9525">
            <a:solidFill>
              <a:srgbClr val="F0C36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230368" y="461772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230368" y="4617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AMBER</a:t>
            </a:r>
            <a:endParaRPr lang="en-US" sz="800" dirty="0"/>
          </a:p>
        </p:txBody>
      </p:sp>
      <p:sp>
        <p:nvSpPr>
          <p:cNvPr id="33" name="Text 28"/>
          <p:cNvSpPr txBox="1"/>
          <p:nvPr/>
        </p:nvSpPr>
        <p:spPr>
          <a:xfrm>
            <a:off x="5833872" y="4599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Ashwagandha + Levothyroxine · Evidence B · recheck TSH in 6–8 weeks · ask your doctor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7818120" y="44622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of a result card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1097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 + ARCHITECTURE</a:t>
            </a:r>
            <a:endParaRPr lang="en-US" sz="2200" dirty="0"/>
          </a:p>
        </p:txBody>
      </p:sp>
      <p:pic>
        <p:nvPicPr>
          <p:cNvPr id="3" name="Image 0" descr="assets/codes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896112" cy="886968"/>
          </a:xfrm>
          <a:prstGeom prst="rect">
            <a:avLst/>
          </a:prstGeom>
        </p:spPr>
      </p:pic>
      <p:pic>
        <p:nvPicPr>
          <p:cNvPr id="4" name="Image 1" descr="assets/devsphe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54864"/>
            <a:ext cx="822960" cy="81381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" y="749808"/>
            <a:ext cx="178308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1440" y="7498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20040" y="1600200"/>
            <a:ext cx="25146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9659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(React) + TypeScript, Tailwind CSS, Framer Motion · installable PWA · Hindi/English UI</a:t>
            </a:r>
            <a:endParaRPr lang="en-US" sz="78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3820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(Python), Pydantic v2 validation, SQLAlchemy · REST API with typed errors</a:t>
            </a:r>
            <a:endParaRPr lang="en-US" sz="78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27980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</a:t>
            </a:r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(Supabase) in production; SQLite for offline/demo · tables: herbs, drugs, products, interactions, sources</a:t>
            </a:r>
            <a:endParaRPr lang="en-US" sz="78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2141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OCR: </a:t>
            </a:r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(eng + hin) on the server; Google Vision / Groq vision model as optional cloud reader</a:t>
            </a:r>
            <a:endParaRPr lang="en-US" sz="78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6301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Matching: </a:t>
            </a:r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RapidFuzz token-set matching; ≥85 accept, 70–85 ask the user, &lt;70 not recognised</a:t>
            </a:r>
            <a:endParaRPr lang="en-US" sz="78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0462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explainer: </a:t>
            </a:r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(Llama / GPT-OSS) with JSON-schema output, temperature 0, facts-only prompt, fallback text</a:t>
            </a:r>
            <a:endParaRPr lang="en-US" sz="78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4622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hosting: </a:t>
            </a:r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 for doctor summary + ADR form · Vercel (web) + Render/Railway (API)</a:t>
            </a:r>
            <a:endParaRPr lang="en-US" sz="780" dirty="0"/>
          </a:p>
        </p:txBody>
      </p:sp>
      <p:sp>
        <p:nvSpPr>
          <p:cNvPr id="16" name="Shape 12"/>
          <p:cNvSpPr/>
          <p:nvPr/>
        </p:nvSpPr>
        <p:spPr>
          <a:xfrm>
            <a:off x="3017520" y="1600200"/>
            <a:ext cx="580644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15468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— project workflow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154680" y="201168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BE9E7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200400" y="2048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3200400" y="22677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of allopathic medicines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114800" y="2011680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BE9E7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160520" y="2048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photo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4160520" y="22677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Ayurvedic label / brand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5047488" y="2340864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257800" y="201168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303520" y="20482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5303520" y="2267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 from images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6236208" y="2340864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6446520" y="201168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92240" y="20482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6492240" y="226771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medicines / herbs; brand → generic / standard name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7516368" y="2340864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7726680" y="201168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772400" y="20482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7772400" y="2267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herb–drug table · sources &amp; grade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8202168" y="2670048"/>
            <a:ext cx="0" cy="18288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446520" y="2871216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8B0000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92240" y="29077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CHECK</a:t>
            </a:r>
            <a:endParaRPr lang="en-US" sz="800" dirty="0"/>
          </a:p>
        </p:txBody>
      </p:sp>
      <p:sp>
        <p:nvSpPr>
          <p:cNvPr id="39" name="Text 35"/>
          <p:cNvSpPr txBox="1"/>
          <p:nvPr/>
        </p:nvSpPr>
        <p:spPr>
          <a:xfrm>
            <a:off x="6492240" y="3127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6D5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safety level — AI does not decide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6236208" y="3200400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triangle"/>
          </a:ln>
        </p:spPr>
      </p:sp>
      <p:sp>
        <p:nvSpPr>
          <p:cNvPr id="41" name="Shape 37"/>
          <p:cNvSpPr/>
          <p:nvPr/>
        </p:nvSpPr>
        <p:spPr>
          <a:xfrm>
            <a:off x="3154680" y="2871216"/>
            <a:ext cx="713232" cy="658368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9525">
            <a:solidFill>
              <a:srgbClr val="1E7F4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136392" y="29443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720" dirty="0"/>
          </a:p>
        </p:txBody>
      </p:sp>
      <p:sp>
        <p:nvSpPr>
          <p:cNvPr id="43" name="Text 39"/>
          <p:cNvSpPr txBox="1"/>
          <p:nvPr/>
        </p:nvSpPr>
        <p:spPr>
          <a:xfrm>
            <a:off x="3182112" y="32004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80" dirty="0"/>
          </a:p>
        </p:txBody>
      </p:sp>
      <p:sp>
        <p:nvSpPr>
          <p:cNvPr id="44" name="Shape 40"/>
          <p:cNvSpPr/>
          <p:nvPr/>
        </p:nvSpPr>
        <p:spPr>
          <a:xfrm>
            <a:off x="3922776" y="2871216"/>
            <a:ext cx="713232" cy="658368"/>
          </a:xfrm>
          <a:prstGeom prst="roundRect">
            <a:avLst>
              <a:gd name="adj" fmla="val 8333"/>
            </a:avLst>
          </a:prstGeom>
          <a:solidFill>
            <a:srgbClr val="FFF4D6"/>
          </a:solidFill>
          <a:ln w="9525">
            <a:solidFill>
              <a:srgbClr val="B86E0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904488" y="29443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720" dirty="0"/>
          </a:p>
        </p:txBody>
      </p:sp>
      <p:sp>
        <p:nvSpPr>
          <p:cNvPr id="46" name="Text 42"/>
          <p:cNvSpPr txBox="1"/>
          <p:nvPr/>
        </p:nvSpPr>
        <p:spPr>
          <a:xfrm>
            <a:off x="3950208" y="32004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with caution</a:t>
            </a:r>
            <a:endParaRPr lang="en-US" sz="680" dirty="0"/>
          </a:p>
        </p:txBody>
      </p:sp>
      <p:sp>
        <p:nvSpPr>
          <p:cNvPr id="47" name="Shape 43"/>
          <p:cNvSpPr/>
          <p:nvPr/>
        </p:nvSpPr>
        <p:spPr>
          <a:xfrm>
            <a:off x="4690872" y="2871216"/>
            <a:ext cx="713232" cy="658368"/>
          </a:xfrm>
          <a:prstGeom prst="roundRect">
            <a:avLst>
              <a:gd name="adj" fmla="val 8333"/>
            </a:avLst>
          </a:prstGeom>
          <a:solidFill>
            <a:srgbClr val="FDE8E8"/>
          </a:solidFill>
          <a:ln w="9525">
            <a:solidFill>
              <a:srgbClr val="B00020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672584" y="29443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720" dirty="0"/>
          </a:p>
        </p:txBody>
      </p:sp>
      <p:sp>
        <p:nvSpPr>
          <p:cNvPr id="49" name="Text 45"/>
          <p:cNvSpPr txBox="1"/>
          <p:nvPr/>
        </p:nvSpPr>
        <p:spPr>
          <a:xfrm>
            <a:off x="4718304" y="32004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680" dirty="0"/>
          </a:p>
        </p:txBody>
      </p:sp>
      <p:sp>
        <p:nvSpPr>
          <p:cNvPr id="50" name="Shape 46"/>
          <p:cNvSpPr/>
          <p:nvPr/>
        </p:nvSpPr>
        <p:spPr>
          <a:xfrm>
            <a:off x="5458968" y="2871216"/>
            <a:ext cx="713232" cy="658368"/>
          </a:xfrm>
          <a:prstGeom prst="roundRect">
            <a:avLst>
              <a:gd name="adj" fmla="val 8333"/>
            </a:avLst>
          </a:prstGeom>
          <a:solidFill>
            <a:srgbClr val="EEF0F4"/>
          </a:solidFill>
          <a:ln w="9525">
            <a:solidFill>
              <a:srgbClr val="4B5563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440680" y="29443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VERIFIED</a:t>
            </a:r>
            <a:endParaRPr lang="en-US" sz="720" dirty="0"/>
          </a:p>
        </p:txBody>
      </p:sp>
      <p:sp>
        <p:nvSpPr>
          <p:cNvPr id="52" name="Text 48"/>
          <p:cNvSpPr txBox="1"/>
          <p:nvPr/>
        </p:nvSpPr>
        <p:spPr>
          <a:xfrm>
            <a:off x="5486400" y="32004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data</a:t>
            </a:r>
            <a:endParaRPr lang="en-US" sz="680" dirty="0"/>
          </a:p>
        </p:txBody>
      </p:sp>
      <p:sp>
        <p:nvSpPr>
          <p:cNvPr id="53" name="Shape 49"/>
          <p:cNvSpPr/>
          <p:nvPr/>
        </p:nvSpPr>
        <p:spPr>
          <a:xfrm>
            <a:off x="4279392" y="3529584"/>
            <a:ext cx="0" cy="18288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3154680" y="3730752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320040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</a:t>
            </a:r>
            <a:endParaRPr lang="en-US" sz="800" dirty="0"/>
          </a:p>
        </p:txBody>
      </p:sp>
      <p:sp>
        <p:nvSpPr>
          <p:cNvPr id="56" name="Text 52"/>
          <p:cNvSpPr txBox="1"/>
          <p:nvPr/>
        </p:nvSpPr>
        <p:spPr>
          <a:xfrm>
            <a:off x="3200400" y="3986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clear, patient-friendly language (Hindi / English) — translates, never decides</a:t>
            </a:r>
            <a:endParaRPr lang="en-US" sz="700" dirty="0"/>
          </a:p>
        </p:txBody>
      </p:sp>
      <p:sp>
        <p:nvSpPr>
          <p:cNvPr id="57" name="Shape 53"/>
          <p:cNvSpPr/>
          <p:nvPr/>
        </p:nvSpPr>
        <p:spPr>
          <a:xfrm>
            <a:off x="4544568" y="4059936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4754880" y="3730752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4800600" y="37673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questions + sources</a:t>
            </a:r>
            <a:endParaRPr lang="en-US" sz="800" dirty="0"/>
          </a:p>
        </p:txBody>
      </p:sp>
      <p:sp>
        <p:nvSpPr>
          <p:cNvPr id="60" name="Text 56"/>
          <p:cNvSpPr txBox="1"/>
          <p:nvPr/>
        </p:nvSpPr>
        <p:spPr>
          <a:xfrm>
            <a:off x="4800600" y="39867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questions to ask your doctor · evidence grade · source / DOI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6373368" y="4059936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2" name="Shape 58"/>
          <p:cNvSpPr/>
          <p:nvPr/>
        </p:nvSpPr>
        <p:spPr>
          <a:xfrm>
            <a:off x="6583680" y="3730752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629400" y="37673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doctor</a:t>
            </a:r>
            <a:endParaRPr lang="en-US" sz="800" dirty="0"/>
          </a:p>
        </p:txBody>
      </p:sp>
      <p:sp>
        <p:nvSpPr>
          <p:cNvPr id="64" name="Text 60"/>
          <p:cNvSpPr txBox="1"/>
          <p:nvPr/>
        </p:nvSpPr>
        <p:spPr>
          <a:xfrm>
            <a:off x="6629400" y="39867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or share the PDF summary</a:t>
            </a:r>
            <a:endParaRPr lang="en-US" sz="700" dirty="0"/>
          </a:p>
        </p:txBody>
      </p:sp>
      <p:sp>
        <p:nvSpPr>
          <p:cNvPr id="65" name="Shape 61"/>
          <p:cNvSpPr/>
          <p:nvPr/>
        </p:nvSpPr>
        <p:spPr>
          <a:xfrm>
            <a:off x="7680960" y="3730752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BE9E7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7726680" y="37673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reporting</a:t>
            </a:r>
            <a:endParaRPr lang="en-US" sz="800" dirty="0"/>
          </a:p>
        </p:txBody>
      </p:sp>
      <p:sp>
        <p:nvSpPr>
          <p:cNvPr id="67" name="Text 63"/>
          <p:cNvSpPr txBox="1"/>
          <p:nvPr/>
        </p:nvSpPr>
        <p:spPr>
          <a:xfrm>
            <a:off x="7726680" y="39867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Pre-filled Ayush pharmacovigilance form → export</a:t>
            </a:r>
            <a:endParaRPr lang="en-US" sz="700" dirty="0"/>
          </a:p>
        </p:txBody>
      </p:sp>
      <p:sp>
        <p:nvSpPr>
          <p:cNvPr id="68" name="Text 64"/>
          <p:cNvSpPr txBox="1"/>
          <p:nvPr/>
        </p:nvSpPr>
        <p:spPr>
          <a:xfrm>
            <a:off x="3154680" y="448056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only · never diagnosis · always ask your doctor</a:t>
            </a:r>
            <a:endParaRPr lang="en-US" sz="700" dirty="0"/>
          </a:p>
        </p:txBody>
      </p:sp>
      <p:sp>
        <p:nvSpPr>
          <p:cNvPr id="69" name="Text 65"/>
          <p:cNvSpPr txBox="1"/>
          <p:nvPr/>
        </p:nvSpPr>
        <p:spPr>
          <a:xfrm>
            <a:off x="3154680" y="463600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path: photos → OCR → names confirmed by the user → knowledge-base lookup → rule engine (worst row wins: RED &gt; AMBER &gt; GREEN; unknown is never GREEN). The AI receives only the matched rows and rewrites them; invalid or directive output falls back to knowledge-base text. Uploads are deleted after extraction.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1097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SHOWSTOPPERS</a:t>
            </a:r>
            <a:endParaRPr lang="en-US" sz="2200" dirty="0"/>
          </a:p>
        </p:txBody>
      </p:sp>
      <p:pic>
        <p:nvPicPr>
          <p:cNvPr id="3" name="Image 0" descr="assets/codes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896112" cy="886968"/>
          </a:xfrm>
          <a:prstGeom prst="rect">
            <a:avLst/>
          </a:prstGeom>
        </p:spPr>
      </p:pic>
      <p:pic>
        <p:nvPicPr>
          <p:cNvPr id="4" name="Image 1" descr="assets/devsphe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54864"/>
            <a:ext cx="822960" cy="81381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" y="749808"/>
            <a:ext cx="178308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1440" y="7498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20040" y="1600200"/>
            <a:ext cx="85039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96596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are proven and off-the-shelf: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(Tesseract/Vision), fuzzy matching (RapidFuzz), relational lookup (PostgreSQL), LLM rephrasing (Groq). No model training — the MVP is a data + rules product.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members with clear roles — backend &amp; rule engine, frontend, medical research/knowledge base, OCR &amp; ADR/PDF; laptops run the full stack locally (SQLite), so no paid cloud is needed on-site.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before the hackathon, code during it: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base of 40–60 high-frequency herb × drug pairs (15 herbs × 12 drug classes) curated from PubMed, LiverTox, MSKCC, WHO monographs and the Ayurvedic Pharmacopoeia; every row has a source and an A/B/C grade.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build plan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931920"/>
            <a:ext cx="768096" cy="731520"/>
          </a:xfrm>
          <a:prstGeom prst="roundRect">
            <a:avLst>
              <a:gd name="adj" fmla="val 7500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396849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 h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493776" y="4169664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schema, load KB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1252728" y="3931920"/>
            <a:ext cx="768096" cy="731520"/>
          </a:xfrm>
          <a:prstGeom prst="roundRect">
            <a:avLst>
              <a:gd name="adj" fmla="val 7500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252728" y="396849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2–10 h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289304" y="4169664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loop: photo → OCR → confirm → verdict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2048256" y="3931920"/>
            <a:ext cx="768096" cy="731520"/>
          </a:xfrm>
          <a:prstGeom prst="roundRect">
            <a:avLst>
              <a:gd name="adj" fmla="val 7500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048256" y="396849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10–16 h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2084832" y="4169664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Explainer, ADR form, PDFs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2843784" y="3931920"/>
            <a:ext cx="768096" cy="731520"/>
          </a:xfrm>
          <a:prstGeom prst="roundRect">
            <a:avLst>
              <a:gd name="adj" fmla="val 7500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843784" y="396849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20–28 h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2880360" y="4169664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UI, result card polish, dashboard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3639312" y="3931920"/>
            <a:ext cx="768096" cy="731520"/>
          </a:xfrm>
          <a:prstGeom prst="roundRect">
            <a:avLst>
              <a:gd name="adj" fmla="val 7500"/>
            </a:avLst>
          </a:prstGeom>
          <a:solidFill>
            <a:srgbClr val="F7F7F9"/>
          </a:solidFill>
          <a:ln w="9525">
            <a:solidFill>
              <a:srgbClr val="E3E3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639312" y="396849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28–32 h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3675888" y="4169664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Freeze, test on real boxes, rehearse</a:t>
            </a:r>
            <a:endParaRPr lang="en-US" sz="7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Showstoppers → Mitigation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965960"/>
          <a:ext cx="4114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/ blocker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misreads Indian handwriting or faded labels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Confirm-names screen before any lookup; manual entry always available; brand dictionary catches partial reads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Herb or drug not in our database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Say “Not in database” — never guess, never show GREEN; log the gap as a curation task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hallucinates medical advice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receives only matched rows; JSON-schema output; “stop/start/dose” language rejected; deterministic fallback text; verdict unchanged with AI off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evidence for many herbs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row shows grade A/B/C and a DOI/PMID; grade-C evidence caps at AMBER; weak is shown as weak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Venue internet or API outage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 stack runs offline on a laptop (SQLite + Tesseract); cached explanations as backup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Liability / medical scope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support only: “ask your doctor”, never “stop the medicine”; no diagnosis, no dosing; disclaimer on every screen and PDF</a:t>
                      </a:r>
                      <a:endParaRPr lang="en-US" sz="7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1097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USP(UNIQUE SELLING PRICE) &amp;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MODEL</a:t>
            </a:r>
            <a:endParaRPr lang="en-US" sz="1900" dirty="0"/>
          </a:p>
        </p:txBody>
      </p:sp>
      <p:pic>
        <p:nvPicPr>
          <p:cNvPr id="3" name="Image 0" descr="assets/codes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896112" cy="886968"/>
          </a:xfrm>
          <a:prstGeom prst="rect">
            <a:avLst/>
          </a:prstGeom>
        </p:spPr>
      </p:pic>
      <p:pic>
        <p:nvPicPr>
          <p:cNvPr id="4" name="Image 1" descr="assets/devsphe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54864"/>
            <a:ext cx="822960" cy="81381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" y="749808"/>
            <a:ext cx="1783080" cy="7315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1440" y="74980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20040" y="1600200"/>
            <a:ext cx="41605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(UNIQUE SELLING PRICE)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9659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first safety layer between the two medical systems people already mix </a:t>
            </a:r>
            <a:pPr indent="0" marL="0">
              <a:spcAft>
                <a:spcPts val="3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nothing public today checks an Ayurvedic product against an allopathic prescription.</a:t>
            </a:r>
            <a:endParaRPr lang="en-US" sz="8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from published data; AI only explains </a:t>
            </a:r>
            <a:pPr indent="0" marL="0">
              <a:spcAft>
                <a:spcPts val="3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auditable rules over cited rows; the opposite of a “ChatGPT wrapper”.</a:t>
            </a:r>
            <a:endParaRPr lang="en-US" sz="8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India: </a:t>
            </a:r>
            <a:pPr indent="0" marL="0">
              <a:spcAft>
                <a:spcPts val="3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names, Sanskrit/Hindi synonyms, Hindi explanations, Ministry of Ayush ADR format, Ayush Suraksha portal link.</a:t>
            </a:r>
            <a:endParaRPr lang="en-US" sz="8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design: </a:t>
            </a:r>
            <a:pPr indent="0" marL="0">
              <a:spcAft>
                <a:spcPts val="300"/>
              </a:spcAft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grades, timing gaps instead of alarms, “not in database” instead of guesses.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4663440" y="1600200"/>
            <a:ext cx="41605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0060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19659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citizens (B2C) — </a:t>
            </a:r>
            <a:pPr indent="0" marL="0">
              <a:buNone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Web/PWA checker in Hindi &amp; English; grows the knowledge base and the ADR signal.</a:t>
            </a:r>
            <a:endParaRPr lang="en-US" sz="830" dirty="0"/>
          </a:p>
        </p:txBody>
      </p:sp>
      <p:sp>
        <p:nvSpPr>
          <p:cNvPr id="13" name="Text 9"/>
          <p:cNvSpPr txBox="1"/>
          <p:nvPr/>
        </p:nvSpPr>
        <p:spPr>
          <a:xfrm>
            <a:off x="4800600" y="23957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counter tool (B2B) — </a:t>
            </a:r>
            <a:pPr indent="0" marL="0">
              <a:buNone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Per-query / subscription API for pharmacy chains, hospital HIS, telemedicine apps; QR on the chemist's bill.</a:t>
            </a:r>
            <a:endParaRPr lang="en-US" sz="83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28254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&amp; grants (B2G / CSR) — </a:t>
            </a:r>
            <a:pPr indent="0" marL="0">
              <a:buNone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Co-use analytics and structured ICSRs for the Ministry of Ayush pharmacovigilance network; CSR funding from Ayurvedic brands that want a trust layer.</a:t>
            </a:r>
            <a:endParaRPr lang="en-US" sz="83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32552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— </a:t>
            </a:r>
            <a:pPr indent="0" marL="0">
              <a:buNone/>
            </a:pPr>
            <a:r>
              <a:rPr lang="en-US" sz="8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Grid / ABDM integration — verdict attached to the ABHA health record; open KB co-curated with Ayurveda colleges.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320040" y="3840480"/>
            <a:ext cx="8503920" cy="1188720"/>
          </a:xfrm>
          <a:prstGeom prst="rect">
            <a:avLst/>
          </a:prstGeom>
          <a:solidFill>
            <a:srgbClr val="F7F7F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114800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Bhat BB et al. Knowledge &amp; attitude of patients on herbal medicine use, Udupi. Trop J Pharm Res 2019;18(1):117-121.</a:t>
            </a:r>
            <a:endParaRPr lang="en-US" sz="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J Med Res editorial (2015), CAM &amp; herb–drug interaction; ~19% disclosure. PMC4643608.</a:t>
            </a:r>
            <a:endParaRPr lang="en-US" sz="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Ayush: Pharmacovigilance Programme for ASU&amp;H drugs (AOGUSY); NPvCC at AIIA; ICSR figures (Lok Sabha reply).</a:t>
            </a:r>
            <a:endParaRPr lang="en-US" sz="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Suraksha Portal (May 2025, SC order WP(C) 645/2022) — ayushsuraksha.com.</a:t>
            </a:r>
            <a:endParaRPr lang="en-US" sz="6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4114800"/>
            <a:ext cx="4114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LiverTox (Ashwagandha, Tinospora, Guggul, Turmeric); MSKCC “About Herbs”; WHO Monographs Vols 1–4.</a:t>
            </a:r>
            <a:endParaRPr lang="en-US" sz="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Nagral A et al. J Clin Exp Hepatol 2021;11(6):732-738 · Gannon JM et al. J Ayurveda Integr Med 2014 · Sharma AK et al. JACM 2018.</a:t>
            </a:r>
            <a:endParaRPr lang="en-US" sz="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Stockley's Herbal Medicines Interactions, 2nd ed. (2013) — evidence-grading model; Ayurvedic Pharmacopoeia of India (PCIM&amp;H).</a:t>
            </a:r>
            <a:endParaRPr lang="en-US" sz="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Docs: Tesseract, RapidFuzz, FastAPI, Next.js, PostgreSQL, ReportLab, Groq · comparators: Medscape, Drugs.com, 1mg.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TakeSure — CodeSlayer 2K26</dc:title>
  <dc:subject>PptxGenJS Presentation</dc:subject>
  <dc:creator>TakeSure team</dc:creator>
  <cp:lastModifiedBy>TakeSure team</cp:lastModifiedBy>
  <cp:revision>1</cp:revision>
  <dcterms:created xsi:type="dcterms:W3CDTF">2026-10-03T17:42:04Z</dcterms:created>
  <dcterms:modified xsi:type="dcterms:W3CDTF">2026-10-03T17:42:04Z</dcterms:modified>
</cp:coreProperties>
</file>