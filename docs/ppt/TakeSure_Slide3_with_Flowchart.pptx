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features: Scan, Match, Decide, Explain, Report. Novelty: verdict from data, AI only explains; the bridge table nobody has built. The workflow on the right is a design diagram of the proposed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146304"/>
            <a:ext cx="1691640" cy="47548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9728" y="146304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Hunters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737360" y="109728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OUR UNIQUE SOLUTION</a:t>
            </a:r>
            <a:endParaRPr lang="en-US" sz="2200" dirty="0"/>
          </a:p>
        </p:txBody>
      </p:sp>
      <p:pic>
        <p:nvPicPr>
          <p:cNvPr id="5" name="Image 0" descr="assets/devsphere_alph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4928" y="54864"/>
            <a:ext cx="566928" cy="56692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223760" y="603504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DevSphereIndia</a:t>
            </a:r>
            <a:endParaRPr lang="en-US" sz="600" dirty="0"/>
          </a:p>
        </p:txBody>
      </p:sp>
      <p:pic>
        <p:nvPicPr>
          <p:cNvPr id="7" name="Image 1" descr="assets/codeslayer_alph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80" y="18288"/>
            <a:ext cx="749808" cy="74980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365760" y="89611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5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384048" y="1271016"/>
            <a:ext cx="274320" cy="274320"/>
          </a:xfrm>
          <a:prstGeom prst="ellipse">
            <a:avLst/>
          </a:prstGeom>
          <a:solidFill>
            <a:srgbClr val="8B2A2A"/>
          </a:solidFill>
          <a:ln w="12700">
            <a:solidFill>
              <a:srgbClr val="8B2A2A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384048" y="12710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749808" y="1243584"/>
            <a:ext cx="5257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b="1" dirty="0">
                <a:solidFill>
                  <a:srgbClr val="1F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— </a:t>
            </a:r>
            <a:pPr indent="0" marL="0">
              <a:buNone/>
            </a:pPr>
            <a:r>
              <a:rPr lang="en-US" sz="980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Photograph the prescription and the Ayurvedic product label (or type the names). OCR reads them; every name is shown for confirmation before anything is checked.</a:t>
            </a:r>
            <a:endParaRPr lang="en-US" sz="980" dirty="0"/>
          </a:p>
        </p:txBody>
      </p:sp>
      <p:sp>
        <p:nvSpPr>
          <p:cNvPr id="12" name="Shape 8"/>
          <p:cNvSpPr/>
          <p:nvPr/>
        </p:nvSpPr>
        <p:spPr>
          <a:xfrm>
            <a:off x="384048" y="1801368"/>
            <a:ext cx="274320" cy="274320"/>
          </a:xfrm>
          <a:prstGeom prst="ellipse">
            <a:avLst/>
          </a:prstGeom>
          <a:solidFill>
            <a:srgbClr val="8B2A2A"/>
          </a:solidFill>
          <a:ln w="12700">
            <a:solidFill>
              <a:srgbClr val="8B2A2A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384048" y="18013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749808" y="1773936"/>
            <a:ext cx="5257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b="1" dirty="0">
                <a:solidFill>
                  <a:srgbClr val="1F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— </a:t>
            </a:r>
            <a:pPr indent="0" marL="0">
              <a:buNone/>
            </a:pPr>
            <a:r>
              <a:rPr lang="en-US" sz="980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 brand → generic (Thyronorm → levothyroxine), product → herbs (Chyawanprash → amla, ashwagandha…) via a curated bridge dictionary + fuzzy matching.</a:t>
            </a:r>
            <a:endParaRPr lang="en-US" sz="980" dirty="0"/>
          </a:p>
        </p:txBody>
      </p:sp>
      <p:sp>
        <p:nvSpPr>
          <p:cNvPr id="15" name="Shape 11"/>
          <p:cNvSpPr/>
          <p:nvPr/>
        </p:nvSpPr>
        <p:spPr>
          <a:xfrm>
            <a:off x="384048" y="2331720"/>
            <a:ext cx="274320" cy="274320"/>
          </a:xfrm>
          <a:prstGeom prst="ellipse">
            <a:avLst/>
          </a:prstGeom>
          <a:solidFill>
            <a:srgbClr val="8B2A2A"/>
          </a:solidFill>
          <a:ln w="12700">
            <a:solidFill>
              <a:srgbClr val="8B2A2A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384048" y="2331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749808" y="2304288"/>
            <a:ext cx="5257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b="1" dirty="0">
                <a:solidFill>
                  <a:srgbClr val="1F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— </a:t>
            </a:r>
            <a:pPr indent="0" marL="0">
              <a:buNone/>
            </a:pPr>
            <a:r>
              <a:rPr lang="en-US" sz="980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rule engine over a cited knowledge base → GREEN / AMBER / RED / NOT IN DATABASE, with timing gaps (e.g. keep 2–3 h between Triphala and oral medicines).</a:t>
            </a:r>
            <a:endParaRPr lang="en-US" sz="980" dirty="0"/>
          </a:p>
        </p:txBody>
      </p:sp>
      <p:sp>
        <p:nvSpPr>
          <p:cNvPr id="18" name="Shape 14"/>
          <p:cNvSpPr/>
          <p:nvPr/>
        </p:nvSpPr>
        <p:spPr>
          <a:xfrm>
            <a:off x="384048" y="2862072"/>
            <a:ext cx="274320" cy="274320"/>
          </a:xfrm>
          <a:prstGeom prst="ellipse">
            <a:avLst/>
          </a:prstGeom>
          <a:solidFill>
            <a:srgbClr val="8B2A2A"/>
          </a:solidFill>
          <a:ln w="12700">
            <a:solidFill>
              <a:srgbClr val="8B2A2A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384048" y="2862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6"/>
          <p:cNvSpPr txBox="1"/>
          <p:nvPr/>
        </p:nvSpPr>
        <p:spPr>
          <a:xfrm>
            <a:off x="749808" y="2834640"/>
            <a:ext cx="5257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b="1" dirty="0">
                <a:solidFill>
                  <a:srgbClr val="1F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— </a:t>
            </a:r>
            <a:pPr indent="0" marL="0">
              <a:buNone/>
            </a:pPr>
            <a:r>
              <a:rPr lang="en-US" sz="980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rewrites only the matched evidence into simple Hindi/English + 3 questions to ask the doctor. It cannot add, remove or re-grade an interaction.</a:t>
            </a:r>
            <a:endParaRPr lang="en-US" sz="980" dirty="0"/>
          </a:p>
        </p:txBody>
      </p:sp>
      <p:sp>
        <p:nvSpPr>
          <p:cNvPr id="21" name="Shape 17"/>
          <p:cNvSpPr/>
          <p:nvPr/>
        </p:nvSpPr>
        <p:spPr>
          <a:xfrm>
            <a:off x="384048" y="3392424"/>
            <a:ext cx="274320" cy="274320"/>
          </a:xfrm>
          <a:prstGeom prst="ellipse">
            <a:avLst/>
          </a:prstGeom>
          <a:solidFill>
            <a:srgbClr val="8B2A2A"/>
          </a:solidFill>
          <a:ln w="12700">
            <a:solidFill>
              <a:srgbClr val="8B2A2A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384048" y="33924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3" name="Text 19"/>
          <p:cNvSpPr txBox="1"/>
          <p:nvPr/>
        </p:nvSpPr>
        <p:spPr>
          <a:xfrm>
            <a:off x="749808" y="3364992"/>
            <a:ext cx="5257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b="1" dirty="0">
                <a:solidFill>
                  <a:srgbClr val="1F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— </a:t>
            </a:r>
            <a:pPr indent="0" marL="0">
              <a:buNone/>
            </a:pPr>
            <a:r>
              <a:rPr lang="en-US" sz="980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One-page PDF with sources for the doctor; one-tap suspected-ADR report in the Ministry of Ayush format for the Ayush Suraksha portal.</a:t>
            </a:r>
            <a:endParaRPr lang="en-US" sz="980" dirty="0"/>
          </a:p>
        </p:txBody>
      </p:sp>
      <p:sp>
        <p:nvSpPr>
          <p:cNvPr id="24" name="Text 20"/>
          <p:cNvSpPr txBox="1"/>
          <p:nvPr/>
        </p:nvSpPr>
        <p:spPr>
          <a:xfrm>
            <a:off x="365760" y="3931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Novelty</a:t>
            </a:r>
            <a:endParaRPr lang="en-US" sz="1500" dirty="0"/>
          </a:p>
        </p:txBody>
      </p:sp>
      <p:sp>
        <p:nvSpPr>
          <p:cNvPr id="25" name="Text 21"/>
          <p:cNvSpPr txBox="1"/>
          <p:nvPr/>
        </p:nvSpPr>
        <p:spPr>
          <a:xfrm>
            <a:off x="384048" y="420624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20" b="1" dirty="0">
                <a:solidFill>
                  <a:srgbClr val="1F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“Verdict from published data; AI only explains.” </a:t>
            </a:r>
            <a:pPr indent="0" marL="0">
              <a:spcAft>
                <a:spcPts val="400"/>
              </a:spcAft>
              <a:buNone/>
            </a:pPr>
            <a:r>
              <a:rPr lang="en-US" sz="920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risk level never comes from a language model — it comes from a versioned, cited knowledge-base row. Turn the AI off and the verdict is identical.</a:t>
            </a:r>
            <a:endParaRPr lang="en-US" sz="92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20" b="1" dirty="0">
                <a:solidFill>
                  <a:srgbClr val="1F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missing bridge table: </a:t>
            </a:r>
            <a:pPr indent="0" marL="0">
              <a:spcAft>
                <a:spcPts val="400"/>
              </a:spcAft>
              <a:buNone/>
            </a:pPr>
            <a:r>
              <a:rPr lang="en-US" sz="920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 brand names × Ayurvedic herb synonyms (Sanskrit/Hindi/Latin) × graded published evidence — open, auditable, co-curated with Ayurveda colleges.</a:t>
            </a:r>
            <a:endParaRPr lang="en-US" sz="920" dirty="0"/>
          </a:p>
        </p:txBody>
      </p:sp>
      <p:pic>
        <p:nvPicPr>
          <p:cNvPr id="26" name="Image 2" descr="assets/flowchart_bi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01" y="868680"/>
            <a:ext cx="2545259" cy="4160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2026-10-04T09:06:34Z</dcterms:created>
  <dcterms:modified xsi:type="dcterms:W3CDTF">2026-10-04T09:06:34Z</dcterms:modified>
</cp:coreProperties>
</file>