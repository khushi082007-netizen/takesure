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features: Scan, Match, Decide, Explain, Report. Novelty: verdict from data, AI only explains; the bridge table nobody has built. The workflow on the right is a design diagram of the proposed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146304"/>
            <a:ext cx="1691640" cy="47548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9728" y="146304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Hunters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737360" y="109728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OUR UNIQUE SOLUTION</a:t>
            </a:r>
            <a:endParaRPr lang="en-US" sz="2200" dirty="0"/>
          </a:p>
        </p:txBody>
      </p:sp>
      <p:pic>
        <p:nvPicPr>
          <p:cNvPr id="5" name="Image 0" descr="assets/devsphere_alph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4928" y="54864"/>
            <a:ext cx="566928" cy="56692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223760" y="603504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DevSphereIndia</a:t>
            </a:r>
            <a:endParaRPr lang="en-US" sz="600" dirty="0"/>
          </a:p>
        </p:txBody>
      </p:sp>
      <p:pic>
        <p:nvPicPr>
          <p:cNvPr id="7" name="Image 1" descr="assets/codeslayer_alph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80" y="18288"/>
            <a:ext cx="749808" cy="74980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365760" y="89611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5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384048" y="1271016"/>
            <a:ext cx="274320" cy="274320"/>
          </a:xfrm>
          <a:prstGeom prst="ellipse">
            <a:avLst/>
          </a:prstGeom>
          <a:solidFill>
            <a:srgbClr val="8B2A2A"/>
          </a:solidFill>
          <a:ln w="12700">
            <a:solidFill>
              <a:srgbClr val="8B2A2A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384048" y="12710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749808" y="1243584"/>
            <a:ext cx="3703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b="1" dirty="0">
                <a:solidFill>
                  <a:srgbClr val="1F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— </a:t>
            </a:r>
            <a:pPr indent="0" marL="0">
              <a:buNone/>
            </a:pPr>
            <a:r>
              <a:rPr lang="en-US" sz="880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Photograph the prescription and the Ayurvedic product label (or type the names). OCR reads them; every name is shown for confirmation before anything is checked.</a:t>
            </a:r>
            <a:endParaRPr lang="en-US" sz="880" dirty="0"/>
          </a:p>
        </p:txBody>
      </p:sp>
      <p:sp>
        <p:nvSpPr>
          <p:cNvPr id="12" name="Shape 8"/>
          <p:cNvSpPr/>
          <p:nvPr/>
        </p:nvSpPr>
        <p:spPr>
          <a:xfrm>
            <a:off x="384048" y="1801368"/>
            <a:ext cx="274320" cy="274320"/>
          </a:xfrm>
          <a:prstGeom prst="ellipse">
            <a:avLst/>
          </a:prstGeom>
          <a:solidFill>
            <a:srgbClr val="8B2A2A"/>
          </a:solidFill>
          <a:ln w="12700">
            <a:solidFill>
              <a:srgbClr val="8B2A2A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384048" y="18013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749808" y="1773936"/>
            <a:ext cx="3703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b="1" dirty="0">
                <a:solidFill>
                  <a:srgbClr val="1F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— </a:t>
            </a:r>
            <a:pPr indent="0" marL="0">
              <a:buNone/>
            </a:pPr>
            <a:r>
              <a:rPr lang="en-US" sz="880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brand → generic (Thyronorm → levothyroxine), product → herbs (Chyawanprash → amla, ashwagandha…) via a curated bridge dictionary + fuzzy matching.</a:t>
            </a:r>
            <a:endParaRPr lang="en-US" sz="880" dirty="0"/>
          </a:p>
        </p:txBody>
      </p:sp>
      <p:sp>
        <p:nvSpPr>
          <p:cNvPr id="15" name="Shape 11"/>
          <p:cNvSpPr/>
          <p:nvPr/>
        </p:nvSpPr>
        <p:spPr>
          <a:xfrm>
            <a:off x="384048" y="2331720"/>
            <a:ext cx="274320" cy="274320"/>
          </a:xfrm>
          <a:prstGeom prst="ellipse">
            <a:avLst/>
          </a:prstGeom>
          <a:solidFill>
            <a:srgbClr val="8B2A2A"/>
          </a:solidFill>
          <a:ln w="12700">
            <a:solidFill>
              <a:srgbClr val="8B2A2A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384048" y="2331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749808" y="2304288"/>
            <a:ext cx="3703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b="1" dirty="0">
                <a:solidFill>
                  <a:srgbClr val="1F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— </a:t>
            </a:r>
            <a:pPr indent="0" marL="0">
              <a:buNone/>
            </a:pPr>
            <a:r>
              <a:rPr lang="en-US" sz="880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rule engine over a cited knowledge base → GREEN / AMBER / RED / NOT IN DATABASE, with timing gaps (e.g. keep 2–3 h between Triphala and oral medicines).</a:t>
            </a:r>
            <a:endParaRPr lang="en-US" sz="880" dirty="0"/>
          </a:p>
        </p:txBody>
      </p:sp>
      <p:sp>
        <p:nvSpPr>
          <p:cNvPr id="18" name="Shape 14"/>
          <p:cNvSpPr/>
          <p:nvPr/>
        </p:nvSpPr>
        <p:spPr>
          <a:xfrm>
            <a:off x="384048" y="2862072"/>
            <a:ext cx="274320" cy="274320"/>
          </a:xfrm>
          <a:prstGeom prst="ellipse">
            <a:avLst/>
          </a:prstGeom>
          <a:solidFill>
            <a:srgbClr val="8B2A2A"/>
          </a:solidFill>
          <a:ln w="12700">
            <a:solidFill>
              <a:srgbClr val="8B2A2A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384048" y="2862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749808" y="2834640"/>
            <a:ext cx="3703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b="1" dirty="0">
                <a:solidFill>
                  <a:srgbClr val="1F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— </a:t>
            </a:r>
            <a:pPr indent="0" marL="0">
              <a:buNone/>
            </a:pPr>
            <a:r>
              <a:rPr lang="en-US" sz="880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rewrites only the matched evidence into simple Hindi/English + 3 questions to ask the doctor. It cannot add, remove or re-grade an interaction.</a:t>
            </a:r>
            <a:endParaRPr lang="en-US" sz="880" dirty="0"/>
          </a:p>
        </p:txBody>
      </p:sp>
      <p:sp>
        <p:nvSpPr>
          <p:cNvPr id="21" name="Shape 17"/>
          <p:cNvSpPr/>
          <p:nvPr/>
        </p:nvSpPr>
        <p:spPr>
          <a:xfrm>
            <a:off x="384048" y="3392424"/>
            <a:ext cx="274320" cy="274320"/>
          </a:xfrm>
          <a:prstGeom prst="ellipse">
            <a:avLst/>
          </a:prstGeom>
          <a:solidFill>
            <a:srgbClr val="8B2A2A"/>
          </a:solidFill>
          <a:ln w="12700">
            <a:solidFill>
              <a:srgbClr val="8B2A2A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384048" y="33924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3" name="Text 19"/>
          <p:cNvSpPr txBox="1"/>
          <p:nvPr/>
        </p:nvSpPr>
        <p:spPr>
          <a:xfrm>
            <a:off x="749808" y="3364992"/>
            <a:ext cx="3703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b="1" dirty="0">
                <a:solidFill>
                  <a:srgbClr val="1F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— </a:t>
            </a:r>
            <a:pPr indent="0" marL="0">
              <a:buNone/>
            </a:pPr>
            <a:r>
              <a:rPr lang="en-US" sz="880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One-page PDF with sources for the doctor; one-tap suspected-ADR report in the Ministry of Ayush format for the Ayush Suraksha portal.</a:t>
            </a:r>
            <a:endParaRPr lang="en-US" sz="880" dirty="0"/>
          </a:p>
        </p:txBody>
      </p:sp>
      <p:sp>
        <p:nvSpPr>
          <p:cNvPr id="24" name="Text 20"/>
          <p:cNvSpPr txBox="1"/>
          <p:nvPr/>
        </p:nvSpPr>
        <p:spPr>
          <a:xfrm>
            <a:off x="365760" y="3931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Novelty</a:t>
            </a:r>
            <a:endParaRPr lang="en-US" sz="1500" dirty="0"/>
          </a:p>
        </p:txBody>
      </p:sp>
      <p:sp>
        <p:nvSpPr>
          <p:cNvPr id="25" name="Text 21"/>
          <p:cNvSpPr txBox="1"/>
          <p:nvPr/>
        </p:nvSpPr>
        <p:spPr>
          <a:xfrm>
            <a:off x="384048" y="420624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40" b="1" dirty="0">
                <a:solidFill>
                  <a:srgbClr val="1F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“Verdict from published data; AI only explains.” </a:t>
            </a:r>
            <a:pPr indent="0" marL="0">
              <a:spcAft>
                <a:spcPts val="400"/>
              </a:spcAft>
              <a:buNone/>
            </a:pPr>
            <a:r>
              <a:rPr lang="en-US" sz="840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risk level never comes from a language model — it comes from a versioned, cited knowledge-base row. Turn the AI off and the verdict is identical.</a:t>
            </a:r>
            <a:endParaRPr lang="en-US" sz="84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40" b="1" dirty="0">
                <a:solidFill>
                  <a:srgbClr val="1F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missing bridge table: </a:t>
            </a:r>
            <a:pPr indent="0" marL="0">
              <a:spcAft>
                <a:spcPts val="400"/>
              </a:spcAft>
              <a:buNone/>
            </a:pPr>
            <a:r>
              <a:rPr lang="en-US" sz="840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brand names × Ayurvedic herb synonyms (Sanskrit/Hindi/Latin) × graded published evidence — open, auditable, co-curated with Ayurveda colleges.</a:t>
            </a:r>
            <a:endParaRPr lang="en-US" sz="840" dirty="0"/>
          </a:p>
        </p:txBody>
      </p:sp>
      <p:sp>
        <p:nvSpPr>
          <p:cNvPr id="26" name="Shape 22"/>
          <p:cNvSpPr/>
          <p:nvPr/>
        </p:nvSpPr>
        <p:spPr>
          <a:xfrm>
            <a:off x="4800600" y="868680"/>
            <a:ext cx="1961388" cy="384048"/>
          </a:xfrm>
          <a:prstGeom prst="roundRect">
            <a:avLst>
              <a:gd name="adj" fmla="val 11905"/>
            </a:avLst>
          </a:prstGeom>
          <a:solidFill>
            <a:srgbClr val="FBE9E7"/>
          </a:solidFill>
          <a:ln w="12700">
            <a:solidFill>
              <a:srgbClr val="8B2A2A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4855464" y="886968"/>
            <a:ext cx="1851660" cy="199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Prescription Photo</a:t>
            </a:r>
            <a:endParaRPr lang="en-US" sz="850" dirty="0"/>
          </a:p>
        </p:txBody>
      </p:sp>
      <p:sp>
        <p:nvSpPr>
          <p:cNvPr id="28" name="Text 24"/>
          <p:cNvSpPr txBox="1"/>
          <p:nvPr/>
        </p:nvSpPr>
        <p:spPr>
          <a:xfrm>
            <a:off x="4855464" y="1060704"/>
            <a:ext cx="1851660" cy="184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5E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Allopathic medicines</a:t>
            </a:r>
            <a:endParaRPr lang="en-US" sz="650" dirty="0"/>
          </a:p>
        </p:txBody>
      </p:sp>
      <p:sp>
        <p:nvSpPr>
          <p:cNvPr id="29" name="Shape 25"/>
          <p:cNvSpPr/>
          <p:nvPr/>
        </p:nvSpPr>
        <p:spPr>
          <a:xfrm>
            <a:off x="6908292" y="868680"/>
            <a:ext cx="1961388" cy="384048"/>
          </a:xfrm>
          <a:prstGeom prst="roundRect">
            <a:avLst>
              <a:gd name="adj" fmla="val 11905"/>
            </a:avLst>
          </a:prstGeom>
          <a:solidFill>
            <a:srgbClr val="FBE9E7"/>
          </a:solidFill>
          <a:ln w="12700">
            <a:solidFill>
              <a:srgbClr val="8B2A2A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6963156" y="886968"/>
            <a:ext cx="1851660" cy="199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Ayurvedic Product Photo</a:t>
            </a:r>
            <a:endParaRPr lang="en-US" sz="850" dirty="0"/>
          </a:p>
        </p:txBody>
      </p:sp>
      <p:sp>
        <p:nvSpPr>
          <p:cNvPr id="31" name="Text 27"/>
          <p:cNvSpPr txBox="1"/>
          <p:nvPr/>
        </p:nvSpPr>
        <p:spPr>
          <a:xfrm>
            <a:off x="6963156" y="1060704"/>
            <a:ext cx="1851660" cy="184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5E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/ brand</a:t>
            </a:r>
            <a:endParaRPr lang="en-US" sz="650" dirty="0"/>
          </a:p>
        </p:txBody>
      </p:sp>
      <p:sp>
        <p:nvSpPr>
          <p:cNvPr id="32" name="Shape 28"/>
          <p:cNvSpPr/>
          <p:nvPr/>
        </p:nvSpPr>
        <p:spPr>
          <a:xfrm>
            <a:off x="5781294" y="1252728"/>
            <a:ext cx="0" cy="54864"/>
          </a:xfrm>
          <a:prstGeom prst="line">
            <a:avLst/>
          </a:prstGeom>
          <a:noFill/>
          <a:ln w="15875">
            <a:solidFill>
              <a:srgbClr val="333333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7888986" y="1252728"/>
            <a:ext cx="0" cy="54864"/>
          </a:xfrm>
          <a:prstGeom prst="line">
            <a:avLst/>
          </a:prstGeom>
          <a:noFill/>
          <a:ln w="15875">
            <a:solidFill>
              <a:srgbClr val="333333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5781294" y="1307592"/>
            <a:ext cx="2107692" cy="0"/>
          </a:xfrm>
          <a:prstGeom prst="line">
            <a:avLst/>
          </a:prstGeom>
          <a:noFill/>
          <a:ln w="15875">
            <a:solidFill>
              <a:srgbClr val="333333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6835140" y="1307592"/>
            <a:ext cx="0" cy="27432"/>
          </a:xfrm>
          <a:prstGeom prst="line">
            <a:avLst/>
          </a:prstGeom>
          <a:noFill/>
          <a:ln w="1587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36" name="Shape 32"/>
          <p:cNvSpPr/>
          <p:nvPr/>
        </p:nvSpPr>
        <p:spPr>
          <a:xfrm>
            <a:off x="4800600" y="1335024"/>
            <a:ext cx="4069080" cy="329184"/>
          </a:xfrm>
          <a:prstGeom prst="roundRect">
            <a:avLst>
              <a:gd name="adj" fmla="val 13889"/>
            </a:avLst>
          </a:prstGeom>
          <a:solidFill>
            <a:srgbClr val="F4F4F5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4855464" y="1353312"/>
            <a:ext cx="3959352" cy="171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</a:t>
            </a:r>
            <a:endParaRPr lang="en-US" sz="850" dirty="0"/>
          </a:p>
        </p:txBody>
      </p:sp>
      <p:sp>
        <p:nvSpPr>
          <p:cNvPr id="38" name="Text 34"/>
          <p:cNvSpPr txBox="1"/>
          <p:nvPr/>
        </p:nvSpPr>
        <p:spPr>
          <a:xfrm>
            <a:off x="4855464" y="1499616"/>
            <a:ext cx="3959352" cy="158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5E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text from both images; files deleted after reading</a:t>
            </a:r>
            <a:endParaRPr lang="en-US" sz="650" dirty="0"/>
          </a:p>
        </p:txBody>
      </p:sp>
      <p:sp>
        <p:nvSpPr>
          <p:cNvPr id="39" name="Shape 35"/>
          <p:cNvSpPr/>
          <p:nvPr/>
        </p:nvSpPr>
        <p:spPr>
          <a:xfrm>
            <a:off x="6835140" y="1664208"/>
            <a:ext cx="0" cy="82296"/>
          </a:xfrm>
          <a:prstGeom prst="line">
            <a:avLst/>
          </a:prstGeom>
          <a:noFill/>
          <a:ln w="1587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40" name="Shape 36"/>
          <p:cNvSpPr/>
          <p:nvPr/>
        </p:nvSpPr>
        <p:spPr>
          <a:xfrm>
            <a:off x="4800600" y="1746504"/>
            <a:ext cx="4069080" cy="365760"/>
          </a:xfrm>
          <a:prstGeom prst="roundRect">
            <a:avLst>
              <a:gd name="adj" fmla="val 12500"/>
            </a:avLst>
          </a:prstGeom>
          <a:solidFill>
            <a:srgbClr val="F4F4F5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4855464" y="1764792"/>
            <a:ext cx="3959352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Medicine / Herb Normalisation</a:t>
            </a:r>
            <a:endParaRPr lang="en-US" sz="850" dirty="0"/>
          </a:p>
        </p:txBody>
      </p:sp>
      <p:sp>
        <p:nvSpPr>
          <p:cNvPr id="42" name="Text 38"/>
          <p:cNvSpPr txBox="1"/>
          <p:nvPr/>
        </p:nvSpPr>
        <p:spPr>
          <a:xfrm>
            <a:off x="4855464" y="1929384"/>
            <a:ext cx="3959352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5E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medicines &amp; herbs; brand → generic / standard name; user confirms</a:t>
            </a:r>
            <a:endParaRPr lang="en-US" sz="650" dirty="0"/>
          </a:p>
        </p:txBody>
      </p:sp>
      <p:sp>
        <p:nvSpPr>
          <p:cNvPr id="43" name="Shape 39"/>
          <p:cNvSpPr/>
          <p:nvPr/>
        </p:nvSpPr>
        <p:spPr>
          <a:xfrm>
            <a:off x="6835140" y="2112264"/>
            <a:ext cx="0" cy="82296"/>
          </a:xfrm>
          <a:prstGeom prst="line">
            <a:avLst/>
          </a:prstGeom>
          <a:noFill/>
          <a:ln w="1587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44" name="Shape 40"/>
          <p:cNvSpPr/>
          <p:nvPr/>
        </p:nvSpPr>
        <p:spPr>
          <a:xfrm>
            <a:off x="4800600" y="2194560"/>
            <a:ext cx="4069080" cy="365760"/>
          </a:xfrm>
          <a:prstGeom prst="roundRect">
            <a:avLst>
              <a:gd name="adj" fmla="val 12500"/>
            </a:avLst>
          </a:prstGeom>
          <a:solidFill>
            <a:srgbClr val="F4F4F5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4855464" y="2212848"/>
            <a:ext cx="3959352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Knowledge Base</a:t>
            </a:r>
            <a:endParaRPr lang="en-US" sz="850" dirty="0"/>
          </a:p>
        </p:txBody>
      </p:sp>
      <p:sp>
        <p:nvSpPr>
          <p:cNvPr id="46" name="Text 42"/>
          <p:cNvSpPr txBox="1"/>
          <p:nvPr/>
        </p:nvSpPr>
        <p:spPr>
          <a:xfrm>
            <a:off x="4855464" y="2377440"/>
            <a:ext cx="3959352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5E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Curated herb–drug interaction table with sources &amp; evidence grade A/B/C</a:t>
            </a:r>
            <a:endParaRPr lang="en-US" sz="650" dirty="0"/>
          </a:p>
        </p:txBody>
      </p:sp>
      <p:sp>
        <p:nvSpPr>
          <p:cNvPr id="47" name="Shape 43"/>
          <p:cNvSpPr/>
          <p:nvPr/>
        </p:nvSpPr>
        <p:spPr>
          <a:xfrm>
            <a:off x="6835140" y="2560320"/>
            <a:ext cx="0" cy="82296"/>
          </a:xfrm>
          <a:prstGeom prst="line">
            <a:avLst/>
          </a:prstGeom>
          <a:noFill/>
          <a:ln w="1587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48" name="Shape 44"/>
          <p:cNvSpPr/>
          <p:nvPr/>
        </p:nvSpPr>
        <p:spPr>
          <a:xfrm>
            <a:off x="4800600" y="2642616"/>
            <a:ext cx="4069080" cy="402336"/>
          </a:xfrm>
          <a:prstGeom prst="roundRect">
            <a:avLst>
              <a:gd name="adj" fmla="val 11364"/>
            </a:avLst>
          </a:prstGeom>
          <a:solidFill>
            <a:srgbClr val="8B2A2A"/>
          </a:solidFill>
          <a:ln w="12700">
            <a:solidFill>
              <a:srgbClr val="8B2A2A"/>
            </a:solidFill>
            <a:prstDash val="solid"/>
          </a:ln>
        </p:spPr>
      </p:sp>
      <p:sp>
        <p:nvSpPr>
          <p:cNvPr id="49" name="Text 45"/>
          <p:cNvSpPr txBox="1"/>
          <p:nvPr/>
        </p:nvSpPr>
        <p:spPr>
          <a:xfrm>
            <a:off x="4800600" y="2660904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RULE-BASED CHECK</a:t>
            </a:r>
            <a:endParaRPr lang="en-US" sz="950" dirty="0"/>
          </a:p>
        </p:txBody>
      </p:sp>
      <p:sp>
        <p:nvSpPr>
          <p:cNvPr id="50" name="Text 46"/>
          <p:cNvSpPr txBox="1"/>
          <p:nvPr/>
        </p:nvSpPr>
        <p:spPr>
          <a:xfrm>
            <a:off x="4800600" y="2852928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F6D5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Determine safety level — AI does not decide</a:t>
            </a:r>
            <a:endParaRPr lang="en-US" sz="700" dirty="0"/>
          </a:p>
        </p:txBody>
      </p:sp>
      <p:sp>
        <p:nvSpPr>
          <p:cNvPr id="51" name="Shape 47"/>
          <p:cNvSpPr/>
          <p:nvPr/>
        </p:nvSpPr>
        <p:spPr>
          <a:xfrm>
            <a:off x="6835140" y="3044952"/>
            <a:ext cx="0" cy="45720"/>
          </a:xfrm>
          <a:prstGeom prst="line">
            <a:avLst/>
          </a:prstGeom>
          <a:noFill/>
          <a:ln w="15875">
            <a:solidFill>
              <a:srgbClr val="333333"/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5274945" y="3090672"/>
            <a:ext cx="3120390" cy="0"/>
          </a:xfrm>
          <a:prstGeom prst="line">
            <a:avLst/>
          </a:prstGeom>
          <a:noFill/>
          <a:ln w="15875">
            <a:solidFill>
              <a:srgbClr val="333333"/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5274945" y="3090672"/>
            <a:ext cx="0" cy="36576"/>
          </a:xfrm>
          <a:prstGeom prst="line">
            <a:avLst/>
          </a:prstGeom>
          <a:noFill/>
          <a:ln w="1587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54" name="Shape 50"/>
          <p:cNvSpPr/>
          <p:nvPr/>
        </p:nvSpPr>
        <p:spPr>
          <a:xfrm>
            <a:off x="6315075" y="3090672"/>
            <a:ext cx="0" cy="36576"/>
          </a:xfrm>
          <a:prstGeom prst="line">
            <a:avLst/>
          </a:prstGeom>
          <a:noFill/>
          <a:ln w="1587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55" name="Shape 51"/>
          <p:cNvSpPr/>
          <p:nvPr/>
        </p:nvSpPr>
        <p:spPr>
          <a:xfrm>
            <a:off x="7355205" y="3090672"/>
            <a:ext cx="0" cy="36576"/>
          </a:xfrm>
          <a:prstGeom prst="line">
            <a:avLst/>
          </a:prstGeom>
          <a:noFill/>
          <a:ln w="1587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56" name="Shape 52"/>
          <p:cNvSpPr/>
          <p:nvPr/>
        </p:nvSpPr>
        <p:spPr>
          <a:xfrm>
            <a:off x="8395335" y="3090672"/>
            <a:ext cx="0" cy="36576"/>
          </a:xfrm>
          <a:prstGeom prst="line">
            <a:avLst/>
          </a:prstGeom>
          <a:noFill/>
          <a:ln w="1587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57" name="Shape 53"/>
          <p:cNvSpPr/>
          <p:nvPr/>
        </p:nvSpPr>
        <p:spPr>
          <a:xfrm>
            <a:off x="4800600" y="3127248"/>
            <a:ext cx="948690" cy="402336"/>
          </a:xfrm>
          <a:prstGeom prst="roundRect">
            <a:avLst>
              <a:gd name="adj" fmla="val 11364"/>
            </a:avLst>
          </a:prstGeom>
          <a:solidFill>
            <a:srgbClr val="E8F5E9"/>
          </a:solidFill>
          <a:ln w="15875">
            <a:solidFill>
              <a:srgbClr val="1E7F4F"/>
            </a:solidFill>
            <a:prstDash val="solid"/>
          </a:ln>
        </p:spPr>
      </p:sp>
      <p:sp>
        <p:nvSpPr>
          <p:cNvPr id="58" name="Text 54"/>
          <p:cNvSpPr txBox="1"/>
          <p:nvPr/>
        </p:nvSpPr>
        <p:spPr>
          <a:xfrm>
            <a:off x="4782312" y="3154680"/>
            <a:ext cx="98526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E7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760" dirty="0"/>
          </a:p>
        </p:txBody>
      </p:sp>
      <p:sp>
        <p:nvSpPr>
          <p:cNvPr id="59" name="Text 55"/>
          <p:cNvSpPr txBox="1"/>
          <p:nvPr/>
        </p:nvSpPr>
        <p:spPr>
          <a:xfrm>
            <a:off x="4800600" y="3355848"/>
            <a:ext cx="94869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60" dirty="0">
                <a:solidFill>
                  <a:srgbClr val="5E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</a:t>
            </a:r>
            <a:endParaRPr lang="en-US" sz="660" dirty="0"/>
          </a:p>
        </p:txBody>
      </p:sp>
      <p:sp>
        <p:nvSpPr>
          <p:cNvPr id="60" name="Shape 56"/>
          <p:cNvSpPr/>
          <p:nvPr/>
        </p:nvSpPr>
        <p:spPr>
          <a:xfrm>
            <a:off x="5840730" y="3127248"/>
            <a:ext cx="948690" cy="402336"/>
          </a:xfrm>
          <a:prstGeom prst="roundRect">
            <a:avLst>
              <a:gd name="adj" fmla="val 11364"/>
            </a:avLst>
          </a:prstGeom>
          <a:solidFill>
            <a:srgbClr val="FFF4D6"/>
          </a:solidFill>
          <a:ln w="15875">
            <a:solidFill>
              <a:srgbClr val="B86E00"/>
            </a:solidFill>
            <a:prstDash val="solid"/>
          </a:ln>
        </p:spPr>
      </p:sp>
      <p:sp>
        <p:nvSpPr>
          <p:cNvPr id="61" name="Text 57"/>
          <p:cNvSpPr txBox="1"/>
          <p:nvPr/>
        </p:nvSpPr>
        <p:spPr>
          <a:xfrm>
            <a:off x="5822442" y="3154680"/>
            <a:ext cx="98526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B86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</a:t>
            </a:r>
            <a:endParaRPr lang="en-US" sz="760" dirty="0"/>
          </a:p>
        </p:txBody>
      </p:sp>
      <p:sp>
        <p:nvSpPr>
          <p:cNvPr id="62" name="Text 58"/>
          <p:cNvSpPr txBox="1"/>
          <p:nvPr/>
        </p:nvSpPr>
        <p:spPr>
          <a:xfrm>
            <a:off x="5840730" y="3355848"/>
            <a:ext cx="94869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60" dirty="0">
                <a:solidFill>
                  <a:srgbClr val="5E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with caution</a:t>
            </a:r>
            <a:endParaRPr lang="en-US" sz="660" dirty="0"/>
          </a:p>
        </p:txBody>
      </p:sp>
      <p:sp>
        <p:nvSpPr>
          <p:cNvPr id="63" name="Shape 59"/>
          <p:cNvSpPr/>
          <p:nvPr/>
        </p:nvSpPr>
        <p:spPr>
          <a:xfrm>
            <a:off x="6880860" y="3127248"/>
            <a:ext cx="948690" cy="402336"/>
          </a:xfrm>
          <a:prstGeom prst="roundRect">
            <a:avLst>
              <a:gd name="adj" fmla="val 11364"/>
            </a:avLst>
          </a:prstGeom>
          <a:solidFill>
            <a:srgbClr val="FDE8E8"/>
          </a:solidFill>
          <a:ln w="15875">
            <a:solidFill>
              <a:srgbClr val="B00020"/>
            </a:solidFill>
            <a:prstDash val="solid"/>
          </a:ln>
        </p:spPr>
      </p:sp>
      <p:sp>
        <p:nvSpPr>
          <p:cNvPr id="64" name="Text 60"/>
          <p:cNvSpPr txBox="1"/>
          <p:nvPr/>
        </p:nvSpPr>
        <p:spPr>
          <a:xfrm>
            <a:off x="6862572" y="3154680"/>
            <a:ext cx="98526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B00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</a:t>
            </a:r>
            <a:endParaRPr lang="en-US" sz="760" dirty="0"/>
          </a:p>
        </p:txBody>
      </p:sp>
      <p:sp>
        <p:nvSpPr>
          <p:cNvPr id="65" name="Text 61"/>
          <p:cNvSpPr txBox="1"/>
          <p:nvPr/>
        </p:nvSpPr>
        <p:spPr>
          <a:xfrm>
            <a:off x="6880860" y="3355848"/>
            <a:ext cx="94869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60" dirty="0">
                <a:solidFill>
                  <a:srgbClr val="5E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risk</a:t>
            </a:r>
            <a:endParaRPr lang="en-US" sz="660" dirty="0"/>
          </a:p>
        </p:txBody>
      </p:sp>
      <p:sp>
        <p:nvSpPr>
          <p:cNvPr id="66" name="Shape 62"/>
          <p:cNvSpPr/>
          <p:nvPr/>
        </p:nvSpPr>
        <p:spPr>
          <a:xfrm>
            <a:off x="7920990" y="3127248"/>
            <a:ext cx="948690" cy="402336"/>
          </a:xfrm>
          <a:prstGeom prst="roundRect">
            <a:avLst>
              <a:gd name="adj" fmla="val 11364"/>
            </a:avLst>
          </a:prstGeom>
          <a:solidFill>
            <a:srgbClr val="EEF0F4"/>
          </a:solidFill>
          <a:ln w="15875">
            <a:solidFill>
              <a:srgbClr val="4B5563"/>
            </a:solidFill>
            <a:prstDash val="solid"/>
          </a:ln>
        </p:spPr>
      </p:sp>
      <p:sp>
        <p:nvSpPr>
          <p:cNvPr id="67" name="Text 63"/>
          <p:cNvSpPr txBox="1"/>
          <p:nvPr/>
        </p:nvSpPr>
        <p:spPr>
          <a:xfrm>
            <a:off x="7902702" y="3154680"/>
            <a:ext cx="98526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VERIFIED</a:t>
            </a:r>
            <a:endParaRPr lang="en-US" sz="760" dirty="0"/>
          </a:p>
        </p:txBody>
      </p:sp>
      <p:sp>
        <p:nvSpPr>
          <p:cNvPr id="68" name="Text 64"/>
          <p:cNvSpPr txBox="1"/>
          <p:nvPr/>
        </p:nvSpPr>
        <p:spPr>
          <a:xfrm>
            <a:off x="7920990" y="3355848"/>
            <a:ext cx="94869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60" dirty="0">
                <a:solidFill>
                  <a:srgbClr val="5E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Insufficient data</a:t>
            </a:r>
            <a:endParaRPr lang="en-US" sz="660" dirty="0"/>
          </a:p>
        </p:txBody>
      </p:sp>
      <p:sp>
        <p:nvSpPr>
          <p:cNvPr id="69" name="Shape 65"/>
          <p:cNvSpPr/>
          <p:nvPr/>
        </p:nvSpPr>
        <p:spPr>
          <a:xfrm>
            <a:off x="5274945" y="3529584"/>
            <a:ext cx="0" cy="45720"/>
          </a:xfrm>
          <a:prstGeom prst="line">
            <a:avLst/>
          </a:prstGeom>
          <a:noFill/>
          <a:ln w="15875">
            <a:solidFill>
              <a:srgbClr val="333333"/>
            </a:solidFill>
            <a:prstDash val="solid"/>
          </a:ln>
        </p:spPr>
      </p:sp>
      <p:sp>
        <p:nvSpPr>
          <p:cNvPr id="70" name="Shape 66"/>
          <p:cNvSpPr/>
          <p:nvPr/>
        </p:nvSpPr>
        <p:spPr>
          <a:xfrm>
            <a:off x="6315075" y="3529584"/>
            <a:ext cx="0" cy="45720"/>
          </a:xfrm>
          <a:prstGeom prst="line">
            <a:avLst/>
          </a:prstGeom>
          <a:noFill/>
          <a:ln w="15875">
            <a:solidFill>
              <a:srgbClr val="333333"/>
            </a:solidFill>
            <a:prstDash val="solid"/>
          </a:ln>
        </p:spPr>
      </p:sp>
      <p:sp>
        <p:nvSpPr>
          <p:cNvPr id="71" name="Shape 67"/>
          <p:cNvSpPr/>
          <p:nvPr/>
        </p:nvSpPr>
        <p:spPr>
          <a:xfrm>
            <a:off x="7355205" y="3529584"/>
            <a:ext cx="0" cy="45720"/>
          </a:xfrm>
          <a:prstGeom prst="line">
            <a:avLst/>
          </a:prstGeom>
          <a:noFill/>
          <a:ln w="15875">
            <a:solidFill>
              <a:srgbClr val="333333"/>
            </a:solidFill>
            <a:prstDash val="solid"/>
          </a:ln>
        </p:spPr>
      </p:sp>
      <p:sp>
        <p:nvSpPr>
          <p:cNvPr id="72" name="Shape 68"/>
          <p:cNvSpPr/>
          <p:nvPr/>
        </p:nvSpPr>
        <p:spPr>
          <a:xfrm>
            <a:off x="8395335" y="3529584"/>
            <a:ext cx="0" cy="45720"/>
          </a:xfrm>
          <a:prstGeom prst="line">
            <a:avLst/>
          </a:prstGeom>
          <a:noFill/>
          <a:ln w="15875">
            <a:solidFill>
              <a:srgbClr val="333333"/>
            </a:solidFill>
            <a:prstDash val="solid"/>
          </a:ln>
        </p:spPr>
      </p:sp>
      <p:sp>
        <p:nvSpPr>
          <p:cNvPr id="73" name="Shape 69"/>
          <p:cNvSpPr/>
          <p:nvPr/>
        </p:nvSpPr>
        <p:spPr>
          <a:xfrm>
            <a:off x="5274945" y="3575304"/>
            <a:ext cx="3120390" cy="0"/>
          </a:xfrm>
          <a:prstGeom prst="line">
            <a:avLst/>
          </a:prstGeom>
          <a:noFill/>
          <a:ln w="15875">
            <a:solidFill>
              <a:srgbClr val="333333"/>
            </a:solidFill>
            <a:prstDash val="solid"/>
          </a:ln>
        </p:spPr>
      </p:sp>
      <p:sp>
        <p:nvSpPr>
          <p:cNvPr id="74" name="Shape 70"/>
          <p:cNvSpPr/>
          <p:nvPr/>
        </p:nvSpPr>
        <p:spPr>
          <a:xfrm>
            <a:off x="6835140" y="3575304"/>
            <a:ext cx="0" cy="36576"/>
          </a:xfrm>
          <a:prstGeom prst="line">
            <a:avLst/>
          </a:prstGeom>
          <a:noFill/>
          <a:ln w="1587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75" name="Shape 71"/>
          <p:cNvSpPr/>
          <p:nvPr/>
        </p:nvSpPr>
        <p:spPr>
          <a:xfrm>
            <a:off x="4800600" y="3611880"/>
            <a:ext cx="4069080" cy="347472"/>
          </a:xfrm>
          <a:prstGeom prst="roundRect">
            <a:avLst>
              <a:gd name="adj" fmla="val 13158"/>
            </a:avLst>
          </a:prstGeom>
          <a:solidFill>
            <a:srgbClr val="F4F4F5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76" name="Text 72"/>
          <p:cNvSpPr txBox="1"/>
          <p:nvPr/>
        </p:nvSpPr>
        <p:spPr>
          <a:xfrm>
            <a:off x="4855464" y="3630168"/>
            <a:ext cx="3959352" cy="180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Explanation</a:t>
            </a:r>
            <a:endParaRPr lang="en-US" sz="850" dirty="0"/>
          </a:p>
        </p:txBody>
      </p:sp>
      <p:sp>
        <p:nvSpPr>
          <p:cNvPr id="77" name="Text 73"/>
          <p:cNvSpPr txBox="1"/>
          <p:nvPr/>
        </p:nvSpPr>
        <p:spPr>
          <a:xfrm>
            <a:off x="4855464" y="3785616"/>
            <a:ext cx="3959352" cy="166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5E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Simple, clear, patient-friendly language — Hindi / English; translates, never decides</a:t>
            </a:r>
            <a:endParaRPr lang="en-US" sz="650" dirty="0"/>
          </a:p>
        </p:txBody>
      </p:sp>
      <p:sp>
        <p:nvSpPr>
          <p:cNvPr id="78" name="Shape 74"/>
          <p:cNvSpPr/>
          <p:nvPr/>
        </p:nvSpPr>
        <p:spPr>
          <a:xfrm>
            <a:off x="6835140" y="3959352"/>
            <a:ext cx="0" cy="82296"/>
          </a:xfrm>
          <a:prstGeom prst="line">
            <a:avLst/>
          </a:prstGeom>
          <a:noFill/>
          <a:ln w="1587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79" name="Shape 75"/>
          <p:cNvSpPr/>
          <p:nvPr/>
        </p:nvSpPr>
        <p:spPr>
          <a:xfrm>
            <a:off x="4800600" y="4041648"/>
            <a:ext cx="4069080" cy="347472"/>
          </a:xfrm>
          <a:prstGeom prst="roundRect">
            <a:avLst>
              <a:gd name="adj" fmla="val 13158"/>
            </a:avLst>
          </a:prstGeom>
          <a:solidFill>
            <a:srgbClr val="F4F4F5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80" name="Text 76"/>
          <p:cNvSpPr txBox="1"/>
          <p:nvPr/>
        </p:nvSpPr>
        <p:spPr>
          <a:xfrm>
            <a:off x="4855464" y="4059936"/>
            <a:ext cx="3959352" cy="180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 Questions + Sources</a:t>
            </a:r>
            <a:endParaRPr lang="en-US" sz="850" dirty="0"/>
          </a:p>
        </p:txBody>
      </p:sp>
      <p:sp>
        <p:nvSpPr>
          <p:cNvPr id="81" name="Text 77"/>
          <p:cNvSpPr txBox="1"/>
          <p:nvPr/>
        </p:nvSpPr>
        <p:spPr>
          <a:xfrm>
            <a:off x="4855464" y="4215384"/>
            <a:ext cx="3959352" cy="166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5E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questions to ask your doctor  |  evidence grade  |  source / DOI</a:t>
            </a:r>
            <a:endParaRPr lang="en-US" sz="650" dirty="0"/>
          </a:p>
        </p:txBody>
      </p:sp>
      <p:sp>
        <p:nvSpPr>
          <p:cNvPr id="82" name="Shape 78"/>
          <p:cNvSpPr/>
          <p:nvPr/>
        </p:nvSpPr>
        <p:spPr>
          <a:xfrm>
            <a:off x="6835140" y="4389120"/>
            <a:ext cx="0" cy="82296"/>
          </a:xfrm>
          <a:prstGeom prst="line">
            <a:avLst/>
          </a:prstGeom>
          <a:noFill/>
          <a:ln w="1587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83" name="Shape 79"/>
          <p:cNvSpPr/>
          <p:nvPr/>
        </p:nvSpPr>
        <p:spPr>
          <a:xfrm>
            <a:off x="4800600" y="4471416"/>
            <a:ext cx="1961388" cy="384048"/>
          </a:xfrm>
          <a:prstGeom prst="roundRect">
            <a:avLst>
              <a:gd name="adj" fmla="val 11905"/>
            </a:avLst>
          </a:prstGeom>
          <a:solidFill>
            <a:srgbClr val="F4F4F5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84" name="Text 80"/>
          <p:cNvSpPr txBox="1"/>
          <p:nvPr/>
        </p:nvSpPr>
        <p:spPr>
          <a:xfrm>
            <a:off x="4855464" y="4489704"/>
            <a:ext cx="1851660" cy="199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with Doctor</a:t>
            </a:r>
            <a:endParaRPr lang="en-US" sz="850" dirty="0"/>
          </a:p>
        </p:txBody>
      </p:sp>
      <p:sp>
        <p:nvSpPr>
          <p:cNvPr id="85" name="Text 81"/>
          <p:cNvSpPr txBox="1"/>
          <p:nvPr/>
        </p:nvSpPr>
        <p:spPr>
          <a:xfrm>
            <a:off x="4855464" y="4663440"/>
            <a:ext cx="1851660" cy="184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5E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/ share PDF summary</a:t>
            </a:r>
            <a:endParaRPr lang="en-US" sz="650" dirty="0"/>
          </a:p>
        </p:txBody>
      </p:sp>
      <p:sp>
        <p:nvSpPr>
          <p:cNvPr id="86" name="Shape 82"/>
          <p:cNvSpPr/>
          <p:nvPr/>
        </p:nvSpPr>
        <p:spPr>
          <a:xfrm>
            <a:off x="6908292" y="4471416"/>
            <a:ext cx="1961388" cy="384048"/>
          </a:xfrm>
          <a:prstGeom prst="roundRect">
            <a:avLst>
              <a:gd name="adj" fmla="val 11905"/>
            </a:avLst>
          </a:prstGeom>
          <a:solidFill>
            <a:srgbClr val="FBE9E7"/>
          </a:solidFill>
          <a:ln w="12700">
            <a:solidFill>
              <a:srgbClr val="8B2A2A"/>
            </a:solidFill>
            <a:prstDash val="solid"/>
          </a:ln>
        </p:spPr>
      </p:sp>
      <p:sp>
        <p:nvSpPr>
          <p:cNvPr id="87" name="Text 83"/>
          <p:cNvSpPr txBox="1"/>
          <p:nvPr/>
        </p:nvSpPr>
        <p:spPr>
          <a:xfrm>
            <a:off x="6963156" y="4489704"/>
            <a:ext cx="1851660" cy="199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 Reporting</a:t>
            </a:r>
            <a:endParaRPr lang="en-US" sz="850" dirty="0"/>
          </a:p>
        </p:txBody>
      </p:sp>
      <p:sp>
        <p:nvSpPr>
          <p:cNvPr id="88" name="Text 84"/>
          <p:cNvSpPr txBox="1"/>
          <p:nvPr/>
        </p:nvSpPr>
        <p:spPr>
          <a:xfrm>
            <a:off x="6963156" y="4663440"/>
            <a:ext cx="1851660" cy="184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5E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Pre-filled Ayush pharmacovigilance form → export</a:t>
            </a:r>
            <a:endParaRPr lang="en-US" sz="650" dirty="0"/>
          </a:p>
        </p:txBody>
      </p:sp>
      <p:sp>
        <p:nvSpPr>
          <p:cNvPr id="89" name="Text 85"/>
          <p:cNvSpPr txBox="1"/>
          <p:nvPr/>
        </p:nvSpPr>
        <p:spPr>
          <a:xfrm>
            <a:off x="4800600" y="4873752"/>
            <a:ext cx="4069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i="1" dirty="0">
                <a:solidFill>
                  <a:srgbClr val="5E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support only · never diagnosis · always ask your doctor</a:t>
            </a:r>
            <a:endParaRPr lang="en-US" sz="6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2026-10-04T08:49:05Z</dcterms:created>
  <dcterms:modified xsi:type="dcterms:W3CDTF">2026-10-04T08:49:05Z</dcterms:modified>
</cp:coreProperties>
</file>