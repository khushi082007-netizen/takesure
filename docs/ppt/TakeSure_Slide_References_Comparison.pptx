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and an honest comparison. TakeSure rates 4/5 on sources on purpose: citations are flagged 'needs verification' until re-checked. Judges trust a team that leaves itself one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28829155/" TargetMode="External"/><Relationship Id="rId4" Type="http://schemas.openxmlformats.org/officeDocument/2006/relationships/hyperlink" Target="https://doi.org/10.4103/0253-7613.33432" TargetMode="External"/><Relationship Id="rId5" Type="http://schemas.openxmlformats.org/officeDocument/2006/relationships/hyperlink" Target="https://www.jcdr.net/articles/PDF/576/501.pdf" TargetMode="External"/><Relationship Id="rId6" Type="http://schemas.openxmlformats.org/officeDocument/2006/relationships/hyperlink" Target="https://doi.org/10.1515/dmdi-2013-0014" TargetMode="External"/><Relationship Id="rId7" Type="http://schemas.openxmlformats.org/officeDocument/2006/relationships/hyperlink" Target="https://www.mospi.gov.in/sites/default/files/press_release/PressNote_Ayush_13062024N.pdf" TargetMode="External"/><Relationship Id="rId8" Type="http://schemas.openxmlformats.org/officeDocument/2006/relationships/hyperlink" Target="https://suraksha.ayush.gov.in/" TargetMode="External"/><Relationship Id="rId9" Type="http://schemas.openxmlformats.org/officeDocument/2006/relationships/hyperlink" Target="https://itra.ac.in/pharmacovigilance" TargetMode="External"/><Relationship Id="rId10" Type="http://schemas.openxmlformats.org/officeDocument/2006/relationships/hyperlink" Target="https://github.com/tesseract-ocr/tesseract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46304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46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Hunters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097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200" dirty="0"/>
          </a:p>
        </p:txBody>
      </p:sp>
      <p:pic>
        <p:nvPicPr>
          <p:cNvPr id="5" name="Image 0" descr="assets/devsphere_alp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28" y="54864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23760" y="60350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DevSphereIndia</a:t>
            </a:r>
            <a:endParaRPr lang="en-US" sz="600" dirty="0"/>
          </a:p>
        </p:txBody>
      </p:sp>
      <p:pic>
        <p:nvPicPr>
          <p:cNvPr id="7" name="Image 1" descr="assets/codeslayer_alph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8288"/>
            <a:ext cx="749808" cy="7498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914400"/>
            <a:ext cx="288036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84048" y="987552"/>
            <a:ext cx="2011680" cy="2468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98755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65760" y="1298448"/>
            <a:ext cx="2697480" cy="420624"/>
          </a:xfrm>
          <a:prstGeom prst="roundRect">
            <a:avLst>
              <a:gd name="adj" fmla="val 10870"/>
            </a:avLst>
          </a:prstGeom>
          <a:solidFill>
            <a:srgbClr val="F6F6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9768" y="1408176"/>
            <a:ext cx="201168" cy="20116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29768" y="1408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694944" y="13258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Sharma 2018: ashwagandha &amp; thyroid trial</a:t>
            </a:r>
            <a:endParaRPr lang="en-US" sz="730" dirty="0"/>
          </a:p>
        </p:txBody>
      </p:sp>
      <p:sp>
        <p:nvSpPr>
          <p:cNvPr id="15" name="Text 11"/>
          <p:cNvSpPr txBox="1"/>
          <p:nvPr/>
        </p:nvSpPr>
        <p:spPr>
          <a:xfrm>
            <a:off x="694944" y="145389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RCT, 50 patients, 600 mg/day, 8 weeks</a:t>
            </a:r>
            <a:endParaRPr lang="en-US" sz="650" dirty="0"/>
          </a:p>
        </p:txBody>
      </p:sp>
      <p:sp>
        <p:nvSpPr>
          <p:cNvPr id="16" name="Text 12"/>
          <p:cNvSpPr txBox="1"/>
          <p:nvPr/>
        </p:nvSpPr>
        <p:spPr>
          <a:xfrm>
            <a:off x="694944" y="157276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https://pubmed.ncbi.nlm.nih.gov/28829155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pubmed.ncbi.nlm.nih.gov/28829155</a:t>
            </a:r>
            <a:endParaRPr lang="en-US" sz="630" dirty="0"/>
          </a:p>
        </p:txBody>
      </p:sp>
      <p:sp>
        <p:nvSpPr>
          <p:cNvPr id="17" name="Shape 13"/>
          <p:cNvSpPr/>
          <p:nvPr/>
        </p:nvSpPr>
        <p:spPr>
          <a:xfrm>
            <a:off x="365760" y="1755648"/>
            <a:ext cx="2697480" cy="420624"/>
          </a:xfrm>
          <a:prstGeom prst="roundRect">
            <a:avLst>
              <a:gd name="adj" fmla="val 10870"/>
            </a:avLst>
          </a:prstGeom>
          <a:solidFill>
            <a:srgbClr val="F6F6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9768" y="1865376"/>
            <a:ext cx="201168" cy="20116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29768" y="1865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694944" y="17830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Gohil &amp; Patel 2007: herb–drug case reports</a:t>
            </a:r>
            <a:endParaRPr lang="en-US" sz="730" dirty="0"/>
          </a:p>
        </p:txBody>
      </p:sp>
      <p:sp>
        <p:nvSpPr>
          <p:cNvPr id="21" name="Text 17"/>
          <p:cNvSpPr txBox="1"/>
          <p:nvPr/>
        </p:nvSpPr>
        <p:spPr>
          <a:xfrm>
            <a:off x="694944" y="191109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cases, only 6% well documented (Indian J Pharmacol)</a:t>
            </a:r>
            <a:endParaRPr lang="en-US" sz="650" dirty="0"/>
          </a:p>
        </p:txBody>
      </p:sp>
      <p:sp>
        <p:nvSpPr>
          <p:cNvPr id="22" name="Text 18"/>
          <p:cNvSpPr txBox="1"/>
          <p:nvPr/>
        </p:nvSpPr>
        <p:spPr>
          <a:xfrm>
            <a:off x="694944" y="202996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https://doi.org/10.4103/0253-7613.3343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doi.org/10.4103/0253-7613.33432</a:t>
            </a:r>
            <a:endParaRPr lang="en-US" sz="630" dirty="0"/>
          </a:p>
        </p:txBody>
      </p:sp>
      <p:sp>
        <p:nvSpPr>
          <p:cNvPr id="23" name="Shape 19"/>
          <p:cNvSpPr/>
          <p:nvPr/>
        </p:nvSpPr>
        <p:spPr>
          <a:xfrm>
            <a:off x="365760" y="2212848"/>
            <a:ext cx="2697480" cy="420624"/>
          </a:xfrm>
          <a:prstGeom prst="roundRect">
            <a:avLst>
              <a:gd name="adj" fmla="val 10870"/>
            </a:avLst>
          </a:prstGeom>
          <a:solidFill>
            <a:srgbClr val="F6F6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29768" y="2322576"/>
            <a:ext cx="201168" cy="20116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29768" y="2322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Text 22"/>
          <p:cNvSpPr txBox="1"/>
          <p:nvPr/>
        </p:nvSpPr>
        <p:spPr>
          <a:xfrm>
            <a:off x="694944" y="22402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Ghosh et al. 2009: herb–drug interaction</a:t>
            </a:r>
            <a:endParaRPr lang="en-US" sz="730" dirty="0"/>
          </a:p>
        </p:txBody>
      </p:sp>
      <p:sp>
        <p:nvSpPr>
          <p:cNvPr id="27" name="Text 23"/>
          <p:cNvSpPr txBox="1"/>
          <p:nvPr/>
        </p:nvSpPr>
        <p:spPr>
          <a:xfrm>
            <a:off x="694944" y="236829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Fallout of poor doctor–patient communication (JCDR)</a:t>
            </a:r>
            <a:endParaRPr lang="en-US" sz="650" dirty="0"/>
          </a:p>
        </p:txBody>
      </p:sp>
      <p:sp>
        <p:nvSpPr>
          <p:cNvPr id="28" name="Text 24"/>
          <p:cNvSpPr txBox="1"/>
          <p:nvPr/>
        </p:nvSpPr>
        <p:spPr>
          <a:xfrm>
            <a:off x="694944" y="248716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https://www.jcdr.net/articles/PDF/576/50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jcdr.net/articles/PDF/576/501.pdf</a:t>
            </a:r>
            <a:endParaRPr lang="en-US" sz="630" dirty="0"/>
          </a:p>
        </p:txBody>
      </p:sp>
      <p:sp>
        <p:nvSpPr>
          <p:cNvPr id="29" name="Shape 25"/>
          <p:cNvSpPr/>
          <p:nvPr/>
        </p:nvSpPr>
        <p:spPr>
          <a:xfrm>
            <a:off x="365760" y="2670048"/>
            <a:ext cx="2697480" cy="420624"/>
          </a:xfrm>
          <a:prstGeom prst="roundRect">
            <a:avLst>
              <a:gd name="adj" fmla="val 10870"/>
            </a:avLst>
          </a:prstGeom>
          <a:solidFill>
            <a:srgbClr val="F6F6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29768" y="2779776"/>
            <a:ext cx="201168" cy="20116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29768" y="2779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32" name="Text 28"/>
          <p:cNvSpPr txBox="1"/>
          <p:nvPr/>
        </p:nvSpPr>
        <p:spPr>
          <a:xfrm>
            <a:off x="694944" y="26974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between substances in Ayurveda</a:t>
            </a:r>
            <a:endParaRPr lang="en-US" sz="730" dirty="0"/>
          </a:p>
        </p:txBody>
      </p:sp>
      <p:sp>
        <p:nvSpPr>
          <p:cNvPr id="33" name="Text 29"/>
          <p:cNvSpPr txBox="1"/>
          <p:nvPr/>
        </p:nvSpPr>
        <p:spPr>
          <a:xfrm>
            <a:off x="694944" y="282549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Food–drug &amp; Ayurveda–modern drug review, 2013</a:t>
            </a:r>
            <a:endParaRPr lang="en-US" sz="650" dirty="0"/>
          </a:p>
        </p:txBody>
      </p:sp>
      <p:sp>
        <p:nvSpPr>
          <p:cNvPr id="34" name="Text 30"/>
          <p:cNvSpPr txBox="1"/>
          <p:nvPr/>
        </p:nvSpPr>
        <p:spPr>
          <a:xfrm>
            <a:off x="694944" y="294436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https://doi.org/10.1515/dmdi-2013-0014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doi.org/10.1515/dmdi-2013-0014</a:t>
            </a:r>
            <a:endParaRPr lang="en-US" sz="630" dirty="0"/>
          </a:p>
        </p:txBody>
      </p:sp>
      <p:sp>
        <p:nvSpPr>
          <p:cNvPr id="35" name="Shape 31"/>
          <p:cNvSpPr/>
          <p:nvPr/>
        </p:nvSpPr>
        <p:spPr>
          <a:xfrm>
            <a:off x="365760" y="3127248"/>
            <a:ext cx="2697480" cy="420624"/>
          </a:xfrm>
          <a:prstGeom prst="roundRect">
            <a:avLst>
              <a:gd name="adj" fmla="val 10870"/>
            </a:avLst>
          </a:prstGeom>
          <a:solidFill>
            <a:srgbClr val="F6F6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29768" y="3236976"/>
            <a:ext cx="201168" cy="20116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29768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38" name="Text 34"/>
          <p:cNvSpPr txBox="1"/>
          <p:nvPr/>
        </p:nvSpPr>
        <p:spPr>
          <a:xfrm>
            <a:off x="694944" y="31546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NSSO Survey on Ayush 2022-23 (MoSPI press note)</a:t>
            </a:r>
            <a:endParaRPr lang="en-US" sz="730" dirty="0"/>
          </a:p>
        </p:txBody>
      </p:sp>
      <p:sp>
        <p:nvSpPr>
          <p:cNvPr id="39" name="Text 35"/>
          <p:cNvSpPr txBox="1"/>
          <p:nvPr/>
        </p:nvSpPr>
        <p:spPr>
          <a:xfrm>
            <a:off x="694944" y="328269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Ayurveda is the most used Ayush system</a:t>
            </a:r>
            <a:endParaRPr lang="en-US" sz="650" dirty="0"/>
          </a:p>
        </p:txBody>
      </p:sp>
      <p:sp>
        <p:nvSpPr>
          <p:cNvPr id="40" name="Text 36"/>
          <p:cNvSpPr txBox="1"/>
          <p:nvPr/>
        </p:nvSpPr>
        <p:spPr>
          <a:xfrm>
            <a:off x="694944" y="340156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https://www.mospi.gov.in/sites/default/files/press_release/PressNote_Ayush_13062024N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mospi.gov.in/…/PressNote_Ayush_13062024N.pdf</a:t>
            </a:r>
            <a:endParaRPr lang="en-US" sz="630" dirty="0"/>
          </a:p>
        </p:txBody>
      </p:sp>
      <p:sp>
        <p:nvSpPr>
          <p:cNvPr id="41" name="Shape 37"/>
          <p:cNvSpPr/>
          <p:nvPr/>
        </p:nvSpPr>
        <p:spPr>
          <a:xfrm>
            <a:off x="365760" y="3584448"/>
            <a:ext cx="2697480" cy="420624"/>
          </a:xfrm>
          <a:prstGeom prst="roundRect">
            <a:avLst>
              <a:gd name="adj" fmla="val 10870"/>
            </a:avLst>
          </a:prstGeom>
          <a:solidFill>
            <a:srgbClr val="F6F6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29768" y="3694176"/>
            <a:ext cx="201168" cy="20116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29768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44" name="Text 40"/>
          <p:cNvSpPr txBox="1"/>
          <p:nvPr/>
        </p:nvSpPr>
        <p:spPr>
          <a:xfrm>
            <a:off x="694944" y="36118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Suraksha portal (Ministry of Ayush)</a:t>
            </a:r>
            <a:endParaRPr lang="en-US" sz="730" dirty="0"/>
          </a:p>
        </p:txBody>
      </p:sp>
      <p:sp>
        <p:nvSpPr>
          <p:cNvPr id="45" name="Text 41"/>
          <p:cNvSpPr txBox="1"/>
          <p:nvPr/>
        </p:nvSpPr>
        <p:spPr>
          <a:xfrm>
            <a:off x="694944" y="373989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 ADR reporting for ASU&amp;H drugs</a:t>
            </a:r>
            <a:endParaRPr lang="en-US" sz="650" dirty="0"/>
          </a:p>
        </p:txBody>
      </p:sp>
      <p:sp>
        <p:nvSpPr>
          <p:cNvPr id="46" name="Text 42"/>
          <p:cNvSpPr txBox="1"/>
          <p:nvPr/>
        </p:nvSpPr>
        <p:spPr>
          <a:xfrm>
            <a:off x="694944" y="385876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https://suraksha.ayush.gov.in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suraksha.ayush.gov.in</a:t>
            </a:r>
            <a:endParaRPr lang="en-US" sz="630" dirty="0"/>
          </a:p>
        </p:txBody>
      </p:sp>
      <p:sp>
        <p:nvSpPr>
          <p:cNvPr id="47" name="Shape 43"/>
          <p:cNvSpPr/>
          <p:nvPr/>
        </p:nvSpPr>
        <p:spPr>
          <a:xfrm>
            <a:off x="365760" y="4041648"/>
            <a:ext cx="2697480" cy="420624"/>
          </a:xfrm>
          <a:prstGeom prst="roundRect">
            <a:avLst>
              <a:gd name="adj" fmla="val 10870"/>
            </a:avLst>
          </a:prstGeom>
          <a:solidFill>
            <a:srgbClr val="F6F6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29768" y="4151376"/>
            <a:ext cx="201168" cy="20116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429768" y="4151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50" name="Text 46"/>
          <p:cNvSpPr txBox="1"/>
          <p:nvPr/>
        </p:nvSpPr>
        <p:spPr>
          <a:xfrm>
            <a:off x="694944" y="40690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ASU&amp;H pharmacovigilance (ITRA, Jamnagar)</a:t>
            </a:r>
            <a:endParaRPr lang="en-US" sz="730" dirty="0"/>
          </a:p>
        </p:txBody>
      </p:sp>
      <p:sp>
        <p:nvSpPr>
          <p:cNvPr id="51" name="Text 47"/>
          <p:cNvSpPr txBox="1"/>
          <p:nvPr/>
        </p:nvSpPr>
        <p:spPr>
          <a:xfrm>
            <a:off x="694944" y="419709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PPvC / IPvC reporting network</a:t>
            </a:r>
            <a:endParaRPr lang="en-US" sz="650" dirty="0"/>
          </a:p>
        </p:txBody>
      </p:sp>
      <p:sp>
        <p:nvSpPr>
          <p:cNvPr id="52" name="Text 48"/>
          <p:cNvSpPr txBox="1"/>
          <p:nvPr/>
        </p:nvSpPr>
        <p:spPr>
          <a:xfrm>
            <a:off x="694944" y="431596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https://itra.ac.in/pharmacovigilan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itra.ac.in/pharmacovigilance</a:t>
            </a:r>
            <a:endParaRPr lang="en-US" sz="630" dirty="0"/>
          </a:p>
        </p:txBody>
      </p:sp>
      <p:sp>
        <p:nvSpPr>
          <p:cNvPr id="53" name="Shape 49"/>
          <p:cNvSpPr/>
          <p:nvPr/>
        </p:nvSpPr>
        <p:spPr>
          <a:xfrm>
            <a:off x="365760" y="4498848"/>
            <a:ext cx="2697480" cy="420624"/>
          </a:xfrm>
          <a:prstGeom prst="roundRect">
            <a:avLst>
              <a:gd name="adj" fmla="val 10870"/>
            </a:avLst>
          </a:prstGeom>
          <a:solidFill>
            <a:srgbClr val="F6F6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29768" y="4608576"/>
            <a:ext cx="201168" cy="20116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29768" y="4608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sp>
        <p:nvSpPr>
          <p:cNvPr id="56" name="Text 52"/>
          <p:cNvSpPr txBox="1"/>
          <p:nvPr/>
        </p:nvSpPr>
        <p:spPr>
          <a:xfrm>
            <a:off x="694944" y="4526280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tools we build on</a:t>
            </a:r>
            <a:endParaRPr lang="en-US" sz="730" dirty="0"/>
          </a:p>
        </p:txBody>
      </p:sp>
      <p:sp>
        <p:nvSpPr>
          <p:cNvPr id="57" name="Text 53"/>
          <p:cNvSpPr txBox="1"/>
          <p:nvPr/>
        </p:nvSpPr>
        <p:spPr>
          <a:xfrm>
            <a:off x="694944" y="465429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(Tesseract) and name matching (RapidFuzz)</a:t>
            </a:r>
            <a:endParaRPr lang="en-US" sz="650" dirty="0"/>
          </a:p>
        </p:txBody>
      </p:sp>
      <p:sp>
        <p:nvSpPr>
          <p:cNvPr id="58" name="Text 54"/>
          <p:cNvSpPr txBox="1"/>
          <p:nvPr/>
        </p:nvSpPr>
        <p:spPr>
          <a:xfrm>
            <a:off x="694944" y="477316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https://github.com/tesseract-ocr/tessera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github.com/tesseract-ocr · github.com/rapidfuzz</a:t>
            </a:r>
            <a:endParaRPr lang="en-US" sz="630" dirty="0"/>
          </a:p>
        </p:txBody>
      </p:sp>
      <p:sp>
        <p:nvSpPr>
          <p:cNvPr id="59" name="Text 55"/>
          <p:cNvSpPr txBox="1"/>
          <p:nvPr/>
        </p:nvSpPr>
        <p:spPr>
          <a:xfrm>
            <a:off x="3310128" y="9144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EXISTING TOOLS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3310128" y="1133856"/>
            <a:ext cx="896112" cy="384048"/>
          </a:xfrm>
          <a:prstGeom prst="rect">
            <a:avLst/>
          </a:prstGeom>
          <a:solidFill>
            <a:srgbClr val="1F3B7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3346704" y="113385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700" dirty="0"/>
          </a:p>
        </p:txBody>
      </p:sp>
      <p:sp>
        <p:nvSpPr>
          <p:cNvPr id="62" name="Shape 58"/>
          <p:cNvSpPr/>
          <p:nvPr/>
        </p:nvSpPr>
        <p:spPr>
          <a:xfrm>
            <a:off x="4206240" y="1133856"/>
            <a:ext cx="1078992" cy="384048"/>
          </a:xfrm>
          <a:prstGeom prst="rect">
            <a:avLst/>
          </a:prstGeom>
          <a:solidFill>
            <a:srgbClr val="1F3B7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4242816" y="11338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MEDSCAPE · DRUGS.COM · 1MG</a:t>
            </a:r>
            <a:endParaRPr lang="en-US" sz="700" dirty="0"/>
          </a:p>
        </p:txBody>
      </p:sp>
      <p:sp>
        <p:nvSpPr>
          <p:cNvPr id="64" name="Shape 60"/>
          <p:cNvSpPr/>
          <p:nvPr/>
        </p:nvSpPr>
        <p:spPr>
          <a:xfrm>
            <a:off x="5285232" y="1133856"/>
            <a:ext cx="1078992" cy="384048"/>
          </a:xfrm>
          <a:prstGeom prst="rect">
            <a:avLst/>
          </a:prstGeom>
          <a:solidFill>
            <a:srgbClr val="1F3B7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5321808" y="11338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MSKCC · NATURAL MEDICINES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6364224" y="1133856"/>
            <a:ext cx="1188720" cy="38404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6400800" y="113385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(OUR APP)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7552944" y="1133856"/>
            <a:ext cx="1280160" cy="384048"/>
          </a:xfrm>
          <a:prstGeom prst="rect">
            <a:avLst/>
          </a:prstGeom>
          <a:solidFill>
            <a:srgbClr val="C77B1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7589520" y="113385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TAKESURE?</a:t>
            </a:r>
            <a:endParaRPr lang="en-US" sz="700" dirty="0"/>
          </a:p>
        </p:txBody>
      </p:sp>
      <p:sp>
        <p:nvSpPr>
          <p:cNvPr id="70" name="Shape 66"/>
          <p:cNvSpPr/>
          <p:nvPr/>
        </p:nvSpPr>
        <p:spPr>
          <a:xfrm>
            <a:off x="3310128" y="1517904"/>
            <a:ext cx="89611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3364992" y="1517904"/>
            <a:ext cx="786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Ayurveda × allopathy check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4206240" y="1517904"/>
            <a:ext cx="10789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4261104" y="1554480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Allopathic × allopathic pairs only</a:t>
            </a:r>
            <a:endParaRPr lang="en-US" sz="680" dirty="0"/>
          </a:p>
        </p:txBody>
      </p:sp>
      <p:sp>
        <p:nvSpPr>
          <p:cNvPr id="74" name="Text 70"/>
          <p:cNvSpPr txBox="1"/>
          <p:nvPr/>
        </p:nvSpPr>
        <p:spPr>
          <a:xfrm>
            <a:off x="4261104" y="1975104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☆☆☆☆</a:t>
            </a: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 / 5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5285232" y="1517904"/>
            <a:ext cx="10789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5340096" y="1554480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Single-herb monographs only</a:t>
            </a:r>
            <a:endParaRPr lang="en-US" sz="680" dirty="0"/>
          </a:p>
        </p:txBody>
      </p:sp>
      <p:sp>
        <p:nvSpPr>
          <p:cNvPr id="77" name="Text 73"/>
          <p:cNvSpPr txBox="1"/>
          <p:nvPr/>
        </p:nvSpPr>
        <p:spPr>
          <a:xfrm>
            <a:off x="5340096" y="1975104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☆☆☆</a:t>
            </a: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 / 5</a:t>
            </a:r>
            <a:endParaRPr lang="en-US" sz="900" dirty="0"/>
          </a:p>
        </p:txBody>
      </p:sp>
      <p:sp>
        <p:nvSpPr>
          <p:cNvPr id="78" name="Shape 74"/>
          <p:cNvSpPr/>
          <p:nvPr/>
        </p:nvSpPr>
        <p:spPr>
          <a:xfrm>
            <a:off x="6364224" y="1517904"/>
            <a:ext cx="1188720" cy="676656"/>
          </a:xfrm>
          <a:prstGeom prst="rect">
            <a:avLst/>
          </a:prstGeom>
          <a:solidFill>
            <a:srgbClr val="E8F3E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6419088" y="155448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Prescription × Ayurvedic product, every herb–drug pair checked</a:t>
            </a:r>
            <a:endParaRPr lang="en-US" sz="680" dirty="0"/>
          </a:p>
        </p:txBody>
      </p:sp>
      <p:sp>
        <p:nvSpPr>
          <p:cNvPr id="80" name="Text 76"/>
          <p:cNvSpPr txBox="1"/>
          <p:nvPr/>
        </p:nvSpPr>
        <p:spPr>
          <a:xfrm>
            <a:off x="6419088" y="197510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★★★★★</a:t>
            </a:r>
            <a:pPr indent="0" marL="0">
              <a:buNone/>
            </a:pP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 / 5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7552944" y="1517904"/>
            <a:ext cx="1280160" cy="676656"/>
          </a:xfrm>
          <a:prstGeom prst="rect">
            <a:avLst/>
          </a:prstGeom>
          <a:solidFill>
            <a:srgbClr val="FFF4D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7607808" y="1517904"/>
            <a:ext cx="1170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7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Only tool that checks the two systems people already mix.</a:t>
            </a:r>
            <a:endParaRPr lang="en-US" sz="680" dirty="0"/>
          </a:p>
        </p:txBody>
      </p:sp>
      <p:sp>
        <p:nvSpPr>
          <p:cNvPr id="83" name="Shape 79"/>
          <p:cNvSpPr/>
          <p:nvPr/>
        </p:nvSpPr>
        <p:spPr>
          <a:xfrm>
            <a:off x="3310128" y="2194560"/>
            <a:ext cx="896112" cy="676656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3364992" y="2194560"/>
            <a:ext cx="786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brands &amp; Hindi</a:t>
            </a:r>
            <a:endParaRPr lang="en-US" sz="800" dirty="0"/>
          </a:p>
        </p:txBody>
      </p:sp>
      <p:sp>
        <p:nvSpPr>
          <p:cNvPr id="85" name="Shape 81"/>
          <p:cNvSpPr/>
          <p:nvPr/>
        </p:nvSpPr>
        <p:spPr>
          <a:xfrm>
            <a:off x="4206240" y="2194560"/>
            <a:ext cx="1078992" cy="676656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4261104" y="2231136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Partly covered</a:t>
            </a:r>
            <a:endParaRPr lang="en-US" sz="680" dirty="0"/>
          </a:p>
        </p:txBody>
      </p:sp>
      <p:sp>
        <p:nvSpPr>
          <p:cNvPr id="87" name="Text 83"/>
          <p:cNvSpPr txBox="1"/>
          <p:nvPr/>
        </p:nvSpPr>
        <p:spPr>
          <a:xfrm>
            <a:off x="4261104" y="265176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★★★</a:t>
            </a:r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☆☆</a:t>
            </a: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 / 5</a:t>
            </a:r>
            <a:endParaRPr lang="en-US" sz="900" dirty="0"/>
          </a:p>
        </p:txBody>
      </p:sp>
      <p:sp>
        <p:nvSpPr>
          <p:cNvPr id="88" name="Shape 84"/>
          <p:cNvSpPr/>
          <p:nvPr/>
        </p:nvSpPr>
        <p:spPr>
          <a:xfrm>
            <a:off x="5285232" y="2194560"/>
            <a:ext cx="1078992" cy="676656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5340096" y="2231136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Western herbs, English only</a:t>
            </a:r>
            <a:endParaRPr lang="en-US" sz="680" dirty="0"/>
          </a:p>
        </p:txBody>
      </p:sp>
      <p:sp>
        <p:nvSpPr>
          <p:cNvPr id="90" name="Text 86"/>
          <p:cNvSpPr txBox="1"/>
          <p:nvPr/>
        </p:nvSpPr>
        <p:spPr>
          <a:xfrm>
            <a:off x="5340096" y="265176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☆☆☆☆</a:t>
            </a: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 / 5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6364224" y="2194560"/>
            <a:ext cx="1188720" cy="676656"/>
          </a:xfrm>
          <a:prstGeom prst="rect">
            <a:avLst/>
          </a:prstGeom>
          <a:solidFill>
            <a:srgbClr val="E8F3E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6419088" y="223113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Indian brands + Sanskrit / Hindi synonyms, Hindi UI</a:t>
            </a:r>
            <a:endParaRPr lang="en-US" sz="680" dirty="0"/>
          </a:p>
        </p:txBody>
      </p:sp>
      <p:sp>
        <p:nvSpPr>
          <p:cNvPr id="93" name="Text 89"/>
          <p:cNvSpPr txBox="1"/>
          <p:nvPr/>
        </p:nvSpPr>
        <p:spPr>
          <a:xfrm>
            <a:off x="6419088" y="265176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★★★★★</a:t>
            </a:r>
            <a:pPr indent="0" marL="0">
              <a:buNone/>
            </a:pP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 / 5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7552944" y="2194560"/>
            <a:ext cx="1280160" cy="676656"/>
          </a:xfrm>
          <a:prstGeom prst="rect">
            <a:avLst/>
          </a:prstGeom>
          <a:solidFill>
            <a:srgbClr val="FFF4D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7607808" y="2194560"/>
            <a:ext cx="1170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7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Matches Himalaya, Dabur and the names patients actually use.</a:t>
            </a:r>
            <a:endParaRPr lang="en-US" sz="680" dirty="0"/>
          </a:p>
        </p:txBody>
      </p:sp>
      <p:sp>
        <p:nvSpPr>
          <p:cNvPr id="96" name="Shape 92"/>
          <p:cNvSpPr/>
          <p:nvPr/>
        </p:nvSpPr>
        <p:spPr>
          <a:xfrm>
            <a:off x="3310128" y="2871216"/>
            <a:ext cx="89611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97" name="Text 93"/>
          <p:cNvSpPr txBox="1"/>
          <p:nvPr/>
        </p:nvSpPr>
        <p:spPr>
          <a:xfrm>
            <a:off x="3364992" y="2871216"/>
            <a:ext cx="786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on every verdict</a:t>
            </a:r>
            <a:endParaRPr lang="en-US" sz="800" dirty="0"/>
          </a:p>
        </p:txBody>
      </p:sp>
      <p:sp>
        <p:nvSpPr>
          <p:cNvPr id="98" name="Shape 94"/>
          <p:cNvSpPr/>
          <p:nvPr/>
        </p:nvSpPr>
        <p:spPr>
          <a:xfrm>
            <a:off x="4206240" y="2871216"/>
            <a:ext cx="10789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4261104" y="290779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Sources shown</a:t>
            </a:r>
            <a:endParaRPr lang="en-US" sz="680" dirty="0"/>
          </a:p>
        </p:txBody>
      </p:sp>
      <p:sp>
        <p:nvSpPr>
          <p:cNvPr id="100" name="Text 96"/>
          <p:cNvSpPr txBox="1"/>
          <p:nvPr/>
        </p:nvSpPr>
        <p:spPr>
          <a:xfrm>
            <a:off x="4261104" y="332841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★★★★</a:t>
            </a:r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</a:t>
            </a: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 / 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5285232" y="2871216"/>
            <a:ext cx="10789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2" name="Text 98"/>
          <p:cNvSpPr txBox="1"/>
          <p:nvPr/>
        </p:nvSpPr>
        <p:spPr>
          <a:xfrm>
            <a:off x="5340096" y="290779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Sources shown</a:t>
            </a:r>
            <a:endParaRPr lang="en-US" sz="680" dirty="0"/>
          </a:p>
        </p:txBody>
      </p:sp>
      <p:sp>
        <p:nvSpPr>
          <p:cNvPr id="103" name="Text 99"/>
          <p:cNvSpPr txBox="1"/>
          <p:nvPr/>
        </p:nvSpPr>
        <p:spPr>
          <a:xfrm>
            <a:off x="5340096" y="3328416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★★★★</a:t>
            </a:r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</a:t>
            </a: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 / 5</a:t>
            </a:r>
            <a:endParaRPr lang="en-US" sz="900" dirty="0"/>
          </a:p>
        </p:txBody>
      </p:sp>
      <p:sp>
        <p:nvSpPr>
          <p:cNvPr id="104" name="Shape 100"/>
          <p:cNvSpPr/>
          <p:nvPr/>
        </p:nvSpPr>
        <p:spPr>
          <a:xfrm>
            <a:off x="6364224" y="2871216"/>
            <a:ext cx="1188720" cy="676656"/>
          </a:xfrm>
          <a:prstGeom prst="rect">
            <a:avLst/>
          </a:prstGeom>
          <a:solidFill>
            <a:srgbClr val="E8F3E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5" name="Text 101"/>
          <p:cNvSpPr txBox="1"/>
          <p:nvPr/>
        </p:nvSpPr>
        <p:spPr>
          <a:xfrm>
            <a:off x="6419088" y="290779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Sources + grade A/B/C with DOI/PMID; marked “needs verification” until re-checked</a:t>
            </a:r>
            <a:endParaRPr lang="en-US" sz="680" dirty="0"/>
          </a:p>
        </p:txBody>
      </p:sp>
      <p:sp>
        <p:nvSpPr>
          <p:cNvPr id="106" name="Text 102"/>
          <p:cNvSpPr txBox="1"/>
          <p:nvPr/>
        </p:nvSpPr>
        <p:spPr>
          <a:xfrm>
            <a:off x="6419088" y="3328416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★★★★</a:t>
            </a:r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</a:t>
            </a: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 / 5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7552944" y="2871216"/>
            <a:ext cx="1280160" cy="676656"/>
          </a:xfrm>
          <a:prstGeom prst="rect">
            <a:avLst/>
          </a:prstGeom>
          <a:solidFill>
            <a:srgbClr val="FFF4D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7607808" y="2871216"/>
            <a:ext cx="1170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7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Weak evidence is shown as weak, never hidden — and we say so when a citation is not yet re-verified.</a:t>
            </a:r>
            <a:endParaRPr lang="en-US" sz="680" dirty="0"/>
          </a:p>
        </p:txBody>
      </p:sp>
      <p:sp>
        <p:nvSpPr>
          <p:cNvPr id="109" name="Shape 105"/>
          <p:cNvSpPr/>
          <p:nvPr/>
        </p:nvSpPr>
        <p:spPr>
          <a:xfrm>
            <a:off x="3310128" y="3547872"/>
            <a:ext cx="896112" cy="676656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10" name="Text 106"/>
          <p:cNvSpPr txBox="1"/>
          <p:nvPr/>
        </p:nvSpPr>
        <p:spPr>
          <a:xfrm>
            <a:off x="3364992" y="3547872"/>
            <a:ext cx="786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report to Ministry</a:t>
            </a:r>
            <a:endParaRPr lang="en-US" sz="800" dirty="0"/>
          </a:p>
        </p:txBody>
      </p:sp>
      <p:sp>
        <p:nvSpPr>
          <p:cNvPr id="111" name="Shape 107"/>
          <p:cNvSpPr/>
          <p:nvPr/>
        </p:nvSpPr>
        <p:spPr>
          <a:xfrm>
            <a:off x="4206240" y="3547872"/>
            <a:ext cx="1078992" cy="676656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12" name="Text 108"/>
          <p:cNvSpPr txBox="1"/>
          <p:nvPr/>
        </p:nvSpPr>
        <p:spPr>
          <a:xfrm>
            <a:off x="4261104" y="3584448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reporting</a:t>
            </a:r>
            <a:endParaRPr lang="en-US" sz="680" dirty="0"/>
          </a:p>
        </p:txBody>
      </p:sp>
      <p:sp>
        <p:nvSpPr>
          <p:cNvPr id="113" name="Text 109"/>
          <p:cNvSpPr txBox="1"/>
          <p:nvPr/>
        </p:nvSpPr>
        <p:spPr>
          <a:xfrm>
            <a:off x="4261104" y="400507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☆☆☆☆</a:t>
            </a: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 / 5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5285232" y="3547872"/>
            <a:ext cx="1078992" cy="676656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15" name="Text 111"/>
          <p:cNvSpPr txBox="1"/>
          <p:nvPr/>
        </p:nvSpPr>
        <p:spPr>
          <a:xfrm>
            <a:off x="5340096" y="3584448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reporting</a:t>
            </a:r>
            <a:endParaRPr lang="en-US" sz="680" dirty="0"/>
          </a:p>
        </p:txBody>
      </p:sp>
      <p:sp>
        <p:nvSpPr>
          <p:cNvPr id="116" name="Text 112"/>
          <p:cNvSpPr txBox="1"/>
          <p:nvPr/>
        </p:nvSpPr>
        <p:spPr>
          <a:xfrm>
            <a:off x="5340096" y="400507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☆☆☆☆</a:t>
            </a: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 / 5</a:t>
            </a:r>
            <a:endParaRPr lang="en-US" sz="900" dirty="0"/>
          </a:p>
        </p:txBody>
      </p:sp>
      <p:sp>
        <p:nvSpPr>
          <p:cNvPr id="117" name="Shape 113"/>
          <p:cNvSpPr/>
          <p:nvPr/>
        </p:nvSpPr>
        <p:spPr>
          <a:xfrm>
            <a:off x="6364224" y="3547872"/>
            <a:ext cx="1188720" cy="676656"/>
          </a:xfrm>
          <a:prstGeom prst="rect">
            <a:avLst/>
          </a:prstGeom>
          <a:solidFill>
            <a:srgbClr val="E8F3E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18" name="Text 114"/>
          <p:cNvSpPr txBox="1"/>
          <p:nvPr/>
        </p:nvSpPr>
        <p:spPr>
          <a:xfrm>
            <a:off x="6419088" y="358444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2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One-tap report in Ministry of Ayush format</a:t>
            </a:r>
            <a:endParaRPr lang="en-US" sz="680" dirty="0"/>
          </a:p>
        </p:txBody>
      </p:sp>
      <p:sp>
        <p:nvSpPr>
          <p:cNvPr id="119" name="Text 115"/>
          <p:cNvSpPr txBox="1"/>
          <p:nvPr/>
        </p:nvSpPr>
        <p:spPr>
          <a:xfrm>
            <a:off x="6419088" y="400507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★★★★★</a:t>
            </a:r>
            <a:pPr indent="0" marL="0">
              <a:buNone/>
            </a:pPr>
            <a:pPr indent="0" marL="0">
              <a:buNone/>
            </a:pPr>
            <a:r>
              <a:rPr lang="en-US" sz="700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 / 5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7552944" y="3547872"/>
            <a:ext cx="1280160" cy="676656"/>
          </a:xfrm>
          <a:prstGeom prst="rect">
            <a:avLst/>
          </a:prstGeom>
          <a:solidFill>
            <a:srgbClr val="FFF4D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21" name="Text 117"/>
          <p:cNvSpPr txBox="1"/>
          <p:nvPr/>
        </p:nvSpPr>
        <p:spPr>
          <a:xfrm>
            <a:off x="7607808" y="3547872"/>
            <a:ext cx="1170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7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Feeds the Ayush pharmacovigilance network.</a:t>
            </a:r>
            <a:endParaRPr lang="en-US" sz="680" dirty="0"/>
          </a:p>
        </p:txBody>
      </p:sp>
      <p:sp>
        <p:nvSpPr>
          <p:cNvPr id="122" name="Shape 118"/>
          <p:cNvSpPr/>
          <p:nvPr/>
        </p:nvSpPr>
        <p:spPr>
          <a:xfrm>
            <a:off x="3310128" y="4224528"/>
            <a:ext cx="896112" cy="457200"/>
          </a:xfrm>
          <a:prstGeom prst="rect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23" name="Text 119"/>
          <p:cNvSpPr txBox="1"/>
          <p:nvPr/>
        </p:nvSpPr>
        <p:spPr>
          <a:xfrm>
            <a:off x="3364992" y="422452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RATING</a:t>
            </a:r>
            <a:endParaRPr lang="en-US" sz="750" dirty="0"/>
          </a:p>
        </p:txBody>
      </p:sp>
      <p:sp>
        <p:nvSpPr>
          <p:cNvPr id="124" name="Shape 120"/>
          <p:cNvSpPr/>
          <p:nvPr/>
        </p:nvSpPr>
        <p:spPr>
          <a:xfrm>
            <a:off x="4206240" y="4224528"/>
            <a:ext cx="1078992" cy="457200"/>
          </a:xfrm>
          <a:prstGeom prst="rect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25" name="Text 121"/>
          <p:cNvSpPr txBox="1"/>
          <p:nvPr/>
        </p:nvSpPr>
        <p:spPr>
          <a:xfrm>
            <a:off x="4261104" y="4242816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Medscape  2.3 / 5</a:t>
            </a:r>
            <a:endParaRPr lang="en-US" sz="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pPr algn="ctr" indent="0" marL="0">
              <a:buNone/>
            </a:pPr>
            <a:r>
              <a:rPr lang="en-US" sz="11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☆☆☆</a:t>
            </a:r>
            <a:endParaRPr lang="en-US" sz="800" dirty="0"/>
          </a:p>
        </p:txBody>
      </p:sp>
      <p:sp>
        <p:nvSpPr>
          <p:cNvPr id="126" name="Shape 122"/>
          <p:cNvSpPr/>
          <p:nvPr/>
        </p:nvSpPr>
        <p:spPr>
          <a:xfrm>
            <a:off x="5285232" y="4224528"/>
            <a:ext cx="1078992" cy="457200"/>
          </a:xfrm>
          <a:prstGeom prst="rect">
            <a:avLst/>
          </a:prstGeom>
          <a:solidFill>
            <a:srgbClr val="1F3B73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27" name="Text 123"/>
          <p:cNvSpPr txBox="1"/>
          <p:nvPr/>
        </p:nvSpPr>
        <p:spPr>
          <a:xfrm>
            <a:off x="5340096" y="4242816"/>
            <a:ext cx="9692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MSKCC  2.0 / 5</a:t>
            </a:r>
            <a:endParaRPr lang="en-US" sz="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</a:t>
            </a:r>
            <a:pPr algn="ctr" indent="0" marL="0">
              <a:buNone/>
            </a:pPr>
            <a:r>
              <a:rPr lang="en-US" sz="1100" dirty="0">
                <a:solidFill>
                  <a:srgbClr val="C9CDD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☆☆☆</a:t>
            </a:r>
            <a:endParaRPr lang="en-US" sz="800" dirty="0"/>
          </a:p>
        </p:txBody>
      </p:sp>
      <p:sp>
        <p:nvSpPr>
          <p:cNvPr id="128" name="Shape 124"/>
          <p:cNvSpPr/>
          <p:nvPr/>
        </p:nvSpPr>
        <p:spPr>
          <a:xfrm>
            <a:off x="6364224" y="4224528"/>
            <a:ext cx="11887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9" name="Text 125"/>
          <p:cNvSpPr txBox="1"/>
          <p:nvPr/>
        </p:nvSpPr>
        <p:spPr>
          <a:xfrm>
            <a:off x="6419088" y="424281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 4.8 / 5</a:t>
            </a:r>
            <a:endParaRPr lang="en-US" sz="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★★★★★</a:t>
            </a:r>
            <a:pPr algn="ctr" indent="0" marL="0">
              <a:buNone/>
            </a:pPr>
            <a:endParaRPr lang="en-US" sz="800" dirty="0"/>
          </a:p>
        </p:txBody>
      </p:sp>
      <p:sp>
        <p:nvSpPr>
          <p:cNvPr id="130" name="Shape 126"/>
          <p:cNvSpPr/>
          <p:nvPr/>
        </p:nvSpPr>
        <p:spPr>
          <a:xfrm>
            <a:off x="7552944" y="4224528"/>
            <a:ext cx="1280160" cy="457200"/>
          </a:xfrm>
          <a:prstGeom prst="rect">
            <a:avLst/>
          </a:prstGeom>
          <a:solidFill>
            <a:srgbClr val="C77B16"/>
          </a:solidFill>
          <a:ln w="12700">
            <a:solidFill>
              <a:srgbClr val="C77B16"/>
            </a:solidFill>
            <a:prstDash val="solid"/>
          </a:ln>
        </p:spPr>
      </p:sp>
      <p:sp>
        <p:nvSpPr>
          <p:cNvPr id="131" name="Text 127"/>
          <p:cNvSpPr txBox="1"/>
          <p:nvPr/>
        </p:nvSpPr>
        <p:spPr>
          <a:xfrm>
            <a:off x="7607808" y="422452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scores 2.5 points higher than the best alternative.</a:t>
            </a:r>
            <a:endParaRPr lang="en-US" sz="700" dirty="0"/>
          </a:p>
        </p:txBody>
      </p:sp>
      <p:sp>
        <p:nvSpPr>
          <p:cNvPr id="132" name="Text 128"/>
          <p:cNvSpPr txBox="1"/>
          <p:nvPr/>
        </p:nvSpPr>
        <p:spPr>
          <a:xfrm>
            <a:off x="3310128" y="4727448"/>
            <a:ext cx="5522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5E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out of 5 are the team's assessment on the four features compared (sourced = 4, +1 with evidence grade · partly = 3 · single herb = 2 · none = 1). TakeSure takes 4/5 on Sources deliberately: every citation stays marked “needs verification” until a second reviewer re-opens the DOI/PMID.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2026-10-04T10:20:56Z</dcterms:created>
  <dcterms:modified xsi:type="dcterms:W3CDTF">2026-10-04T10:20:56Z</dcterms:modified>
</cp:coreProperties>
</file>