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two systems, nobody checks; three examples; nobody asks or tells; existing tools miss Indian products. Four statistics. Three user groups: patients, clinicians/pharmacies, regulators.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features: Scan, Match, Decide, Explain, Report. Novelty: verdict from data, AI only explains; the bridge table nobody has built. Right: the project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AI layers; rules decide the verdict; why no trained classifier.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left; eight architecture blocks right; three flow notes: verdict path, AI guardrail, privacy.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TinyFish jobs, where each lands, implementation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feasibility boxes; six risks with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USPs, four revenue lines, four beneficiaries, three impact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with justification; market sizing from public figures; three-year conservative path.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and the 24-hour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references with live links; honest comparison with existing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pubmed.ncbi.nlm.nih.gov/28829155/" TargetMode="External"/><Relationship Id="rId2" Type="http://schemas.openxmlformats.org/officeDocument/2006/relationships/hyperlink" Target="https://doi.org/10.4103/0253-7613.33432" TargetMode="External"/><Relationship Id="rId3" Type="http://schemas.openxmlformats.org/officeDocument/2006/relationships/hyperlink" Target="https://www.jcdr.net/articles/PDF/576/501.pdf" TargetMode="External"/><Relationship Id="rId4" Type="http://schemas.openxmlformats.org/officeDocument/2006/relationships/hyperlink" Target="https://doi.org/10.1515/dmdi-2013-0014" TargetMode="External"/><Relationship Id="rId5" Type="http://schemas.openxmlformats.org/officeDocument/2006/relationships/hyperlink" Target="https://www.mospi.gov.in/sites/default/files/press_release/PressNote_Ayush_13062024N.pdf" TargetMode="External"/><Relationship Id="rId6" Type="http://schemas.openxmlformats.org/officeDocument/2006/relationships/hyperlink" Target="https://suraksha.ayush.gov.in/" TargetMode="External"/><Relationship Id="rId7" Type="http://schemas.openxmlformats.org/officeDocument/2006/relationships/hyperlink" Target="https://itra.ac.in/pharmacovigilance" TargetMode="External"/><Relationship Id="rId8" Type="http://schemas.openxmlformats.org/officeDocument/2006/relationships/hyperlink" Target="https://github.com/tesseract-ocr/tesseract" TargetMode="External"/><Relationship Id="rId9" Type="http://schemas.openxmlformats.org/officeDocument/2006/relationships/hyperlink" Target="https://docs.tinyfish.ai/" TargetMode="Externa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KRITICAL HACKS 2026</a:t>
            </a:r>
            <a:endParaRPr lang="en-US" sz="2400" dirty="0"/>
          </a:p>
        </p:txBody>
      </p:sp>
      <p:pic>
        <p:nvPicPr>
          <p:cNvPr id="5" name="Image 0" descr="C:/Temp/bvp/logo/out/B_mark_transpar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73152"/>
            <a:ext cx="86868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874520" y="56692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Delhi · AI/ML Track (Open Innovation) · Student category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228600" y="960120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65760" y="114300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Title :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148840" y="1143000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— Confidence before taking something.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Ayurveda × Allopathy herb–drug interaction checker: photo of prescription + photo of product → sourced, plain-language safety verdict + Ministry of Ayush ADR report.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365760" y="18013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: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148840" y="1801368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i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Hunters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2203704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 :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148840" y="2203704"/>
            <a:ext cx="6675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Dhriti Garg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Team lead · backend, rule engine, medical research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Shiwani Goyal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Frontend · web app, Hindi/English UI, result card, demo video &amp; pitch</a:t>
            </a:r>
            <a:endParaRPr lang="en-US" sz="10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Khushi Gupta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Knowledge base &amp; evidence grading, OCR, PDF/ADR export, TinyFish curation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300837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Chosen :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148840" y="3008376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 Track — Open Innovation · Healthcare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3410712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: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148840" y="341071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Mandatory integration implemented — </a:t>
            </a:r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 verifies every citation · Web Agent drafts interaction rows from monographs · Search + Agent map Indian products to herbs. Human-reviewed, off the verdict path.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365760" y="40690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: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148840" y="4069080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prototype: 25 API routes · 49 cited interactions · 78 sources · 58 automated tests · offline-capable.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with the Ministry of Ayush Pharmacovigilance Programme for ASU&amp;H drugs · decision support, never diagnosis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&amp; TARGET AUDIENCE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5577840" cy="27432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557784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777240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WE'RE SOLVING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65760" y="1115568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5760" y="1115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6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109728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runs two medical systems side by side — and nobody checks the combination.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thyroid patient on Thyronorm adds ashwagandha for stress; a transplant patient on tacrolimus drinks giloy kadha; a cardiac patient on warfarin takes guggul for cholesterol. Ashwagandha can raise thyroid hormone, giloy can oppose immunosuppression, guggul can increase bleeding.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365760" y="1975104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1975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6" dirty="0"/>
          </a:p>
        </p:txBody>
      </p:sp>
      <p:sp>
        <p:nvSpPr>
          <p:cNvPr id="17" name="Text 15"/>
          <p:cNvSpPr txBox="1"/>
          <p:nvPr/>
        </p:nvSpPr>
        <p:spPr>
          <a:xfrm>
            <a:off x="713232" y="1956816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allopathic doctor rarely asks, the patient rarely tells, the chemist has no tool,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the product label says nothing about allopathic medicines.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365760" y="2395728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65760" y="2395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36" dirty="0"/>
          </a:p>
        </p:txBody>
      </p:sp>
      <p:sp>
        <p:nvSpPr>
          <p:cNvPr id="20" name="Text 18"/>
          <p:cNvSpPr txBox="1"/>
          <p:nvPr/>
        </p:nvSpPr>
        <p:spPr>
          <a:xfrm>
            <a:off x="713232" y="2377440"/>
            <a:ext cx="4983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checkers (Medscape, Drugs.com, 1mg) only know allopathic × allopathic pairs;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Western herb databases are English-only, paid and do not know Indian brands like Himalaya Ashvagandha or Dabur Giloy Ghanvati.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365760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69264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hospital patients used allopathic + herbal medicines together</a:t>
            </a:r>
            <a:endParaRPr lang="en-US" sz="630" dirty="0"/>
          </a:p>
        </p:txBody>
      </p:sp>
      <p:sp>
        <p:nvSpPr>
          <p:cNvPr id="24" name="Shape 22"/>
          <p:cNvSpPr/>
          <p:nvPr/>
        </p:nvSpPr>
        <p:spPr>
          <a:xfrm>
            <a:off x="1719072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783080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322576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herbal users lacked knowledge of dose, side effects, interactions</a:t>
            </a:r>
            <a:endParaRPr lang="en-US" sz="630" dirty="0"/>
          </a:p>
        </p:txBody>
      </p:sp>
      <p:sp>
        <p:nvSpPr>
          <p:cNvPr id="27" name="Shape 25"/>
          <p:cNvSpPr/>
          <p:nvPr/>
        </p:nvSpPr>
        <p:spPr>
          <a:xfrm>
            <a:off x="3072384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136392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75888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Indian patients disclose herbal use to their doctor</a:t>
            </a:r>
            <a:endParaRPr lang="en-US" sz="630" dirty="0"/>
          </a:p>
        </p:txBody>
      </p:sp>
      <p:sp>
        <p:nvSpPr>
          <p:cNvPr id="30" name="Shape 28"/>
          <p:cNvSpPr/>
          <p:nvPr/>
        </p:nvSpPr>
        <p:spPr>
          <a:xfrm>
            <a:off x="4425696" y="2926080"/>
            <a:ext cx="128016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489704" y="2944368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1,473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0" y="2962656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ASU&amp;H adverse-event reports nationally since 2018</a:t>
            </a:r>
            <a:endParaRPr lang="en-US" sz="63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36118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i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Impacted: patients on thyroid, diabetes, BP/heart, blood-thinner, transplant or epilepsy medicines and their families; doctors who never hear about the co-use; the Ministry's pharmacovigilance network that never receives the reports.</a:t>
            </a:r>
            <a:endParaRPr lang="en-US" sz="760" dirty="0"/>
          </a:p>
        </p:txBody>
      </p:sp>
      <p:sp>
        <p:nvSpPr>
          <p:cNvPr id="34" name="Shape 32"/>
          <p:cNvSpPr/>
          <p:nvPr/>
        </p:nvSpPr>
        <p:spPr>
          <a:xfrm>
            <a:off x="5989320" y="777240"/>
            <a:ext cx="2926080" cy="402336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89320" y="777240"/>
            <a:ext cx="292608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080760" y="7772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26480" y="1143000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123444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0" y="123444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6784848" y="12344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&amp; caregivers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6217920" y="152704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Adults 30–70 on long-term medicines who also take Ayurvedic products; family members managing an elder's medicines; Hindi or English, phone-first.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6126480" y="2331720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17920" y="242316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217920" y="242316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6784848" y="2423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Clinicians &amp; pharmacies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217920" y="271576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MBBS/MD doctors, BAMS vaidyas, hospital pharmacies, retail chemists, telemedicine and hospital-HIS platforms (API).</a:t>
            </a:r>
            <a:endParaRPr lang="en-US" sz="760" dirty="0"/>
          </a:p>
        </p:txBody>
      </p:sp>
      <p:sp>
        <p:nvSpPr>
          <p:cNvPr id="47" name="Shape 45"/>
          <p:cNvSpPr/>
          <p:nvPr/>
        </p:nvSpPr>
        <p:spPr>
          <a:xfrm>
            <a:off x="6126480" y="3520440"/>
            <a:ext cx="2651760" cy="1078992"/>
          </a:xfrm>
          <a:prstGeom prst="roundRect">
            <a:avLst>
              <a:gd name="adj" fmla="val 423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217920" y="3611880"/>
            <a:ext cx="50292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217920" y="3611880"/>
            <a:ext cx="502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</a:t>
            </a:r>
            <a:endParaRPr lang="en-US" sz="850" dirty="0"/>
          </a:p>
        </p:txBody>
      </p:sp>
      <p:sp>
        <p:nvSpPr>
          <p:cNvPr id="50" name="Text 48"/>
          <p:cNvSpPr txBox="1"/>
          <p:nvPr/>
        </p:nvSpPr>
        <p:spPr>
          <a:xfrm>
            <a:off x="6784848" y="3611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Regulators</a:t>
            </a:r>
            <a:endParaRPr lang="en-US" sz="950" dirty="0"/>
          </a:p>
        </p:txBody>
      </p:sp>
      <p:sp>
        <p:nvSpPr>
          <p:cNvPr id="51" name="Text 49"/>
          <p:cNvSpPr txBox="1"/>
          <p:nvPr/>
        </p:nvSpPr>
        <p:spPr>
          <a:xfrm>
            <a:off x="6217920" y="39044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Ayush / NPvCC at AIIA and the 99 Peripheral Pharmacovigilance Centres: structured ICSRs and co-use analytics.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TAKESURE — OUR UNIQUE SOLUTION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731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08" y="1069848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2608" y="1069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6" dirty="0"/>
          </a:p>
        </p:txBody>
      </p:sp>
      <p:sp>
        <p:nvSpPr>
          <p:cNvPr id="12" name="Text 10"/>
          <p:cNvSpPr txBox="1"/>
          <p:nvPr/>
        </p:nvSpPr>
        <p:spPr>
          <a:xfrm>
            <a:off x="621792" y="1051560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 the prescription and the Ayurvedic product label (or type names). OCR reads them; every name is shown for confirmation before anything is checked.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292608" y="1581912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2608" y="15819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6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1563624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→ generic (Thyronorm → levothyroxine), product → herbs (Chyawanprash → amla, ashwagandha…) via a curated bridge dictionary + fuzzy matching.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292608" y="2093976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2608" y="20939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36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2075688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 engine over a cited knowledge base → GREEN / AMBER / RED / NOT IN DATABASE, with timing gaps (e.g. keep 2–3 h between Triphala and oral medicines).</a:t>
            </a:r>
            <a:endParaRPr lang="en-US" sz="860" dirty="0"/>
          </a:p>
        </p:txBody>
      </p:sp>
      <p:sp>
        <p:nvSpPr>
          <p:cNvPr id="19" name="Shape 17"/>
          <p:cNvSpPr/>
          <p:nvPr/>
        </p:nvSpPr>
        <p:spPr>
          <a:xfrm>
            <a:off x="292608" y="2606040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2608" y="2606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36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2587752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rewrites only the matched evidence into simple Hindi/English + 3 questions to ask the doctor. It cannot add, remove or re-grade an interaction.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292608" y="3118104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2608" y="31181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36" dirty="0"/>
          </a:p>
        </p:txBody>
      </p:sp>
      <p:sp>
        <p:nvSpPr>
          <p:cNvPr id="24" name="Text 22"/>
          <p:cNvSpPr txBox="1"/>
          <p:nvPr/>
        </p:nvSpPr>
        <p:spPr>
          <a:xfrm>
            <a:off x="621792" y="309981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— </a:t>
            </a:r>
            <a:pPr indent="0" marL="0">
              <a:buNone/>
            </a:pPr>
            <a:r>
              <a:rPr lang="en-US" sz="8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One-page PDF with sources for the doctor; one-tap suspected-ADR report in the Ministry of Ayush format for the Ayush Suraksha portal.</a:t>
            </a:r>
            <a:endParaRPr lang="en-US" sz="860" dirty="0"/>
          </a:p>
        </p:txBody>
      </p:sp>
      <p:sp>
        <p:nvSpPr>
          <p:cNvPr id="25" name="Text 23"/>
          <p:cNvSpPr txBox="1"/>
          <p:nvPr/>
        </p:nvSpPr>
        <p:spPr>
          <a:xfrm>
            <a:off x="274320" y="3639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Novelty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" y="3913632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“Verdict from published data; AI only explains.” </a:t>
            </a:r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risk level never comes from a language model — it comes from a versioned, cited knowledge-base row. Turn the AI off and the verdict is identical.</a:t>
            </a:r>
            <a:endParaRPr lang="en-US" sz="84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8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bridge table: </a:t>
            </a:r>
            <a:pPr indent="0" marL="0">
              <a:spcAft>
                <a:spcPts val="3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brand names × Ayurvedic herb synonyms (Sanskrit/Hindi/Latin) × graded published evidence — open, auditable, co-curated with Ayurveda colleges.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5715000" y="713232"/>
            <a:ext cx="3200400" cy="4133088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pic>
        <p:nvPicPr>
          <p:cNvPr id="28" name="Image 0" descr="C:/Temp/final-ppt/flowchart_big_tex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749808"/>
            <a:ext cx="2468880" cy="403250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760720" y="7498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workflow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 OF AI / ML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274320" y="74980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everywhere it is safe. Rules in the one place it is dangerous.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078992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" y="117043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113385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124712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5.4 (pre-trained LSTM) reads prescription and label photos after Pillow pre-processing (grayscale, upscale, autocontrast); English + Hindi models. Roadmap: fine-tune on Indian labels and handwriting.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792224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1883664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5760" y="188366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184708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matching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1837944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extraction from messy prescription text; RapidFuzz token matching over a bridge dictionary of Indian brands, generics and Sanskrit/Hindi/Latin synonyms. ≥85 accept, 70–85 ask the user, &lt;70 unrecognised.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2505456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596896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5760" y="2596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25603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Explainer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2551176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Groq-hosted open-weight model (gpt-oss-120b), temperature 0, receives only the matched rows, must return a strict JSON schema; directive language rejected in English and Hindi; knowledge-base fallback. Output: plain-language summary + 3 doctor questions.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3218688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10128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65760" y="33101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AI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645920" y="327355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research assistant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326440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agents fetch citations, read monographs and product pages, and draft knowledge-base rows with sources attached. Human-reviewed. This is how the dataset scales.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3931920"/>
            <a:ext cx="85953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4023360"/>
            <a:ext cx="1143000" cy="457200"/>
          </a:xfrm>
          <a:prstGeom prst="roundRect">
            <a:avLst>
              <a:gd name="adj" fmla="val 10000"/>
            </a:avLst>
          </a:prstGeom>
          <a:solidFill>
            <a:srgbClr val="000000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65760" y="40233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645920" y="398678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engine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397764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rules R1–R5 over cited rows: severity + evidence grade + drug class → GREEN / AMBER / RED / NOT IN DB. Reproducible, auditable, works with every model switched off.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 trained classifier for the verdict: no labelled dataset exists (≈1,473 national reports in 7 years), a classifier cannot explain itself to a doctor or regulator, and medical decision support must be reproducible. Future ML once data exists: OCR fine-tuning on Indian labels, a named-entity model for prescriptions, and a model that ranks under-reported pairs for curation priority.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 STACK + ARCHITECTURE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31520"/>
            <a:ext cx="2926080" cy="4096512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31520"/>
            <a:ext cx="292608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7315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033272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12471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" y="112471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</a:t>
            </a:r>
            <a:endParaRPr lang="en-US" sz="7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105156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78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119786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(React) + TypeScript, Tailwind CSS, Framer Motion · installable PWA · Hindi/English UI</a:t>
            </a:r>
            <a:endParaRPr lang="en-US" sz="610" dirty="0"/>
          </a:p>
        </p:txBody>
      </p:sp>
      <p:sp>
        <p:nvSpPr>
          <p:cNvPr id="17" name="Shape 15"/>
          <p:cNvSpPr/>
          <p:nvPr/>
        </p:nvSpPr>
        <p:spPr>
          <a:xfrm>
            <a:off x="320040" y="1504188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159562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4048" y="159562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</a:t>
            </a:r>
            <a:endParaRPr lang="en-US" sz="7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" y="1522476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78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166878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(Python), Pydantic v2 validation, SQLAlchemy · REST API with typed errors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320040" y="1975104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06654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84048" y="206654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7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" y="199339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780" dirty="0"/>
          </a:p>
        </p:txBody>
      </p:sp>
      <p:sp>
        <p:nvSpPr>
          <p:cNvPr id="26" name="Text 24"/>
          <p:cNvSpPr txBox="1"/>
          <p:nvPr/>
        </p:nvSpPr>
        <p:spPr>
          <a:xfrm>
            <a:off x="786384" y="213969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(Supabase) in production; SQLite for offline/demo · tables: herbs, drugs, products, interactions, sources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320040" y="2446020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2537460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4048" y="2537460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" y="2464308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780" dirty="0"/>
          </a:p>
        </p:txBody>
      </p:sp>
      <p:sp>
        <p:nvSpPr>
          <p:cNvPr id="31" name="Text 29"/>
          <p:cNvSpPr txBox="1"/>
          <p:nvPr/>
        </p:nvSpPr>
        <p:spPr>
          <a:xfrm>
            <a:off x="786384" y="2610612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(eng + hin) on the server; Google Vision / Groq vision model as optional cloud reader</a:t>
            </a:r>
            <a:endParaRPr lang="en-US" sz="610" dirty="0"/>
          </a:p>
        </p:txBody>
      </p:sp>
      <p:sp>
        <p:nvSpPr>
          <p:cNvPr id="32" name="Shape 30"/>
          <p:cNvSpPr/>
          <p:nvPr/>
        </p:nvSpPr>
        <p:spPr>
          <a:xfrm>
            <a:off x="320040" y="2916936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048" y="3008376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84048" y="3008376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FZ</a:t>
            </a:r>
            <a:endParaRPr lang="en-US" sz="7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" y="2935224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Matching</a:t>
            </a:r>
            <a:endParaRPr lang="en-US" sz="780" dirty="0"/>
          </a:p>
        </p:txBody>
      </p:sp>
      <p:sp>
        <p:nvSpPr>
          <p:cNvPr id="36" name="Text 34"/>
          <p:cNvSpPr txBox="1"/>
          <p:nvPr/>
        </p:nvSpPr>
        <p:spPr>
          <a:xfrm>
            <a:off x="786384" y="308152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RapidFuzz token-set matching; ≥85 accept, 70–85 ask the user, &lt;70 not recognised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320040" y="3387852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84048" y="3479292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4048" y="347929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700" dirty="0"/>
          </a:p>
        </p:txBody>
      </p:sp>
      <p:sp>
        <p:nvSpPr>
          <p:cNvPr id="40" name="Text 38"/>
          <p:cNvSpPr txBox="1"/>
          <p:nvPr/>
        </p:nvSpPr>
        <p:spPr>
          <a:xfrm>
            <a:off x="786384" y="340614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explainer</a:t>
            </a:r>
            <a:endParaRPr lang="en-US" sz="780" dirty="0"/>
          </a:p>
        </p:txBody>
      </p:sp>
      <p:sp>
        <p:nvSpPr>
          <p:cNvPr id="41" name="Text 39"/>
          <p:cNvSpPr txBox="1"/>
          <p:nvPr/>
        </p:nvSpPr>
        <p:spPr>
          <a:xfrm>
            <a:off x="786384" y="3552444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API (Llama / GPT-OSS) with JSON-schema output, temperature 0, facts-only prompt, fallback text</a:t>
            </a:r>
            <a:endParaRPr lang="en-US" sz="610" dirty="0"/>
          </a:p>
        </p:txBody>
      </p:sp>
      <p:sp>
        <p:nvSpPr>
          <p:cNvPr id="42" name="Shape 40"/>
          <p:cNvSpPr/>
          <p:nvPr/>
        </p:nvSpPr>
        <p:spPr>
          <a:xfrm>
            <a:off x="320040" y="3858768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4048" y="3950208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84048" y="3950208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700" dirty="0"/>
          </a:p>
        </p:txBody>
      </p:sp>
      <p:sp>
        <p:nvSpPr>
          <p:cNvPr id="45" name="Text 43"/>
          <p:cNvSpPr txBox="1"/>
          <p:nvPr/>
        </p:nvSpPr>
        <p:spPr>
          <a:xfrm>
            <a:off x="786384" y="3877056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hosting</a:t>
            </a:r>
            <a:endParaRPr lang="en-US" sz="780" dirty="0"/>
          </a:p>
        </p:txBody>
      </p:sp>
      <p:sp>
        <p:nvSpPr>
          <p:cNvPr id="46" name="Text 44"/>
          <p:cNvSpPr txBox="1"/>
          <p:nvPr/>
        </p:nvSpPr>
        <p:spPr>
          <a:xfrm>
            <a:off x="786384" y="4023360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ReportLab for doctor summary + ADR form · Vercel (web) + Render/Railway (API)</a:t>
            </a:r>
            <a:endParaRPr lang="en-US" sz="610" dirty="0"/>
          </a:p>
        </p:txBody>
      </p:sp>
      <p:sp>
        <p:nvSpPr>
          <p:cNvPr id="47" name="Shape 45"/>
          <p:cNvSpPr/>
          <p:nvPr/>
        </p:nvSpPr>
        <p:spPr>
          <a:xfrm>
            <a:off x="320040" y="4329684"/>
            <a:ext cx="2743200" cy="438912"/>
          </a:xfrm>
          <a:prstGeom prst="roundRect">
            <a:avLst>
              <a:gd name="adj" fmla="val 1041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4048" y="4421124"/>
            <a:ext cx="329184" cy="256032"/>
          </a:xfrm>
          <a:prstGeom prst="roundRect">
            <a:avLst>
              <a:gd name="adj" fmla="val 17857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84048" y="4421124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</a:t>
            </a:r>
            <a:endParaRPr lang="en-US" sz="700" dirty="0"/>
          </a:p>
        </p:txBody>
      </p:sp>
      <p:sp>
        <p:nvSpPr>
          <p:cNvPr id="50" name="Text 48"/>
          <p:cNvSpPr txBox="1"/>
          <p:nvPr/>
        </p:nvSpPr>
        <p:spPr>
          <a:xfrm>
            <a:off x="786384" y="4347972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curation</a:t>
            </a:r>
            <a:endParaRPr lang="en-US" sz="780" dirty="0"/>
          </a:p>
        </p:txBody>
      </p:sp>
      <p:sp>
        <p:nvSpPr>
          <p:cNvPr id="51" name="Text 49"/>
          <p:cNvSpPr txBox="1"/>
          <p:nvPr/>
        </p:nvSpPr>
        <p:spPr>
          <a:xfrm>
            <a:off x="786384" y="4494276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verifies citations · Web Agent drafts rows from monographs · Search+Agent map products → human-approved drafts</a:t>
            </a:r>
            <a:endParaRPr lang="en-US" sz="610" dirty="0"/>
          </a:p>
        </p:txBody>
      </p:sp>
      <p:sp>
        <p:nvSpPr>
          <p:cNvPr id="52" name="Shape 50"/>
          <p:cNvSpPr/>
          <p:nvPr/>
        </p:nvSpPr>
        <p:spPr>
          <a:xfrm>
            <a:off x="3291840" y="731520"/>
            <a:ext cx="5623560" cy="4096512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91840" y="731520"/>
            <a:ext cx="562356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383280" y="731520"/>
            <a:ext cx="5440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401568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465576" y="109728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465576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64" dirty="0"/>
          </a:p>
        </p:txBody>
      </p:sp>
      <p:sp>
        <p:nvSpPr>
          <p:cNvPr id="58" name="Text 56"/>
          <p:cNvSpPr txBox="1"/>
          <p:nvPr/>
        </p:nvSpPr>
        <p:spPr>
          <a:xfrm>
            <a:off x="3730752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</a:t>
            </a:r>
            <a:endParaRPr lang="en-US" sz="760" dirty="0"/>
          </a:p>
        </p:txBody>
      </p:sp>
      <p:sp>
        <p:nvSpPr>
          <p:cNvPr id="59" name="Text 57"/>
          <p:cNvSpPr txBox="1"/>
          <p:nvPr/>
        </p:nvSpPr>
        <p:spPr>
          <a:xfrm>
            <a:off x="3465576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Prescription + product label photos, or typed names</a:t>
            </a:r>
            <a:endParaRPr lang="en-US" sz="630" dirty="0"/>
          </a:p>
        </p:txBody>
      </p:sp>
      <p:sp>
        <p:nvSpPr>
          <p:cNvPr id="60" name="Shape 58"/>
          <p:cNvSpPr/>
          <p:nvPr/>
        </p:nvSpPr>
        <p:spPr>
          <a:xfrm>
            <a:off x="4764024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28032" y="109728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828032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64" dirty="0"/>
          </a:p>
        </p:txBody>
      </p:sp>
      <p:sp>
        <p:nvSpPr>
          <p:cNvPr id="63" name="Text 61"/>
          <p:cNvSpPr txBox="1"/>
          <p:nvPr/>
        </p:nvSpPr>
        <p:spPr>
          <a:xfrm>
            <a:off x="5093208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</a:t>
            </a:r>
            <a:endParaRPr lang="en-US" sz="760" dirty="0"/>
          </a:p>
        </p:txBody>
      </p:sp>
      <p:sp>
        <p:nvSpPr>
          <p:cNvPr id="64" name="Text 62"/>
          <p:cNvSpPr txBox="1"/>
          <p:nvPr/>
        </p:nvSpPr>
        <p:spPr>
          <a:xfrm>
            <a:off x="4828032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Tesseract eng+hin / vision model · file deleted after read</a:t>
            </a:r>
            <a:endParaRPr lang="en-US" sz="630" dirty="0"/>
          </a:p>
        </p:txBody>
      </p:sp>
      <p:sp>
        <p:nvSpPr>
          <p:cNvPr id="65" name="Shape 63"/>
          <p:cNvSpPr/>
          <p:nvPr/>
        </p:nvSpPr>
        <p:spPr>
          <a:xfrm>
            <a:off x="6126480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190488" y="109728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190488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64" dirty="0"/>
          </a:p>
        </p:txBody>
      </p:sp>
      <p:sp>
        <p:nvSpPr>
          <p:cNvPr id="68" name="Text 66"/>
          <p:cNvSpPr txBox="1"/>
          <p:nvPr/>
        </p:nvSpPr>
        <p:spPr>
          <a:xfrm>
            <a:off x="6455664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</a:t>
            </a:r>
            <a:endParaRPr lang="en-US" sz="760" dirty="0"/>
          </a:p>
        </p:txBody>
      </p:sp>
      <p:sp>
        <p:nvSpPr>
          <p:cNvPr id="69" name="Text 67"/>
          <p:cNvSpPr txBox="1"/>
          <p:nvPr/>
        </p:nvSpPr>
        <p:spPr>
          <a:xfrm>
            <a:off x="6190488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RapidFuzz · brand→generic · product→herbs · user confirms</a:t>
            </a:r>
            <a:endParaRPr lang="en-US" sz="630" dirty="0"/>
          </a:p>
        </p:txBody>
      </p:sp>
      <p:sp>
        <p:nvSpPr>
          <p:cNvPr id="70" name="Shape 68"/>
          <p:cNvSpPr/>
          <p:nvPr/>
        </p:nvSpPr>
        <p:spPr>
          <a:xfrm>
            <a:off x="7488936" y="10332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52944" y="1097280"/>
            <a:ext cx="219456" cy="2194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552944" y="1097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64" dirty="0"/>
          </a:p>
        </p:txBody>
      </p:sp>
      <p:sp>
        <p:nvSpPr>
          <p:cNvPr id="73" name="Text 71"/>
          <p:cNvSpPr txBox="1"/>
          <p:nvPr/>
        </p:nvSpPr>
        <p:spPr>
          <a:xfrm>
            <a:off x="7818120" y="1088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engine (decides)</a:t>
            </a:r>
            <a:endParaRPr lang="en-US" sz="760" dirty="0"/>
          </a:p>
        </p:txBody>
      </p:sp>
      <p:sp>
        <p:nvSpPr>
          <p:cNvPr id="74" name="Text 72"/>
          <p:cNvSpPr txBox="1"/>
          <p:nvPr/>
        </p:nvSpPr>
        <p:spPr>
          <a:xfrm>
            <a:off x="7552944" y="13624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DC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R1–R5: severity + grade → GREEN / AMBER / RED / NOT IN DB</a:t>
            </a:r>
            <a:endParaRPr lang="en-US" sz="630" dirty="0"/>
          </a:p>
        </p:txBody>
      </p:sp>
      <p:sp>
        <p:nvSpPr>
          <p:cNvPr id="75" name="Shape 73"/>
          <p:cNvSpPr/>
          <p:nvPr/>
        </p:nvSpPr>
        <p:spPr>
          <a:xfrm>
            <a:off x="3401568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465576" y="201168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3465576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64" dirty="0"/>
          </a:p>
        </p:txBody>
      </p:sp>
      <p:sp>
        <p:nvSpPr>
          <p:cNvPr id="78" name="Text 76"/>
          <p:cNvSpPr txBox="1"/>
          <p:nvPr/>
        </p:nvSpPr>
        <p:spPr>
          <a:xfrm>
            <a:off x="3730752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Explainer (AI)</a:t>
            </a:r>
            <a:endParaRPr lang="en-US" sz="760" dirty="0"/>
          </a:p>
        </p:txBody>
      </p:sp>
      <p:sp>
        <p:nvSpPr>
          <p:cNvPr id="79" name="Text 77"/>
          <p:cNvSpPr txBox="1"/>
          <p:nvPr/>
        </p:nvSpPr>
        <p:spPr>
          <a:xfrm>
            <a:off x="3465576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Groq LLM · matched rows only · JSON schema · cannot change verdict</a:t>
            </a:r>
            <a:endParaRPr lang="en-US" sz="630" dirty="0"/>
          </a:p>
        </p:txBody>
      </p:sp>
      <p:sp>
        <p:nvSpPr>
          <p:cNvPr id="80" name="Shape 78"/>
          <p:cNvSpPr/>
          <p:nvPr/>
        </p:nvSpPr>
        <p:spPr>
          <a:xfrm>
            <a:off x="4764024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828032" y="201168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4828032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64" dirty="0"/>
          </a:p>
        </p:txBody>
      </p:sp>
      <p:sp>
        <p:nvSpPr>
          <p:cNvPr id="83" name="Text 81"/>
          <p:cNvSpPr txBox="1"/>
          <p:nvPr/>
        </p:nvSpPr>
        <p:spPr>
          <a:xfrm>
            <a:off x="5093208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760" dirty="0"/>
          </a:p>
        </p:txBody>
      </p:sp>
      <p:sp>
        <p:nvSpPr>
          <p:cNvPr id="84" name="Text 82"/>
          <p:cNvSpPr txBox="1"/>
          <p:nvPr/>
        </p:nvSpPr>
        <p:spPr>
          <a:xfrm>
            <a:off x="4828032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card (Hindi/English) · doctor PDF · ADR report</a:t>
            </a:r>
            <a:endParaRPr lang="en-US" sz="630" dirty="0"/>
          </a:p>
        </p:txBody>
      </p:sp>
      <p:sp>
        <p:nvSpPr>
          <p:cNvPr id="85" name="Shape 83"/>
          <p:cNvSpPr/>
          <p:nvPr/>
        </p:nvSpPr>
        <p:spPr>
          <a:xfrm>
            <a:off x="6126480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90488" y="201168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6190488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64" dirty="0"/>
          </a:p>
        </p:txBody>
      </p:sp>
      <p:sp>
        <p:nvSpPr>
          <p:cNvPr id="88" name="Text 86"/>
          <p:cNvSpPr txBox="1"/>
          <p:nvPr/>
        </p:nvSpPr>
        <p:spPr>
          <a:xfrm>
            <a:off x="6455664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Anonymised log</a:t>
            </a:r>
            <a:endParaRPr lang="en-US" sz="760" dirty="0"/>
          </a:p>
        </p:txBody>
      </p:sp>
      <p:sp>
        <p:nvSpPr>
          <p:cNvPr id="89" name="Text 87"/>
          <p:cNvSpPr txBox="1"/>
          <p:nvPr/>
        </p:nvSpPr>
        <p:spPr>
          <a:xfrm>
            <a:off x="6190488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+ verdict + state → dashboard for Ministry / NPvCC</a:t>
            </a:r>
            <a:endParaRPr lang="en-US" sz="630" dirty="0"/>
          </a:p>
        </p:txBody>
      </p:sp>
      <p:sp>
        <p:nvSpPr>
          <p:cNvPr id="90" name="Shape 88"/>
          <p:cNvSpPr/>
          <p:nvPr/>
        </p:nvSpPr>
        <p:spPr>
          <a:xfrm>
            <a:off x="7488936" y="1947672"/>
            <a:ext cx="1280160" cy="841248"/>
          </a:xfrm>
          <a:prstGeom prst="roundRect">
            <a:avLst>
              <a:gd name="adj" fmla="val 5435"/>
            </a:avLst>
          </a:prstGeom>
          <a:solidFill>
            <a:srgbClr val="FFF4DC"/>
          </a:solidFill>
          <a:ln w="9525">
            <a:solidFill>
              <a:srgbClr val="FFF4D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552944" y="201168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552944" y="20116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64" dirty="0"/>
          </a:p>
        </p:txBody>
      </p:sp>
      <p:sp>
        <p:nvSpPr>
          <p:cNvPr id="93" name="Text 91"/>
          <p:cNvSpPr txBox="1"/>
          <p:nvPr/>
        </p:nvSpPr>
        <p:spPr>
          <a:xfrm>
            <a:off x="7818120" y="20025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760" dirty="0"/>
          </a:p>
        </p:txBody>
      </p:sp>
      <p:sp>
        <p:nvSpPr>
          <p:cNvPr id="94" name="Text 92"/>
          <p:cNvSpPr txBox="1"/>
          <p:nvPr/>
        </p:nvSpPr>
        <p:spPr>
          <a:xfrm>
            <a:off x="7552944" y="2276856"/>
            <a:ext cx="116128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/ SQLite · herb × drug rows: severity, grade A/B/C, timing, DOI/PMID</a:t>
            </a:r>
            <a:endParaRPr lang="en-US" sz="630" dirty="0"/>
          </a:p>
        </p:txBody>
      </p:sp>
      <p:sp>
        <p:nvSpPr>
          <p:cNvPr id="95" name="Text 93"/>
          <p:cNvSpPr txBox="1"/>
          <p:nvPr/>
        </p:nvSpPr>
        <p:spPr>
          <a:xfrm>
            <a:off x="3401568" y="29260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401568" y="3154680"/>
            <a:ext cx="1298448" cy="1572768"/>
          </a:xfrm>
          <a:prstGeom prst="roundRect">
            <a:avLst>
              <a:gd name="adj" fmla="val 35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65576" y="3218688"/>
            <a:ext cx="201168" cy="201168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3465576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92" dirty="0"/>
          </a:p>
        </p:txBody>
      </p:sp>
      <p:sp>
        <p:nvSpPr>
          <p:cNvPr id="99" name="Text 97"/>
          <p:cNvSpPr txBox="1"/>
          <p:nvPr/>
        </p:nvSpPr>
        <p:spPr>
          <a:xfrm>
            <a:off x="3694176" y="32004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path</a:t>
            </a:r>
            <a:endParaRPr lang="en-US" sz="720" dirty="0"/>
          </a:p>
        </p:txBody>
      </p:sp>
      <p:sp>
        <p:nvSpPr>
          <p:cNvPr id="100" name="Text 98"/>
          <p:cNvSpPr txBox="1"/>
          <p:nvPr/>
        </p:nvSpPr>
        <p:spPr>
          <a:xfrm>
            <a:off x="3474720" y="3474720"/>
            <a:ext cx="11704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→ OCR text → candidate names → user confirms → rule engine looks up every herb × medicine pair → worst row wins (RED &gt; AMBER &gt; GREEN; unknown is never GREEN).</a:t>
            </a:r>
            <a:endParaRPr lang="en-US" sz="610" dirty="0"/>
          </a:p>
        </p:txBody>
      </p:sp>
      <p:sp>
        <p:nvSpPr>
          <p:cNvPr id="101" name="Shape 99"/>
          <p:cNvSpPr/>
          <p:nvPr/>
        </p:nvSpPr>
        <p:spPr>
          <a:xfrm>
            <a:off x="4773168" y="3154680"/>
            <a:ext cx="1298448" cy="1572768"/>
          </a:xfrm>
          <a:prstGeom prst="roundRect">
            <a:avLst>
              <a:gd name="adj" fmla="val 35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837176" y="3218688"/>
            <a:ext cx="201168" cy="201168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837176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92" dirty="0"/>
          </a:p>
        </p:txBody>
      </p:sp>
      <p:sp>
        <p:nvSpPr>
          <p:cNvPr id="104" name="Text 102"/>
          <p:cNvSpPr txBox="1"/>
          <p:nvPr/>
        </p:nvSpPr>
        <p:spPr>
          <a:xfrm>
            <a:off x="5065776" y="32004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guardrail</a:t>
            </a:r>
            <a:endParaRPr lang="en-US" sz="720" dirty="0"/>
          </a:p>
        </p:txBody>
      </p:sp>
      <p:sp>
        <p:nvSpPr>
          <p:cNvPr id="105" name="Text 103"/>
          <p:cNvSpPr txBox="1"/>
          <p:nvPr/>
        </p:nvSpPr>
        <p:spPr>
          <a:xfrm>
            <a:off x="4846320" y="3474720"/>
            <a:ext cx="11704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matched rows go to the LLM, which returns {summary_hi, summary_en, timing_gap, doctor_questions[3]}; invalid or directive output is rejected and the knowledge-base text is shown instead.</a:t>
            </a:r>
            <a:endParaRPr lang="en-US" sz="610" dirty="0"/>
          </a:p>
        </p:txBody>
      </p:sp>
      <p:sp>
        <p:nvSpPr>
          <p:cNvPr id="106" name="Shape 104"/>
          <p:cNvSpPr/>
          <p:nvPr/>
        </p:nvSpPr>
        <p:spPr>
          <a:xfrm>
            <a:off x="6144768" y="3154680"/>
            <a:ext cx="1298448" cy="1572768"/>
          </a:xfrm>
          <a:prstGeom prst="roundRect">
            <a:avLst>
              <a:gd name="adj" fmla="val 35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208776" y="3218688"/>
            <a:ext cx="201168" cy="201168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6208776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92" dirty="0"/>
          </a:p>
        </p:txBody>
      </p:sp>
      <p:sp>
        <p:nvSpPr>
          <p:cNvPr id="109" name="Text 107"/>
          <p:cNvSpPr txBox="1"/>
          <p:nvPr/>
        </p:nvSpPr>
        <p:spPr>
          <a:xfrm>
            <a:off x="6437376" y="32004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720" dirty="0"/>
          </a:p>
        </p:txBody>
      </p:sp>
      <p:sp>
        <p:nvSpPr>
          <p:cNvPr id="110" name="Text 108"/>
          <p:cNvSpPr txBox="1"/>
          <p:nvPr/>
        </p:nvSpPr>
        <p:spPr>
          <a:xfrm>
            <a:off x="6217920" y="3474720"/>
            <a:ext cx="11704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 are deleted after extraction; the log stores ids and verdicts only — the basis of the anonymised dashboard for the Ministry of Ayush.</a:t>
            </a:r>
            <a:endParaRPr lang="en-US" sz="610" dirty="0"/>
          </a:p>
        </p:txBody>
      </p:sp>
      <p:sp>
        <p:nvSpPr>
          <p:cNvPr id="111" name="Shape 109"/>
          <p:cNvSpPr/>
          <p:nvPr/>
        </p:nvSpPr>
        <p:spPr>
          <a:xfrm>
            <a:off x="7516368" y="3154680"/>
            <a:ext cx="1298448" cy="1572768"/>
          </a:xfrm>
          <a:prstGeom prst="roundRect">
            <a:avLst>
              <a:gd name="adj" fmla="val 3521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80376" y="3218688"/>
            <a:ext cx="201168" cy="20116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580376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92" dirty="0"/>
          </a:p>
        </p:txBody>
      </p:sp>
      <p:sp>
        <p:nvSpPr>
          <p:cNvPr id="114" name="Text 112"/>
          <p:cNvSpPr txBox="1"/>
          <p:nvPr/>
        </p:nvSpPr>
        <p:spPr>
          <a:xfrm>
            <a:off x="7808976" y="320040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Curation loop (TinyFish)</a:t>
            </a:r>
            <a:endParaRPr lang="en-US" sz="720" dirty="0"/>
          </a:p>
        </p:txBody>
      </p:sp>
      <p:sp>
        <p:nvSpPr>
          <p:cNvPr id="115" name="Text 113"/>
          <p:cNvSpPr txBox="1"/>
          <p:nvPr/>
        </p:nvSpPr>
        <p:spPr>
          <a:xfrm>
            <a:off x="7589520" y="3474720"/>
            <a:ext cx="1170432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from verdicts: Fetch verifies citations, the Web Agent drafts rows from monographs, Search+Agent map products. Every draft keeps its source URL and run id and waits for a reviewer.</a:t>
            </a:r>
            <a:endParaRPr lang="en-US" sz="61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TINYFISH INTEGRATION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Functional in the prototype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8686800" cy="4572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7772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is TakeSure's research assistant. </a:t>
            </a:r>
            <a:pPr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opens the references, reads monographs and product pages, and drafts knowledge-base rows with the source attached. Reviewers approve every row. The verdict path never touches the live web — that is a safety rule, not a limitation.</a:t>
            </a:r>
            <a:endParaRPr lang="en-US" sz="840" dirty="0"/>
          </a:p>
        </p:txBody>
      </p:sp>
      <p:sp>
        <p:nvSpPr>
          <p:cNvPr id="11" name="Shape 9"/>
          <p:cNvSpPr/>
          <p:nvPr/>
        </p:nvSpPr>
        <p:spPr>
          <a:xfrm>
            <a:off x="228600" y="1298448"/>
            <a:ext cx="4846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371600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0040" y="137160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API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citations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320040" y="1627632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stages: Fetch the resolved page; Fetch the Crossref record for bot-blocked DOIs; Search the title for sources without a locator. ≥60% of distinctive title terms matched → verified; otherwise a “mismatch” draft with the best candidate.</a:t>
            </a:r>
            <a:endParaRPr lang="en-US" sz="660" dirty="0"/>
          </a:p>
        </p:txBody>
      </p:sp>
      <p:sp>
        <p:nvSpPr>
          <p:cNvPr id="16" name="Shape 14"/>
          <p:cNvSpPr/>
          <p:nvPr/>
        </p:nvSpPr>
        <p:spPr>
          <a:xfrm>
            <a:off x="5166360" y="1298448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230368" y="1344168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run 19 Oct: 55 of 78 citations verified automatically; 23 listed for review (3 broken links found). Free tier.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228600" y="2084832"/>
            <a:ext cx="4846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157984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20040" y="21579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+ Web Agent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21396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 interaction rows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2414016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the MSKCC About Herbs page (free, 2 s) and extract every clinical bullet naming a drug, class or interaction verb from our drug dictionary; if the static page yields nothing, POST /v1/automation/run-async with a JSON output_schema and poll the run.</a:t>
            </a:r>
            <a:endParaRPr lang="en-US" sz="660" dirty="0"/>
          </a:p>
        </p:txBody>
      </p:sp>
      <p:sp>
        <p:nvSpPr>
          <p:cNvPr id="23" name="Shape 21"/>
          <p:cNvSpPr/>
          <p:nvPr/>
        </p:nvSpPr>
        <p:spPr>
          <a:xfrm>
            <a:off x="5166360" y="2084832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230368" y="2130552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7 candidates for ashwagandha, 4 for turmeric in seconds (Fetch + rules); Web Agent fallback for guggul.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228600" y="2871216"/>
            <a:ext cx="48463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44368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20040" y="294436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+ Agent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2926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Indian products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320040" y="32004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api.search.tinyfish.ai for the product page, then an Agent run extracts the ingredient list with Latin/Sanskrit names; matched to known herbs.</a:t>
            </a:r>
            <a:endParaRPr lang="en-US" sz="660" dirty="0"/>
          </a:p>
        </p:txBody>
      </p:sp>
      <p:sp>
        <p:nvSpPr>
          <p:cNvPr id="30" name="Shape 28"/>
          <p:cNvSpPr/>
          <p:nvPr/>
        </p:nvSpPr>
        <p:spPr>
          <a:xfrm>
            <a:off x="5166360" y="2871216"/>
            <a:ext cx="1600200" cy="713232"/>
          </a:xfrm>
          <a:prstGeom prst="roundRect">
            <a:avLst>
              <a:gd name="adj" fmla="val 6410"/>
            </a:avLst>
          </a:prstGeom>
          <a:solidFill>
            <a:srgbClr val="EDE9FE"/>
          </a:solidFill>
          <a:ln w="9525">
            <a:solidFill>
              <a:srgbClr val="C4B5F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230368" y="2916936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Dabur Giloy Ghanvati mapped to giloy (1 g/tablet) in one Agent run (28 steps).</a:t>
            </a:r>
            <a:endParaRPr lang="en-US" sz="650" dirty="0"/>
          </a:p>
        </p:txBody>
      </p:sp>
      <p:sp>
        <p:nvSpPr>
          <p:cNvPr id="32" name="Shape 30"/>
          <p:cNvSpPr/>
          <p:nvPr/>
        </p:nvSpPr>
        <p:spPr>
          <a:xfrm>
            <a:off x="6858000" y="1298448"/>
            <a:ext cx="2057400" cy="22860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pic>
        <p:nvPicPr>
          <p:cNvPr id="33" name="Image 0" descr="C:/Temp/bvp/kritical/curation_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4" y="1481328"/>
            <a:ext cx="1947672" cy="1581912"/>
          </a:xfrm>
          <a:prstGeom prst="rect">
            <a:avLst/>
          </a:prstGeom>
        </p:spPr>
      </p:pic>
      <p:sp>
        <p:nvSpPr>
          <p:cNvPr id="34" name="Text 31"/>
          <p:cNvSpPr txBox="1"/>
          <p:nvPr/>
        </p:nvSpPr>
        <p:spPr>
          <a:xfrm>
            <a:off x="6912864" y="1325880"/>
            <a:ext cx="1947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6D28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Evidence-curation panel on the dashboard</a:t>
            </a:r>
            <a:endParaRPr lang="en-US" sz="630" dirty="0"/>
          </a:p>
        </p:txBody>
      </p:sp>
      <p:sp>
        <p:nvSpPr>
          <p:cNvPr id="35" name="Text 32"/>
          <p:cNvSpPr txBox="1"/>
          <p:nvPr/>
        </p:nvSpPr>
        <p:spPr>
          <a:xfrm>
            <a:off x="6912864" y="3090672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Live: 55/78 sources verified, 5 pending drafts, queue with approve / reject.</a:t>
            </a:r>
            <a:endParaRPr lang="en-US" sz="630" dirty="0"/>
          </a:p>
        </p:txBody>
      </p:sp>
      <p:sp>
        <p:nvSpPr>
          <p:cNvPr id="36" name="Shape 33"/>
          <p:cNvSpPr/>
          <p:nvPr/>
        </p:nvSpPr>
        <p:spPr>
          <a:xfrm>
            <a:off x="228600" y="3730752"/>
            <a:ext cx="8686800" cy="1115568"/>
          </a:xfrm>
          <a:prstGeom prst="roundRect">
            <a:avLst>
              <a:gd name="adj" fmla="val 4098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228600" y="3730752"/>
            <a:ext cx="8686800" cy="21945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20040" y="373075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STATUS · DEMONSTRABLE</a:t>
            </a:r>
            <a:endParaRPr lang="en-US" sz="800" dirty="0"/>
          </a:p>
        </p:txBody>
      </p:sp>
      <p:sp>
        <p:nvSpPr>
          <p:cNvPr id="39" name="Text 36"/>
          <p:cNvSpPr txBox="1"/>
          <p:nvPr/>
        </p:nvSpPr>
        <p:spPr>
          <a:xfrm>
            <a:off x="365760" y="3995928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</a:t>
            </a:r>
            <a:pPr indent="0" marL="0">
              <a:spcAft>
                <a:spcPts val="200"/>
              </a:spcAft>
              <a:buNone/>
            </a:pPr>
            <a:r>
              <a:rPr lang="en-US" sz="7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app/services/tinyfish_service.py (Fetch, Search, Agent clients) · curation_drafts table · 7 routes under /api/curation · 7 offline tests with a mocked TinyFish transport (58 tests total).</a:t>
            </a:r>
            <a:endParaRPr lang="en-US" sz="74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</a:t>
            </a:r>
            <a:pPr indent="0" marL="0">
              <a:spcAft>
                <a:spcPts val="200"/>
              </a:spcAft>
              <a:buNone/>
            </a:pPr>
            <a:r>
              <a:rPr lang="en-US" sz="7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“Evidence curation” panel on the dashboard with Verify / Discover / Map actions and an approve-reject draft queue; health endpoint reports tinyfish_configured.</a:t>
            </a:r>
            <a:endParaRPr lang="en-US" sz="74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Guardrail: </a:t>
            </a:r>
            <a:pPr indent="0" marL="0">
              <a:spcAft>
                <a:spcPts val="200"/>
              </a:spcAft>
              <a:buNone/>
            </a:pPr>
            <a:r>
              <a:rPr lang="en-US" sz="7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TINYFISH_API_KEY lives only on the server; drafts never change a verdict until a reviewer approves. Live demo: Verify next 10 → the sources-verified counter rises.</a:t>
            </a:r>
            <a:endParaRPr lang="en-US" sz="7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SHOWSTOPPERS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3152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31520"/>
            <a:ext cx="1965960" cy="219456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1752" y="73152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301752" y="1005840"/>
            <a:ext cx="18196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Proven, off-the-shelf stack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OCR: Google Vision / Paddle OCR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RapidFuzz for name matching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for KB lookup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only explains — rules decide risk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custom ML training</a:t>
            </a:r>
            <a:endParaRPr lang="en-US" sz="660" dirty="0"/>
          </a:p>
        </p:txBody>
      </p:sp>
      <p:sp>
        <p:nvSpPr>
          <p:cNvPr id="13" name="Shape 11"/>
          <p:cNvSpPr/>
          <p:nvPr/>
        </p:nvSpPr>
        <p:spPr>
          <a:xfrm>
            <a:off x="2286000" y="731520"/>
            <a:ext cx="196596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0" y="731520"/>
            <a:ext cx="1965960" cy="219456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359152" y="73152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EVIDENCE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2359152" y="1005840"/>
            <a:ext cx="1819656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/ citable sources: Ayurvedic Pharmacopoeia, NIH LiverTox, MSKCC, PubMed, WHO monographs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entry stores evidence, severity &amp; source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graded A / B / C</a:t>
            </a:r>
            <a:endParaRPr lang="en-US" sz="660" dirty="0"/>
          </a:p>
        </p:txBody>
      </p:sp>
      <p:sp>
        <p:nvSpPr>
          <p:cNvPr id="17" name="Shape 15"/>
          <p:cNvSpPr/>
          <p:nvPr/>
        </p:nvSpPr>
        <p:spPr>
          <a:xfrm>
            <a:off x="228600" y="224028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240280"/>
            <a:ext cx="1965960" cy="219456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1752" y="224028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01752" y="2514600"/>
            <a:ext cx="1819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Backend · Mobile/Frontend · Data curation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Local/offline components + free/low-cost infrastructure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Swappable LLM provider</a:t>
            </a:r>
            <a:endParaRPr lang="en-US" sz="660" dirty="0"/>
          </a:p>
        </p:txBody>
      </p:sp>
      <p:sp>
        <p:nvSpPr>
          <p:cNvPr id="21" name="Shape 19"/>
          <p:cNvSpPr/>
          <p:nvPr/>
        </p:nvSpPr>
        <p:spPr>
          <a:xfrm>
            <a:off x="2286000" y="2240280"/>
            <a:ext cx="196596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0" y="2240280"/>
            <a:ext cx="1965960" cy="219456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59152" y="2240280"/>
            <a:ext cx="18196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SCOPE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2359152" y="2514600"/>
            <a:ext cx="18196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 herb–drug pairs · 2 photo inputs · manual text-entry fallback · risk / safety card · ADR reporting form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in MVP: diagnosis · dosing · herb–herb interactions · custom ML training</a:t>
            </a:r>
            <a:endParaRPr lang="en-US" sz="660" dirty="0"/>
          </a:p>
        </p:txBody>
      </p:sp>
      <p:sp>
        <p:nvSpPr>
          <p:cNvPr id="25" name="Shape 23"/>
          <p:cNvSpPr/>
          <p:nvPr/>
        </p:nvSpPr>
        <p:spPr>
          <a:xfrm>
            <a:off x="228600" y="3520440"/>
            <a:ext cx="4023360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3520440"/>
            <a:ext cx="4023360" cy="219456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" y="3520440"/>
            <a:ext cx="3877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/ OPERATIONAL SAFETY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301752" y="3794760"/>
            <a:ext cx="387705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 workflow aligned with Ministry/ICSR fields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to Ayush Suraksha instead of a parallel reporting system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 not retained beyond the session unless the user opts in</a:t>
            </a:r>
            <a:endParaRPr lang="en-US" sz="66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66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support — not diagnosis or prescription</a:t>
            </a:r>
            <a:endParaRPr lang="en-US" sz="660" dirty="0"/>
          </a:p>
        </p:txBody>
      </p:sp>
      <p:sp>
        <p:nvSpPr>
          <p:cNvPr id="29" name="Text 27"/>
          <p:cNvSpPr txBox="1"/>
          <p:nvPr/>
        </p:nvSpPr>
        <p:spPr>
          <a:xfrm>
            <a:off x="228600" y="4828032"/>
            <a:ext cx="4023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" dirty="0">
                <a:solidFill>
                  <a:srgbClr val="F7F8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89120" y="731520"/>
          <a:ext cx="452628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92608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/ BLOCKER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7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OCR misread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Handwritten prescriptions · poor-quality or unusual printed labels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Extracted names shown for user confirmation · manual text entry always available · fuzzy-matching thresholds separate confident from uncertain matches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 herb / drug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Herb or drug may not be in the KB · coverage gaps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NEVER guess · neutral “NOT IN DATABASE” result · unknown items logged for future curation · MVP deliberately scoped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 / conflicting evidence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 clinical evidence · sources may disagree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A/B/C grade on every result · source / reference visible · conflicting sources kept at lower confidence, not hidden · KB entries reviewed before publication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7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hallucination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Unsupported medical claims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 receives ONLY matched KB info · never determines severity or verdict · schema-validated output · raw KB text if validation fails · safety decision works with LLM off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7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liability / safety scope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Users may read it as a prescription or diagnosis tool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Positioned as DECISION SUPPORT · never says stop / start · no diagnosis or dosing · evidence + sources shown · questions for the doctor · report-incorrect-info mechanism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7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/ connectivity failure
</a:t>
                      </a:r>
                      <a:pPr indent="0" marL="0">
                        <a:buNone/>
                      </a:pPr>
                      <a:r>
                        <a:rPr lang="en-US" sz="620" dirty="0">
                          <a:solidFill>
                            <a:srgbClr val="5D6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Internet or external API / provider failure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/ offline fallback · SQLite KB · PaddleOCR runs locally · LLM provider swappable · DB lookup independent of LLM · cached outputs for demo continuity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USP (UNIQUE SELLING PROPOSITION) &amp; BUSINESS MODEL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31520"/>
            <a:ext cx="42976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31520"/>
            <a:ext cx="429768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731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(UNIQUE SELLING PROPOSITION)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1042416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161288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84048" y="11612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36" dirty="0"/>
          </a:p>
        </p:txBody>
      </p:sp>
      <p:sp>
        <p:nvSpPr>
          <p:cNvPr id="15" name="Text 13"/>
          <p:cNvSpPr txBox="1"/>
          <p:nvPr/>
        </p:nvSpPr>
        <p:spPr>
          <a:xfrm>
            <a:off x="694944" y="1078992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first safety layer between the two medical systems people already mix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nothing public today checks an Ayurvedic product against an allopathic prescription.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320040" y="1572768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1691640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84048" y="16916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36" dirty="0"/>
          </a:p>
        </p:txBody>
      </p:sp>
      <p:sp>
        <p:nvSpPr>
          <p:cNvPr id="19" name="Text 17"/>
          <p:cNvSpPr txBox="1"/>
          <p:nvPr/>
        </p:nvSpPr>
        <p:spPr>
          <a:xfrm>
            <a:off x="694944" y="1609344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from published data; AI only explains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auditable rules over cited rows; the opposite of a “ChatGPT wrapper”.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320040" y="210312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221992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84048" y="22219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36" dirty="0"/>
          </a:p>
        </p:txBody>
      </p:sp>
      <p:sp>
        <p:nvSpPr>
          <p:cNvPr id="23" name="Text 21"/>
          <p:cNvSpPr txBox="1"/>
          <p:nvPr/>
        </p:nvSpPr>
        <p:spPr>
          <a:xfrm>
            <a:off x="694944" y="2139696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India: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Indian brand names, Sanskrit/Hindi synonyms, Hindi explanations, Ministry of Ayush ADR format, Ayush Suraksha portal link.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320040" y="2633472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" y="2752344"/>
            <a:ext cx="237744" cy="237744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84048" y="27523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36" dirty="0"/>
          </a:p>
        </p:txBody>
      </p:sp>
      <p:sp>
        <p:nvSpPr>
          <p:cNvPr id="27" name="Text 25"/>
          <p:cNvSpPr txBox="1"/>
          <p:nvPr/>
        </p:nvSpPr>
        <p:spPr>
          <a:xfrm>
            <a:off x="694944" y="2670048"/>
            <a:ext cx="36850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by design:</a:t>
            </a:r>
            <a:pPr indent="0" marL="0">
              <a:buNone/>
            </a:pPr>
            <a:r>
              <a:rPr lang="en-US" sz="7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evidence grades, timing gaps instead of alarms, “not in database” instead of guesses.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617720" y="731520"/>
            <a:ext cx="4297680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7720" y="731520"/>
            <a:ext cx="429768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09160" y="73152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1042416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1152144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73168" y="1152144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B2C</a:t>
            </a:r>
            <a:endParaRPr lang="en-US" sz="680" dirty="0"/>
          </a:p>
        </p:txBody>
      </p:sp>
      <p:sp>
        <p:nvSpPr>
          <p:cNvPr id="34" name="Text 32"/>
          <p:cNvSpPr txBox="1"/>
          <p:nvPr/>
        </p:nvSpPr>
        <p:spPr>
          <a:xfrm>
            <a:off x="5504688" y="107899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for citizens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Web/PWA checker in Hindi &amp; English; grows the knowledge base and the ADR signal.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4709160" y="1572768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73168" y="1682496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73168" y="168249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680" dirty="0"/>
          </a:p>
        </p:txBody>
      </p:sp>
      <p:sp>
        <p:nvSpPr>
          <p:cNvPr id="38" name="Text 36"/>
          <p:cNvSpPr txBox="1"/>
          <p:nvPr/>
        </p:nvSpPr>
        <p:spPr>
          <a:xfrm>
            <a:off x="5504688" y="160934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&amp; counter tool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Per-query / subscription API for pharmacy chains, hospital HIS, telemedicine apps; QR on the chemist's bill.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4709160" y="2103120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73168" y="221284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773168" y="221284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B2G / CSR</a:t>
            </a:r>
            <a:endParaRPr lang="en-US" sz="680" dirty="0"/>
          </a:p>
        </p:txBody>
      </p:sp>
      <p:sp>
        <p:nvSpPr>
          <p:cNvPr id="42" name="Text 40"/>
          <p:cNvSpPr txBox="1"/>
          <p:nvPr/>
        </p:nvSpPr>
        <p:spPr>
          <a:xfrm>
            <a:off x="5504688" y="213969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&amp; grants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Co-use analytics and structured ICSRs for the Ministry of Ayush pharmacovigilance network; CSR funding from Ayurvedic brands that want a trust layer.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4709160" y="2633472"/>
            <a:ext cx="4114800" cy="475488"/>
          </a:xfrm>
          <a:prstGeom prst="roundRect">
            <a:avLst>
              <a:gd name="adj" fmla="val 9615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2743200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773168" y="274320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</a:t>
            </a:r>
            <a:endParaRPr lang="en-US" sz="680" dirty="0"/>
          </a:p>
        </p:txBody>
      </p:sp>
      <p:sp>
        <p:nvSpPr>
          <p:cNvPr id="46" name="Text 44"/>
          <p:cNvSpPr txBox="1"/>
          <p:nvPr/>
        </p:nvSpPr>
        <p:spPr>
          <a:xfrm>
            <a:off x="5504688" y="2670048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Grid / ABDM integration</a:t>
            </a:r>
            <a:pPr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verdict attached to the ABHA health record; open KB co-curated with Ayurveda colleges.</a:t>
            </a:r>
            <a:endParaRPr lang="en-US" sz="720" dirty="0"/>
          </a:p>
        </p:txBody>
      </p:sp>
      <p:sp>
        <p:nvSpPr>
          <p:cNvPr id="47" name="Text 45"/>
          <p:cNvSpPr txBox="1"/>
          <p:nvPr/>
        </p:nvSpPr>
        <p:spPr>
          <a:xfrm>
            <a:off x="228600" y="33101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BENEFITS · ONE KNOWLEDGE BASE, FOUR USERS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8600" y="3520440"/>
            <a:ext cx="1234440" cy="274320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74320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&amp; FAMILIES</a:t>
            </a:r>
            <a:endParaRPr lang="en-US" sz="600" dirty="0"/>
          </a:p>
        </p:txBody>
      </p:sp>
      <p:sp>
        <p:nvSpPr>
          <p:cNvPr id="51" name="Text 49"/>
          <p:cNvSpPr txBox="1"/>
          <p:nvPr/>
        </p:nvSpPr>
        <p:spPr>
          <a:xfrm>
            <a:off x="292608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60-second verdict in Hindi or English, timing gaps, and three questions to carry to the clinic</a:t>
            </a:r>
            <a:endParaRPr lang="en-US" sz="640" dirty="0"/>
          </a:p>
        </p:txBody>
      </p:sp>
      <p:sp>
        <p:nvSpPr>
          <p:cNvPr id="52" name="Shape 50"/>
          <p:cNvSpPr/>
          <p:nvPr/>
        </p:nvSpPr>
        <p:spPr>
          <a:xfrm>
            <a:off x="1527048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27048" y="3520440"/>
            <a:ext cx="1234440" cy="274320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572768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DOCTORS &amp; VAIDYAS</a:t>
            </a:r>
            <a:endParaRPr lang="en-US" sz="600" dirty="0"/>
          </a:p>
        </p:txBody>
      </p:sp>
      <p:sp>
        <p:nvSpPr>
          <p:cNvPr id="55" name="Text 53"/>
          <p:cNvSpPr txBox="1"/>
          <p:nvPr/>
        </p:nvSpPr>
        <p:spPr>
          <a:xfrm>
            <a:off x="1591056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finally disclose what they take; a one-page summary with sources bridges both vocabularies</a:t>
            </a:r>
            <a:endParaRPr lang="en-US" sz="640" dirty="0"/>
          </a:p>
        </p:txBody>
      </p:sp>
      <p:sp>
        <p:nvSpPr>
          <p:cNvPr id="56" name="Shape 54"/>
          <p:cNvSpPr/>
          <p:nvPr/>
        </p:nvSpPr>
        <p:spPr>
          <a:xfrm>
            <a:off x="2825496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825496" y="3520440"/>
            <a:ext cx="1234440" cy="274320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2871216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PHARMACISTS &amp; CHEMISTS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2889504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Counter-side cross-check for the only shop that sells both systems' products; QR on the bill</a:t>
            </a:r>
            <a:endParaRPr lang="en-US" sz="640" dirty="0"/>
          </a:p>
        </p:txBody>
      </p:sp>
      <p:sp>
        <p:nvSpPr>
          <p:cNvPr id="60" name="Shape 58"/>
          <p:cNvSpPr/>
          <p:nvPr/>
        </p:nvSpPr>
        <p:spPr>
          <a:xfrm>
            <a:off x="4123944" y="3520440"/>
            <a:ext cx="1234440" cy="129844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23944" y="3520440"/>
            <a:ext cx="1234440" cy="274320"/>
          </a:xfrm>
          <a:prstGeom prst="rect">
            <a:avLst/>
          </a:prstGeom>
          <a:solidFill>
            <a:srgbClr val="7A1F2B"/>
          </a:solidFill>
          <a:ln w="12700">
            <a:solidFill>
              <a:srgbClr val="7A1F2B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169664" y="35204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AYUSH / NPvCC</a:t>
            </a:r>
            <a:endParaRPr lang="en-US" sz="600" dirty="0"/>
          </a:p>
        </p:txBody>
      </p:sp>
      <p:sp>
        <p:nvSpPr>
          <p:cNvPr id="63" name="Text 61"/>
          <p:cNvSpPr txBox="1"/>
          <p:nvPr/>
        </p:nvSpPr>
        <p:spPr>
          <a:xfrm>
            <a:off x="4187952" y="3840480"/>
            <a:ext cx="11064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ICSRs in the official format, anonymised co-use analytics by state, early signal detection</a:t>
            </a:r>
            <a:endParaRPr lang="en-US" sz="640" dirty="0"/>
          </a:p>
        </p:txBody>
      </p:sp>
      <p:sp>
        <p:nvSpPr>
          <p:cNvPr id="64" name="Text 62"/>
          <p:cNvSpPr txBox="1"/>
          <p:nvPr/>
        </p:nvSpPr>
        <p:spPr>
          <a:xfrm>
            <a:off x="5532120" y="33101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· WHY IT MATTERS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532120" y="3520440"/>
            <a:ext cx="1078992" cy="1298448"/>
          </a:xfrm>
          <a:prstGeom prst="roundRect">
            <a:avLst>
              <a:gd name="adj" fmla="val 423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5532120" y="3566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1,473</a:t>
            </a:r>
            <a:endParaRPr lang="en-US" sz="1800" dirty="0"/>
          </a:p>
        </p:txBody>
      </p:sp>
      <p:sp>
        <p:nvSpPr>
          <p:cNvPr id="67" name="Text 65"/>
          <p:cNvSpPr txBox="1"/>
          <p:nvPr/>
        </p:nvSpPr>
        <p:spPr>
          <a:xfrm>
            <a:off x="5586984" y="3968496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ASU&amp;H adverse-event reports nationally since 2018 — TakeSure turns every reaction into a structured ICSR</a:t>
            </a:r>
            <a:endParaRPr lang="en-US" sz="620" dirty="0"/>
          </a:p>
        </p:txBody>
      </p:sp>
      <p:sp>
        <p:nvSpPr>
          <p:cNvPr id="68" name="Shape 66"/>
          <p:cNvSpPr/>
          <p:nvPr/>
        </p:nvSpPr>
        <p:spPr>
          <a:xfrm>
            <a:off x="6675120" y="3520440"/>
            <a:ext cx="1078992" cy="1298448"/>
          </a:xfrm>
          <a:prstGeom prst="roundRect">
            <a:avLst>
              <a:gd name="adj" fmla="val 423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675120" y="3566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6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6729984" y="3968496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herbal users with a side effect never told their doctor — TakeSure hands them the questions to ask</a:t>
            </a:r>
            <a:endParaRPr lang="en-US" sz="620" dirty="0"/>
          </a:p>
        </p:txBody>
      </p:sp>
      <p:sp>
        <p:nvSpPr>
          <p:cNvPr id="71" name="Shape 69"/>
          <p:cNvSpPr/>
          <p:nvPr/>
        </p:nvSpPr>
        <p:spPr>
          <a:xfrm>
            <a:off x="7818120" y="3520440"/>
            <a:ext cx="1078992" cy="1298448"/>
          </a:xfrm>
          <a:prstGeom prst="roundRect">
            <a:avLst>
              <a:gd name="adj" fmla="val 4237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7818120" y="356616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7872984" y="3968496"/>
            <a:ext cx="9692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tools today check an Ayurvedic product against an allopathic prescription — TakeSure is the first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MODEL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Prices are launch assumptions, to be validated in the pilot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8463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49808"/>
            <a:ext cx="484632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749808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ECONOMICS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46634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43000"/>
                <a:gridCol w="960120"/>
                <a:gridCol w="14630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(launch)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this price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B2C · patients &amp; caregivers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Web / PWA checker, Hindi + English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 and the ADR signal are the asset; a paywall would re-create the gap we are closing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· chemists (per outlet)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Counter cross-check + QR on the bill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₹499 / month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Below one day's margin on a mid-size counter; comparable to billing-software add-ons (₹300–800/month)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· telemedicine / HIS (API)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Per-query verdict API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 per check, ₹25,000 / year floor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Pure marginal cost is near zero (rules + SQL); ₹2 sits under the ₹5–15 lab/health-ID API norms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· hospital licence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On-prem / private cloud, Hindi PDFs, ADR export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₹1.5 lakh / year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 pharmacist-hour per day saved covers it; priced like a single clinical-reference subscription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B2G / CSR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Co-use analytics, structured ICSRs, college co-curation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b="1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Programme grants ₹10–25 lakh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9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line with Ministry of Ayush pharmacovigilance programme funding and brand CSR budgets</a:t>
                      </a:r>
                      <a:endParaRPr lang="en-US" sz="69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7432" marR="27432" marT="27432" marB="27432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212080" y="749808"/>
            <a:ext cx="3703320" cy="251460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212080" y="749808"/>
            <a:ext cx="370332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0" y="74980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5303520" y="1024128"/>
            <a:ext cx="3520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3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Demand: </a:t>
            </a:r>
            <a:pPr indent="0" marL="0">
              <a:spcAft>
                <a:spcPts val="200"/>
              </a:spcAft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37% of hospital patients already combine both systems; only 19% tell their doctor (references slide).</a:t>
            </a:r>
            <a:endParaRPr lang="en-US" sz="7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3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Counters: </a:t>
            </a:r>
            <a:pPr indent="0" marL="0">
              <a:spcAft>
                <a:spcPts val="200"/>
              </a:spcAft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 has ≈ 8.5 lakh retail chemists (AIOCD); 1% adoption = 8,500 outlets × ₹499 × 12 = ₹5.1 crore ARR.</a:t>
            </a:r>
            <a:endParaRPr lang="en-US" sz="7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3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Telemedicine: </a:t>
            </a:r>
            <a:pPr indent="0" marL="0">
              <a:spcAft>
                <a:spcPts val="200"/>
              </a:spcAft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eSanjeevani alone crossed 30 crore consultations; at 1% of consults checked × ₹2 = ₹6 crore / year.</a:t>
            </a:r>
            <a:endParaRPr lang="en-US" sz="7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3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sector: </a:t>
            </a:r>
            <a:pPr indent="0" marL="0">
              <a:spcAft>
                <a:spcPts val="200"/>
              </a:spcAft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Ayush values the Ayush market at US$ 24 billion (2020, RIS); no product offers a herb × drug safety layer.</a:t>
            </a:r>
            <a:endParaRPr lang="en-US" sz="73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73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side: </a:t>
            </a:r>
            <a:pPr indent="0" marL="0">
              <a:spcAft>
                <a:spcPts val="200"/>
              </a:spcAft>
              <a:buNone/>
            </a:pPr>
            <a:r>
              <a:rPr lang="en-US" sz="73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 cost ≈ ₹0 (rules + SQLite/Postgres); AI rewording ≈ ₹0.02 per check (Groq); TinyFish curation is a fixed monthly cost (Search/Fetch free, Agent ≈ $0.016 per step).</a:t>
            </a:r>
            <a:endParaRPr lang="en-US" sz="730" dirty="0"/>
          </a:p>
        </p:txBody>
      </p:sp>
      <p:sp>
        <p:nvSpPr>
          <p:cNvPr id="17" name="Shape 14"/>
          <p:cNvSpPr/>
          <p:nvPr/>
        </p:nvSpPr>
        <p:spPr>
          <a:xfrm>
            <a:off x="228600" y="3383280"/>
            <a:ext cx="868680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8600" y="3383280"/>
            <a:ext cx="868680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0040" y="3383280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THREE-YEAR PATH · CONSERVATIVE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5760" y="3675888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7124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· pilot</a:t>
            </a:r>
            <a:endParaRPr lang="en-US" sz="8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39319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city · 50 chemists · 1 telemedicine partner</a:t>
            </a:r>
            <a:endParaRPr lang="en-US" sz="7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187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₹3–5 lakh revenue · CSR grant ₹10 lakh</a:t>
            </a:r>
            <a:endParaRPr lang="en-US" sz="74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counter adoption and ADR flow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246120" y="3675888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3337560" y="37124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· scale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3337560" y="39319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states · 2,000 chemists · 3 HIS integrations</a:t>
            </a:r>
            <a:endParaRPr lang="en-US" sz="700" dirty="0"/>
          </a:p>
        </p:txBody>
      </p:sp>
      <p:sp>
        <p:nvSpPr>
          <p:cNvPr id="28" name="Text 25"/>
          <p:cNvSpPr txBox="1"/>
          <p:nvPr/>
        </p:nvSpPr>
        <p:spPr>
          <a:xfrm>
            <a:off x="3337560" y="4187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₹1.2–1.5 crore ARR</a:t>
            </a:r>
            <a:endParaRPr lang="en-US" sz="740" dirty="0"/>
          </a:p>
        </p:txBody>
      </p:sp>
      <p:sp>
        <p:nvSpPr>
          <p:cNvPr id="29" name="Text 26"/>
          <p:cNvSpPr txBox="1"/>
          <p:nvPr/>
        </p:nvSpPr>
        <p:spPr>
          <a:xfrm>
            <a:off x="333756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 300+ rows reviewed by a college</a:t>
            </a:r>
            <a:endParaRPr lang="en-US" sz="680" dirty="0"/>
          </a:p>
        </p:txBody>
      </p:sp>
      <p:sp>
        <p:nvSpPr>
          <p:cNvPr id="30" name="Shape 27"/>
          <p:cNvSpPr/>
          <p:nvPr/>
        </p:nvSpPr>
        <p:spPr>
          <a:xfrm>
            <a:off x="6126480" y="3675888"/>
            <a:ext cx="2743200" cy="1051560"/>
          </a:xfrm>
          <a:prstGeom prst="roundRect">
            <a:avLst>
              <a:gd name="adj" fmla="val 4348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217920" y="371246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· platform</a:t>
            </a:r>
            <a:endParaRPr lang="en-US" sz="850" dirty="0"/>
          </a:p>
        </p:txBody>
      </p:sp>
      <p:sp>
        <p:nvSpPr>
          <p:cNvPr id="32" name="Text 29"/>
          <p:cNvSpPr txBox="1"/>
          <p:nvPr/>
        </p:nvSpPr>
        <p:spPr>
          <a:xfrm>
            <a:off x="6217920" y="39319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ABDM / Ayush Grid integration · pharmacy chains</a:t>
            </a:r>
            <a:endParaRPr lang="en-US" sz="700" dirty="0"/>
          </a:p>
        </p:txBody>
      </p:sp>
      <p:sp>
        <p:nvSpPr>
          <p:cNvPr id="33" name="Text 30"/>
          <p:cNvSpPr txBox="1"/>
          <p:nvPr/>
        </p:nvSpPr>
        <p:spPr>
          <a:xfrm>
            <a:off x="6217920" y="4187952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b="1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₹5+ crore ARR</a:t>
            </a:r>
            <a:endParaRPr lang="en-US" sz="740" dirty="0"/>
          </a:p>
        </p:txBody>
      </p:sp>
      <p:sp>
        <p:nvSpPr>
          <p:cNvPr id="34" name="Text 31"/>
          <p:cNvSpPr txBox="1"/>
          <p:nvPr/>
        </p:nvSpPr>
        <p:spPr>
          <a:xfrm>
            <a:off x="6217920" y="442569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i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 on the ABHA record; national co-use analytics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425196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425196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7772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1078992"/>
            <a:ext cx="4023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base: </a:t>
            </a:r>
            <a:pPr indent="0" marL="0">
              <a:spcAft>
                <a:spcPts val="2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pairs; second-reviewer rule on every citation; faculty review with an Ayurveda college or pharmacology department before public release.</a:t>
            </a:r>
            <a:endParaRPr lang="en-US" sz="84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once data exists: </a:t>
            </a:r>
            <a:pPr indent="0" marL="0">
              <a:spcAft>
                <a:spcPts val="2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fine-tuned on Indian labels and handwriting; a named-entity model for prescriptions; ranking of under-reported pairs for curation priority.</a:t>
            </a:r>
            <a:endParaRPr lang="en-US" sz="84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TinyFish: </a:t>
            </a:r>
            <a:pPr indent="0" marL="0">
              <a:spcAft>
                <a:spcPts val="2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scheduled monthly re-verification of every citation; agent monitoring of LiverTox and Ayush Suraksha for new signals; product-catalogue sweeps of Himalaya, Dabur, Patanjali, Baidyanath.</a:t>
            </a:r>
            <a:endParaRPr lang="en-US" sz="84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Integration: </a:t>
            </a:r>
            <a:pPr indent="0" marL="0">
              <a:spcAft>
                <a:spcPts val="2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Grid / ABDM so the verdict and ADR sit on the ABHA record; pharmacy-chain API; chemist QR pilot in one city.</a:t>
            </a:r>
            <a:endParaRPr lang="en-US" sz="84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84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by design: </a:t>
            </a:r>
            <a:pPr indent="0" marL="0">
              <a:spcAft>
                <a:spcPts val="200"/>
              </a:spcAft>
              <a:buNone/>
            </a:pPr>
            <a:r>
              <a:rPr lang="en-US" sz="84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diagnosis, dosing, herb–herb interactions, any trained model deciding a verdict.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4663440" y="777240"/>
            <a:ext cx="4251960" cy="4023360"/>
          </a:xfrm>
          <a:prstGeom prst="roundRect">
            <a:avLst>
              <a:gd name="adj" fmla="val 1136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777240"/>
            <a:ext cx="425196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777240"/>
            <a:ext cx="4069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24-HOUR BUILD PLAN · 31 OCT – 1 NOV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1097280"/>
            <a:ext cx="397764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64608" y="1207008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64608" y="120700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0–3 h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687568" y="115214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at venue; load KB; core loop photo → OCR → confirm → verdict green.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4800600" y="1700784"/>
            <a:ext cx="397764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64608" y="1810512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64608" y="181051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3–9 h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5687568" y="175564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verifier over all 78 citations; reviewer pass on mismatches.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4800600" y="2304288"/>
            <a:ext cx="397764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64608" y="2414016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64608" y="241401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9–15 h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5687568" y="235915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discovery for 16 herbs → draft rows → review → 100+ rows.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4800600" y="2907792"/>
            <a:ext cx="397764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64608" y="3017520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6D28D9"/>
          </a:solidFill>
          <a:ln w="9525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64608" y="30175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15–19 h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5687568" y="29626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mapping for top 30 Indian products; Hindi in every PDF.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4800600" y="3511296"/>
            <a:ext cx="397764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64608" y="3621024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64608" y="362102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19–22 h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687568" y="356616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deploy (Vercel + Render + Supabase); chemist QR flow.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4800600" y="4114800"/>
            <a:ext cx="3977640" cy="530352"/>
          </a:xfrm>
          <a:prstGeom prst="roundRect">
            <a:avLst>
              <a:gd name="adj" fmla="val 8621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4224528"/>
            <a:ext cx="731520" cy="310896"/>
          </a:xfrm>
          <a:prstGeom prst="roundRect">
            <a:avLst>
              <a:gd name="adj" fmla="val 14706"/>
            </a:avLst>
          </a:prstGeom>
          <a:solidFill>
            <a:srgbClr val="8B2A2A"/>
          </a:solidFill>
          <a:ln w="9525">
            <a:solidFill>
              <a:srgbClr val="8B2A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64608" y="422452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22–24 h</a:t>
            </a:r>
            <a:endParaRPr lang="en-US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5687568" y="416966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Freeze, run tests, rehearse the demo on the deployed link.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28016"/>
            <a:ext cx="1691640" cy="47548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09728" y="1280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Bug Hunters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874520" y="91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&amp; REFERENCES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635240" y="128016"/>
            <a:ext cx="1371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KRITICAL HACKS 2026</a:t>
            </a:r>
            <a:endParaRPr lang="en-US" sz="7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75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IGDTUW · AI/ML Track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28600" y="676656"/>
            <a:ext cx="8686800" cy="0"/>
          </a:xfrm>
          <a:prstGeom prst="line">
            <a:avLst/>
          </a:prstGeom>
          <a:noFill/>
          <a:ln w="15875">
            <a:solidFill>
              <a:srgbClr val="8B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8600" y="4919472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TakeSure · Confidence before taking something · Team Bug Hunters · Kritical Hacks 2026 · Decision support, not diagnosis</a:t>
            </a:r>
            <a:endParaRPr lang="en-US" sz="700" dirty="0"/>
          </a:p>
        </p:txBody>
      </p:sp>
      <p:sp>
        <p:nvSpPr>
          <p:cNvPr id="8" name="Text 6"/>
          <p:cNvSpPr txBox="1"/>
          <p:nvPr/>
        </p:nvSpPr>
        <p:spPr>
          <a:xfrm>
            <a:off x="8001000" y="49194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228600" y="731520"/>
            <a:ext cx="3154680" cy="4096512"/>
          </a:xfrm>
          <a:prstGeom prst="roundRect">
            <a:avLst>
              <a:gd name="adj" fmla="val 1449"/>
            </a:avLst>
          </a:prstGeom>
          <a:solidFill>
            <a:srgbClr val="FFFFFF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31520"/>
            <a:ext cx="3154680" cy="237744"/>
          </a:xfrm>
          <a:prstGeom prst="rect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0040" y="73152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&amp; REFERENCES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01752" y="1033272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1133856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" y="11338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64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105156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Sharma 2018: ashwagandha &amp; thyroid trial</a:t>
            </a:r>
            <a:endParaRPr lang="en-US" sz="690" dirty="0"/>
          </a:p>
        </p:txBody>
      </p:sp>
      <p:sp>
        <p:nvSpPr>
          <p:cNvPr id="16" name="Text 14"/>
          <p:cNvSpPr txBox="1"/>
          <p:nvPr/>
        </p:nvSpPr>
        <p:spPr>
          <a:xfrm>
            <a:off x="621792" y="1170432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RCT, 50 patients, 600 mg/day, 8 weeks</a:t>
            </a:r>
            <a:endParaRPr lang="en-US" sz="58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1289304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https://pubmed.ncbi.nlm.nih.gov/28829155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pubmed.ncbi.nlm.nih.gov/28829155</a:t>
            </a:r>
            <a:endParaRPr lang="en-US" sz="580" dirty="0"/>
          </a:p>
        </p:txBody>
      </p:sp>
      <p:sp>
        <p:nvSpPr>
          <p:cNvPr id="18" name="Shape 16"/>
          <p:cNvSpPr/>
          <p:nvPr/>
        </p:nvSpPr>
        <p:spPr>
          <a:xfrm>
            <a:off x="301752" y="1449324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549908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47472" y="15499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64" dirty="0"/>
          </a:p>
        </p:txBody>
      </p:sp>
      <p:sp>
        <p:nvSpPr>
          <p:cNvPr id="21" name="Text 19"/>
          <p:cNvSpPr txBox="1"/>
          <p:nvPr/>
        </p:nvSpPr>
        <p:spPr>
          <a:xfrm>
            <a:off x="621792" y="146761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Gohil &amp; Patel 2007: herb–drug case reports</a:t>
            </a:r>
            <a:endParaRPr lang="en-US" sz="690" dirty="0"/>
          </a:p>
        </p:txBody>
      </p:sp>
      <p:sp>
        <p:nvSpPr>
          <p:cNvPr id="22" name="Text 20"/>
          <p:cNvSpPr txBox="1"/>
          <p:nvPr/>
        </p:nvSpPr>
        <p:spPr>
          <a:xfrm>
            <a:off x="621792" y="1586484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133 cases, only 6% well documented (Indian J Pharmacol)</a:t>
            </a:r>
            <a:endParaRPr lang="en-US" sz="580" dirty="0"/>
          </a:p>
        </p:txBody>
      </p:sp>
      <p:sp>
        <p:nvSpPr>
          <p:cNvPr id="23" name="Text 21"/>
          <p:cNvSpPr txBox="1"/>
          <p:nvPr/>
        </p:nvSpPr>
        <p:spPr>
          <a:xfrm>
            <a:off x="621792" y="1705356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https://doi.org/10.4103/0253-7613.33432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doi.org/10.4103/0253-7613.33432</a:t>
            </a:r>
            <a:endParaRPr lang="en-US" sz="580" dirty="0"/>
          </a:p>
        </p:txBody>
      </p:sp>
      <p:sp>
        <p:nvSpPr>
          <p:cNvPr id="24" name="Shape 22"/>
          <p:cNvSpPr/>
          <p:nvPr/>
        </p:nvSpPr>
        <p:spPr>
          <a:xfrm>
            <a:off x="301752" y="1865376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196596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" y="1965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64" dirty="0"/>
          </a:p>
        </p:txBody>
      </p:sp>
      <p:sp>
        <p:nvSpPr>
          <p:cNvPr id="27" name="Text 25"/>
          <p:cNvSpPr txBox="1"/>
          <p:nvPr/>
        </p:nvSpPr>
        <p:spPr>
          <a:xfrm>
            <a:off x="621792" y="188366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Ghosh et al. 2009: herb–drug interaction</a:t>
            </a:r>
            <a:endParaRPr lang="en-US" sz="690" dirty="0"/>
          </a:p>
        </p:txBody>
      </p:sp>
      <p:sp>
        <p:nvSpPr>
          <p:cNvPr id="28" name="Text 26"/>
          <p:cNvSpPr txBox="1"/>
          <p:nvPr/>
        </p:nvSpPr>
        <p:spPr>
          <a:xfrm>
            <a:off x="621792" y="2002536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Fallout of poor doctor–patient communication (JCDR)</a:t>
            </a:r>
            <a:endParaRPr lang="en-US" sz="580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2121408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https://www.jcdr.net/articles/PDF/576/501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jcdr.net/articles/PDF/576/501.pdf</a:t>
            </a:r>
            <a:endParaRPr lang="en-US" sz="580" dirty="0"/>
          </a:p>
        </p:txBody>
      </p:sp>
      <p:sp>
        <p:nvSpPr>
          <p:cNvPr id="30" name="Shape 28"/>
          <p:cNvSpPr/>
          <p:nvPr/>
        </p:nvSpPr>
        <p:spPr>
          <a:xfrm>
            <a:off x="301752" y="2281428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2382012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" y="23820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64" dirty="0"/>
          </a:p>
        </p:txBody>
      </p:sp>
      <p:sp>
        <p:nvSpPr>
          <p:cNvPr id="33" name="Text 31"/>
          <p:cNvSpPr txBox="1"/>
          <p:nvPr/>
        </p:nvSpPr>
        <p:spPr>
          <a:xfrm>
            <a:off x="621792" y="229971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Interactions between substances in Ayurveda</a:t>
            </a:r>
            <a:endParaRPr lang="en-US" sz="690" dirty="0"/>
          </a:p>
        </p:txBody>
      </p:sp>
      <p:sp>
        <p:nvSpPr>
          <p:cNvPr id="34" name="Text 32"/>
          <p:cNvSpPr txBox="1"/>
          <p:nvPr/>
        </p:nvSpPr>
        <p:spPr>
          <a:xfrm>
            <a:off x="621792" y="2418588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Food–drug &amp; Ayurveda–modern drug review, 2013</a:t>
            </a:r>
            <a:endParaRPr lang="en-US" sz="580" dirty="0"/>
          </a:p>
        </p:txBody>
      </p:sp>
      <p:sp>
        <p:nvSpPr>
          <p:cNvPr id="35" name="Text 33"/>
          <p:cNvSpPr txBox="1"/>
          <p:nvPr/>
        </p:nvSpPr>
        <p:spPr>
          <a:xfrm>
            <a:off x="621792" y="2537460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https://doi.org/10.1515/dmdi-2013-0014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doi.org/10.1515/dmdi-2013-0014</a:t>
            </a:r>
            <a:endParaRPr lang="en-US" sz="580" dirty="0"/>
          </a:p>
        </p:txBody>
      </p:sp>
      <p:sp>
        <p:nvSpPr>
          <p:cNvPr id="36" name="Shape 34"/>
          <p:cNvSpPr/>
          <p:nvPr/>
        </p:nvSpPr>
        <p:spPr>
          <a:xfrm>
            <a:off x="301752" y="2697480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2798064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47472" y="27980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64" dirty="0"/>
          </a:p>
        </p:txBody>
      </p:sp>
      <p:sp>
        <p:nvSpPr>
          <p:cNvPr id="39" name="Text 37"/>
          <p:cNvSpPr txBox="1"/>
          <p:nvPr/>
        </p:nvSpPr>
        <p:spPr>
          <a:xfrm>
            <a:off x="621792" y="2715768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NSSO Survey on Ayush 2022-23 (MoSPI press note)</a:t>
            </a:r>
            <a:endParaRPr lang="en-US" sz="690" dirty="0"/>
          </a:p>
        </p:txBody>
      </p:sp>
      <p:sp>
        <p:nvSpPr>
          <p:cNvPr id="40" name="Text 38"/>
          <p:cNvSpPr txBox="1"/>
          <p:nvPr/>
        </p:nvSpPr>
        <p:spPr>
          <a:xfrm>
            <a:off x="621792" y="2834640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Ayurveda is the most used Ayush system</a:t>
            </a:r>
            <a:endParaRPr lang="en-US" sz="580" dirty="0"/>
          </a:p>
        </p:txBody>
      </p:sp>
      <p:sp>
        <p:nvSpPr>
          <p:cNvPr id="41" name="Text 39"/>
          <p:cNvSpPr txBox="1"/>
          <p:nvPr/>
        </p:nvSpPr>
        <p:spPr>
          <a:xfrm>
            <a:off x="621792" y="2953512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https://www.mospi.gov.in/sites/default/files/press_release/PressNote_Ayush_13062024N.pdf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mospi.gov.in/…/PressNote_Ayush_13062024N.pdf</a:t>
            </a:r>
            <a:endParaRPr lang="en-US" sz="580" dirty="0"/>
          </a:p>
        </p:txBody>
      </p:sp>
      <p:sp>
        <p:nvSpPr>
          <p:cNvPr id="42" name="Shape 40"/>
          <p:cNvSpPr/>
          <p:nvPr/>
        </p:nvSpPr>
        <p:spPr>
          <a:xfrm>
            <a:off x="301752" y="3113532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3214116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47472" y="32141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64" dirty="0"/>
          </a:p>
        </p:txBody>
      </p:sp>
      <p:sp>
        <p:nvSpPr>
          <p:cNvPr id="45" name="Text 43"/>
          <p:cNvSpPr txBox="1"/>
          <p:nvPr/>
        </p:nvSpPr>
        <p:spPr>
          <a:xfrm>
            <a:off x="621792" y="3131820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Ayush Suraksha portal (Ministry of Ayush)</a:t>
            </a:r>
            <a:endParaRPr lang="en-US" sz="690" dirty="0"/>
          </a:p>
        </p:txBody>
      </p:sp>
      <p:sp>
        <p:nvSpPr>
          <p:cNvPr id="46" name="Text 44"/>
          <p:cNvSpPr txBox="1"/>
          <p:nvPr/>
        </p:nvSpPr>
        <p:spPr>
          <a:xfrm>
            <a:off x="621792" y="3250692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ADR reporting for ASU&amp;H drugs</a:t>
            </a:r>
            <a:endParaRPr lang="en-US" sz="580" dirty="0"/>
          </a:p>
        </p:txBody>
      </p:sp>
      <p:sp>
        <p:nvSpPr>
          <p:cNvPr id="47" name="Text 45"/>
          <p:cNvSpPr txBox="1"/>
          <p:nvPr/>
        </p:nvSpPr>
        <p:spPr>
          <a:xfrm>
            <a:off x="621792" y="3369564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https://suraksha.ayush.gov.in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suraksha.ayush.gov.in</a:t>
            </a:r>
            <a:endParaRPr lang="en-US" sz="580" dirty="0"/>
          </a:p>
        </p:txBody>
      </p:sp>
      <p:sp>
        <p:nvSpPr>
          <p:cNvPr id="48" name="Shape 46"/>
          <p:cNvSpPr/>
          <p:nvPr/>
        </p:nvSpPr>
        <p:spPr>
          <a:xfrm>
            <a:off x="301752" y="3529584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7472" y="3630168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47472" y="36301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64" dirty="0"/>
          </a:p>
        </p:txBody>
      </p:sp>
      <p:sp>
        <p:nvSpPr>
          <p:cNvPr id="51" name="Text 49"/>
          <p:cNvSpPr txBox="1"/>
          <p:nvPr/>
        </p:nvSpPr>
        <p:spPr>
          <a:xfrm>
            <a:off x="621792" y="3547872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ASU&amp;H pharmacovigilance (ITRA, Jamnagar)</a:t>
            </a:r>
            <a:endParaRPr lang="en-US" sz="690" dirty="0"/>
          </a:p>
        </p:txBody>
      </p:sp>
      <p:sp>
        <p:nvSpPr>
          <p:cNvPr id="52" name="Text 50"/>
          <p:cNvSpPr txBox="1"/>
          <p:nvPr/>
        </p:nvSpPr>
        <p:spPr>
          <a:xfrm>
            <a:off x="621792" y="3666744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PPvC / IPvC reporting network</a:t>
            </a:r>
            <a:endParaRPr lang="en-US" sz="580" dirty="0"/>
          </a:p>
        </p:txBody>
      </p:sp>
      <p:sp>
        <p:nvSpPr>
          <p:cNvPr id="53" name="Text 51"/>
          <p:cNvSpPr txBox="1"/>
          <p:nvPr/>
        </p:nvSpPr>
        <p:spPr>
          <a:xfrm>
            <a:off x="621792" y="3785616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7" invalidUrl="" action="" tgtFrame="" tooltip="https://itra.ac.in/pharmacovigilanc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itra.ac.in/pharmacovigilance</a:t>
            </a:r>
            <a:endParaRPr lang="en-US" sz="580" dirty="0"/>
          </a:p>
        </p:txBody>
      </p:sp>
      <p:sp>
        <p:nvSpPr>
          <p:cNvPr id="54" name="Shape 52"/>
          <p:cNvSpPr/>
          <p:nvPr/>
        </p:nvSpPr>
        <p:spPr>
          <a:xfrm>
            <a:off x="301752" y="3945636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47472" y="4046220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47472" y="40462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64" dirty="0"/>
          </a:p>
        </p:txBody>
      </p:sp>
      <p:sp>
        <p:nvSpPr>
          <p:cNvPr id="57" name="Text 55"/>
          <p:cNvSpPr txBox="1"/>
          <p:nvPr/>
        </p:nvSpPr>
        <p:spPr>
          <a:xfrm>
            <a:off x="621792" y="3963924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tools we build on</a:t>
            </a:r>
            <a:endParaRPr lang="en-US" sz="690" dirty="0"/>
          </a:p>
        </p:txBody>
      </p:sp>
      <p:sp>
        <p:nvSpPr>
          <p:cNvPr id="58" name="Text 56"/>
          <p:cNvSpPr txBox="1"/>
          <p:nvPr/>
        </p:nvSpPr>
        <p:spPr>
          <a:xfrm>
            <a:off x="621792" y="4082796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(Tesseract) and name matching (RapidFuzz)</a:t>
            </a:r>
            <a:endParaRPr lang="en-US" sz="580" dirty="0"/>
          </a:p>
        </p:txBody>
      </p:sp>
      <p:sp>
        <p:nvSpPr>
          <p:cNvPr id="59" name="Text 57"/>
          <p:cNvSpPr txBox="1"/>
          <p:nvPr/>
        </p:nvSpPr>
        <p:spPr>
          <a:xfrm>
            <a:off x="621792" y="4201668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8" invalidUrl="" action="" tgtFrame="" tooltip="https://github.com/tesseract-ocr/tesseract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github.com/tesseract-ocr · github.com/rapidfuzz</a:t>
            </a:r>
            <a:endParaRPr lang="en-US" sz="580" dirty="0"/>
          </a:p>
        </p:txBody>
      </p:sp>
      <p:sp>
        <p:nvSpPr>
          <p:cNvPr id="60" name="Shape 58"/>
          <p:cNvSpPr/>
          <p:nvPr/>
        </p:nvSpPr>
        <p:spPr>
          <a:xfrm>
            <a:off x="301752" y="4361688"/>
            <a:ext cx="3017520" cy="384048"/>
          </a:xfrm>
          <a:prstGeom prst="roundRect">
            <a:avLst>
              <a:gd name="adj" fmla="val 9524"/>
            </a:avLst>
          </a:prstGeom>
          <a:solidFill>
            <a:srgbClr val="F6F3F3"/>
          </a:solidFill>
          <a:ln w="9525">
            <a:solidFill>
              <a:srgbClr val="D9CFC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47472" y="4462272"/>
            <a:ext cx="219456" cy="219456"/>
          </a:xfrm>
          <a:prstGeom prst="ellipse">
            <a:avLst/>
          </a:prstGeom>
          <a:solidFill>
            <a:srgbClr val="8B2A2A"/>
          </a:solidFill>
          <a:ln w="12700">
            <a:solidFill>
              <a:srgbClr val="8B2A2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47472" y="44622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64" dirty="0"/>
          </a:p>
        </p:txBody>
      </p:sp>
      <p:sp>
        <p:nvSpPr>
          <p:cNvPr id="63" name="Text 61"/>
          <p:cNvSpPr txBox="1"/>
          <p:nvPr/>
        </p:nvSpPr>
        <p:spPr>
          <a:xfrm>
            <a:off x="621792" y="4379976"/>
            <a:ext cx="2670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8B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TinyFish documentation</a:t>
            </a:r>
            <a:endParaRPr lang="en-US" sz="690" dirty="0"/>
          </a:p>
        </p:txBody>
      </p:sp>
      <p:sp>
        <p:nvSpPr>
          <p:cNvPr id="64" name="Text 62"/>
          <p:cNvSpPr txBox="1"/>
          <p:nvPr/>
        </p:nvSpPr>
        <p:spPr>
          <a:xfrm>
            <a:off x="621792" y="4498848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Fetch, Search and Web Agent APIs used for evidence curation</a:t>
            </a:r>
            <a:endParaRPr lang="en-US" sz="580" dirty="0"/>
          </a:p>
        </p:txBody>
      </p:sp>
      <p:sp>
        <p:nvSpPr>
          <p:cNvPr id="65" name="Text 63"/>
          <p:cNvSpPr txBox="1"/>
          <p:nvPr/>
        </p:nvSpPr>
        <p:spPr>
          <a:xfrm>
            <a:off x="621792" y="4617720"/>
            <a:ext cx="2670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u="sng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9" invalidUrl="" action="" tgtFrame="" tooltip="https://docs.tinyfish.ai/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docs.tinyfish.ai</a:t>
            </a:r>
            <a:endParaRPr lang="en-US" sz="580" dirty="0"/>
          </a:p>
        </p:txBody>
      </p:sp>
      <p:sp>
        <p:nvSpPr>
          <p:cNvPr id="66" name="Text 64"/>
          <p:cNvSpPr txBox="1"/>
          <p:nvPr/>
        </p:nvSpPr>
        <p:spPr>
          <a:xfrm>
            <a:off x="3520440" y="749808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7A1F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EXISTING TOOLS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20440" y="987552"/>
          <a:ext cx="539496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1051560"/>
                <a:gridCol w="1051560"/>
                <a:gridCol w="1234440"/>
                <a:gridCol w="118872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MEDSCAPE · DRUGS.COM · 1MG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MSKCC · NATURAL MEDICINES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TAKESURE (OUR APP)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8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TAKESURE?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E0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Ayurveda × allopathy check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Allopathic × allopathic pairs only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 Single-herb monographs only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★★☆☆☆  2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Prescription × Ayurvedic product, every herb–drug pair checked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  5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Only tool that checks the two systems people already mix.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brands &amp; Hindi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 Partly covered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★★★☆☆  3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Western herbs, English only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Indian brands + Sanskrit / Hindi synonyms, Hindi UI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  5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Matches Himalaya, Dabur and the names patients actually use.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Sources on every verdict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Sources shown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  4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Sources shown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  4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Sources + grade A/B/C with DOI/PMID; marked “needs verification” until re-checked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★★★★☆  4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Weak evidence is shown as weak, never hidden — and we say so when a citation is not yet re-verified.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2A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ADR report to Ministry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No reporting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✗ No reporting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★☆☆☆☆  1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✓ One-tap report in Ministry of Ayush format
</a:t>
                      </a:r>
                      <a:pPr indent="0" marL="0">
                        <a:buNone/>
                      </a:pPr>
                      <a:r>
                        <a:rPr lang="en-US" sz="680" b="1" dirty="0">
                          <a:solidFill>
                            <a:srgbClr val="B86E00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  5 /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t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30" b="1" dirty="0">
                          <a:solidFill>
                            <a:srgbClr val="7A1F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 Feeds the Ayush pharmacovigilance network.</a:t>
                      </a:r>
                      <a:endParaRPr lang="en-US" sz="63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RATING</a:t>
                      </a:r>
                      <a:endParaRPr lang="en-US" sz="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Medscape  2.3 / 5
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★★☆☆☆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MSKCC  2.0 / 5
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★★☆☆☆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TakeSure  4.8 / 5
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FFFFFF"/>
                          </a:solidFill>
                          <a:latin typeface="Segoe UI Symbol" pitchFamily="34" charset="0"/>
                          <a:ea typeface="Segoe UI Symbol" pitchFamily="34" charset="-122"/>
                          <a:cs typeface="Segoe UI Symbol" pitchFamily="34" charset="-120"/>
                        </a:rPr>
                        <a:t>★★★★★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F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TakeSure scores 2.5 points higher than the best alternative.</a:t>
                      </a:r>
                      <a:endParaRPr lang="en-US" sz="6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CF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6E00"/>
                    </a:solidFill>
                  </a:tcPr>
                </a:tc>
              </a:tr>
            </a:tbl>
          </a:graphicData>
        </a:graphic>
      </p:graphicFrame>
      <p:sp>
        <p:nvSpPr>
          <p:cNvPr id="68" name="Text 65"/>
          <p:cNvSpPr txBox="1"/>
          <p:nvPr/>
        </p:nvSpPr>
        <p:spPr>
          <a:xfrm>
            <a:off x="3520440" y="42245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i="1" dirty="0">
                <a:solidFill>
                  <a:srgbClr val="5D6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Ratings out of 5 are the team's assessment on the four features compared (sourced = 4, +1 with evidence grade · partly = 3 · single herb = 2 · none = 1). TakeSure takes 4/5 on Sources deliberately: every citation stays marked “needs verification” until a second reviewer re-opens the DOI/PMID.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TakeSure — Kritical Hacks 2026</dc:title>
  <dc:subject>PptxGenJS Presentation</dc:subject>
  <dc:creator>Team Bug Hunters</dc:creator>
  <cp:lastModifiedBy>Team Bug Hunters</cp:lastModifiedBy>
  <cp:revision>1</cp:revision>
  <dcterms:created xsi:type="dcterms:W3CDTF">2026-10-19T18:39:25Z</dcterms:created>
  <dcterms:modified xsi:type="dcterms:W3CDTF">2026-10-19T18:39:25Z</dcterms:modified>
</cp:coreProperties>
</file>