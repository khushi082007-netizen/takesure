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pubmed.ncbi.nlm.nih.gov/28829155/" TargetMode="External"/><Relationship Id="rId2" Type="http://schemas.openxmlformats.org/officeDocument/2006/relationships/hyperlink" Target="https://doi.org/10.4103/0975-9476.146566" TargetMode="External"/><Relationship Id="rId3" Type="http://schemas.openxmlformats.org/officeDocument/2006/relationships/hyperlink" Target="https://doi.org/10.4103/0253-7613.33432" TargetMode="External"/><Relationship Id="rId4" Type="http://schemas.openxmlformats.org/officeDocument/2006/relationships/hyperlink" Target="https://www.jcdr.net/articles/PDF/576/501.pdf" TargetMode="External"/><Relationship Id="rId5" Type="http://schemas.openxmlformats.org/officeDocument/2006/relationships/hyperlink" Target="https://www.mospi.gov.in/sites/default/files/press_release/PressNote_Ayush_13062024N.pdf" TargetMode="External"/><Relationship Id="rId6" Type="http://schemas.openxmlformats.org/officeDocument/2006/relationships/hyperlink" Target="https://suraksha.ayush.gov.in/" TargetMode="External"/><Relationship Id="rId7" Type="http://schemas.openxmlformats.org/officeDocument/2006/relationships/hyperlink" Target="https://itra.ac.in/pharmacovigilance" TargetMode="External"/><Relationship Id="rId8" Type="http://schemas.openxmlformats.org/officeDocument/2006/relationships/hyperlink" Target="https://www.mskcc.org/cancer-care/integrative-medicine/herbs" TargetMode="External"/><Relationship Id="rId9" Type="http://schemas.openxmlformats.org/officeDocument/2006/relationships/hyperlink" Target="https://docs.tinyfish.ai/" TargetMode="External"/><Relationship Id="rId10" Type="http://schemas.openxmlformats.org/officeDocument/2006/relationships/hyperlink" Target="https://github.com/tesseract-ocr/tesseract" TargetMode="External"/><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A300"/>
          </a:solidFill>
          <a:ln w="12700">
            <a:solidFill>
              <a:srgbClr val="F4A300"/>
            </a:solidFill>
            <a:prstDash val="solid"/>
          </a:ln>
        </p:spPr>
      </p:sp>
      <p:pic>
        <p:nvPicPr>
          <p:cNvPr id="3" name="Image 0" descr="C:/Temp/bvp/logo/out/B_mark_transparent.png">    </p:cNvPr>
          <p:cNvPicPr>
            <a:picLocks noChangeAspect="1"/>
          </p:cNvPicPr>
          <p:nvPr/>
        </p:nvPicPr>
        <p:blipFill>
          <a:blip r:embed="rId1"/>
          <a:stretch>
            <a:fillRect/>
          </a:stretch>
        </p:blipFill>
        <p:spPr>
          <a:xfrm>
            <a:off x="7498080" y="365760"/>
            <a:ext cx="1188720" cy="1188720"/>
          </a:xfrm>
          <a:prstGeom prst="rect">
            <a:avLst/>
          </a:prstGeom>
        </p:spPr>
      </p:pic>
      <p:sp>
        <p:nvSpPr>
          <p:cNvPr id="4" name="Shape 1"/>
          <p:cNvSpPr/>
          <p:nvPr/>
        </p:nvSpPr>
        <p:spPr>
          <a:xfrm>
            <a:off x="457200" y="457200"/>
            <a:ext cx="1371600" cy="347472"/>
          </a:xfrm>
          <a:prstGeom prst="roundRect">
            <a:avLst>
              <a:gd name="adj" fmla="val 50000"/>
            </a:avLst>
          </a:prstGeom>
          <a:solidFill>
            <a:srgbClr val="F4A300"/>
          </a:solidFill>
          <a:ln w="9525">
            <a:solidFill>
              <a:srgbClr val="F4A300"/>
            </a:solidFill>
            <a:prstDash val="solid"/>
          </a:ln>
        </p:spPr>
      </p:sp>
      <p:sp>
        <p:nvSpPr>
          <p:cNvPr id="5" name="Text 2"/>
          <p:cNvSpPr txBox="1"/>
          <p:nvPr/>
        </p:nvSpPr>
        <p:spPr>
          <a:xfrm>
            <a:off x="457200" y="457200"/>
            <a:ext cx="1371600"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Bug Hunters</a:t>
            </a:r>
            <a:endParaRPr lang="en-US" sz="1200" dirty="0"/>
          </a:p>
        </p:txBody>
      </p:sp>
      <p:sp>
        <p:nvSpPr>
          <p:cNvPr id="6" name="Text 3"/>
          <p:cNvSpPr txBox="1"/>
          <p:nvPr/>
        </p:nvSpPr>
        <p:spPr>
          <a:xfrm>
            <a:off x="1965960" y="457200"/>
            <a:ext cx="5394960" cy="347472"/>
          </a:xfrm>
          <a:prstGeom prst="rect">
            <a:avLst/>
          </a:prstGeom>
          <a:noFill/>
          <a:ln/>
        </p:spPr>
        <p:txBody>
          <a:bodyPr wrap="square" lIns="0" tIns="0" rIns="0" bIns="0" rtlCol="0" anchor="ctr"/>
          <a:lstStyle/>
          <a:p>
            <a:pPr indent="0" marL="0">
              <a:buNone/>
            </a:pPr>
            <a:r>
              <a:rPr lang="en-US" sz="950" dirty="0">
                <a:solidFill>
                  <a:srgbClr val="C9D1E0"/>
                </a:solidFill>
                <a:latin typeface="Calibri" pitchFamily="34" charset="0"/>
                <a:ea typeface="Calibri" pitchFamily="34" charset="-122"/>
                <a:cs typeface="Calibri" pitchFamily="34" charset="-120"/>
              </a:rPr>
              <a:t>Kritical Hacks 2026 Â· IGDTUW Delhi Â· AI/ML Track (Open Innovation) Â· Student category</a:t>
            </a:r>
            <a:endParaRPr lang="en-US" sz="950" dirty="0"/>
          </a:p>
        </p:txBody>
      </p:sp>
      <p:sp>
        <p:nvSpPr>
          <p:cNvPr id="7" name="Text 4"/>
          <p:cNvSpPr txBox="1"/>
          <p:nvPr/>
        </p:nvSpPr>
        <p:spPr>
          <a:xfrm>
            <a:off x="457200" y="1051560"/>
            <a:ext cx="694944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TakeSure</a:t>
            </a:r>
            <a:pPr indent="0" marL="0">
              <a:buNone/>
            </a:pPr>
            <a:r>
              <a:rPr lang="en-US" sz="3000" b="1" dirty="0">
                <a:solidFill>
                  <a:srgbClr val="F4A300"/>
                </a:solidFill>
                <a:latin typeface="Cambria" pitchFamily="34" charset="0"/>
                <a:ea typeface="Cambria" pitchFamily="34" charset="-122"/>
                <a:cs typeface="Cambria" pitchFamily="34" charset="-120"/>
              </a:rPr>
              <a:t> â€” Confidence before taking something</a:t>
            </a:r>
            <a:endParaRPr lang="en-US" sz="3000" dirty="0"/>
          </a:p>
        </p:txBody>
      </p:sp>
      <p:sp>
        <p:nvSpPr>
          <p:cNvPr id="8" name="Text 5"/>
          <p:cNvSpPr txBox="1"/>
          <p:nvPr/>
        </p:nvSpPr>
        <p:spPr>
          <a:xfrm>
            <a:off x="457200" y="1874520"/>
            <a:ext cx="1188720" cy="512064"/>
          </a:xfrm>
          <a:prstGeom prst="rect">
            <a:avLst/>
          </a:prstGeom>
          <a:noFill/>
          <a:ln/>
        </p:spPr>
        <p:txBody>
          <a:bodyPr wrap="square" lIns="0" tIns="0" rIns="0" bIns="0" rtlCol="0" anchor="t"/>
          <a:lstStyle/>
          <a:p>
            <a:pPr indent="0" marL="0">
              <a:buNone/>
            </a:pPr>
            <a:r>
              <a:rPr lang="en-US" sz="1100" b="1" dirty="0">
                <a:solidFill>
                  <a:srgbClr val="F4A300"/>
                </a:solidFill>
                <a:latin typeface="Calibri" pitchFamily="34" charset="0"/>
                <a:ea typeface="Calibri" pitchFamily="34" charset="-122"/>
                <a:cs typeface="Calibri" pitchFamily="34" charset="-120"/>
              </a:rPr>
              <a:t>Project</a:t>
            </a:r>
            <a:endParaRPr lang="en-US" sz="1100" dirty="0"/>
          </a:p>
        </p:txBody>
      </p:sp>
      <p:sp>
        <p:nvSpPr>
          <p:cNvPr id="9" name="Text 6"/>
          <p:cNvSpPr txBox="1"/>
          <p:nvPr/>
        </p:nvSpPr>
        <p:spPr>
          <a:xfrm>
            <a:off x="1691640" y="1874520"/>
            <a:ext cx="6995160" cy="512064"/>
          </a:xfrm>
          <a:prstGeom prst="rect">
            <a:avLst/>
          </a:prstGeom>
          <a:noFill/>
          <a:ln/>
        </p:spPr>
        <p:txBody>
          <a:bodyPr wrap="square" lIns="0" tIns="0" rIns="0" bIns="0" rtlCol="0" anchor="t"/>
          <a:lstStyle/>
          <a:p>
            <a:pPr indent="0" marL="0">
              <a:lnSpc>
                <a:spcPct val="108000"/>
              </a:lnSpc>
              <a:buNone/>
            </a:pPr>
            <a:r>
              <a:rPr lang="en-US" sz="960" dirty="0">
                <a:solidFill>
                  <a:srgbClr val="E3E8F2"/>
                </a:solidFill>
                <a:latin typeface="Calibri" pitchFamily="34" charset="0"/>
                <a:ea typeface="Calibri" pitchFamily="34" charset="-122"/>
                <a:cs typeface="Calibri" pitchFamily="34" charset="-120"/>
              </a:rPr>
              <a:t>Ayurveda Ã— Allopathy herbâ€“drug interaction checker: photo of prescription + photo of product â†’ sourced, plain-language safety verdict in Hindi/English + Ministry of Ayush ADR report.</a:t>
            </a:r>
            <a:endParaRPr lang="en-US" sz="960" dirty="0"/>
          </a:p>
        </p:txBody>
      </p:sp>
      <p:sp>
        <p:nvSpPr>
          <p:cNvPr id="10" name="Text 7"/>
          <p:cNvSpPr txBox="1"/>
          <p:nvPr/>
        </p:nvSpPr>
        <p:spPr>
          <a:xfrm>
            <a:off x="457200" y="2441448"/>
            <a:ext cx="1188720" cy="512064"/>
          </a:xfrm>
          <a:prstGeom prst="rect">
            <a:avLst/>
          </a:prstGeom>
          <a:noFill/>
          <a:ln/>
        </p:spPr>
        <p:txBody>
          <a:bodyPr wrap="square" lIns="0" tIns="0" rIns="0" bIns="0" rtlCol="0" anchor="t"/>
          <a:lstStyle/>
          <a:p>
            <a:pPr indent="0" marL="0">
              <a:buNone/>
            </a:pPr>
            <a:r>
              <a:rPr lang="en-US" sz="1100" b="1" dirty="0">
                <a:solidFill>
                  <a:srgbClr val="F4A300"/>
                </a:solidFill>
                <a:latin typeface="Calibri" pitchFamily="34" charset="0"/>
                <a:ea typeface="Calibri" pitchFamily="34" charset="-122"/>
                <a:cs typeface="Calibri" pitchFamily="34" charset="-120"/>
              </a:rPr>
              <a:t>Team</a:t>
            </a:r>
            <a:endParaRPr lang="en-US" sz="1100" dirty="0"/>
          </a:p>
        </p:txBody>
      </p:sp>
      <p:sp>
        <p:nvSpPr>
          <p:cNvPr id="11" name="Text 8"/>
          <p:cNvSpPr txBox="1"/>
          <p:nvPr/>
        </p:nvSpPr>
        <p:spPr>
          <a:xfrm>
            <a:off x="1691640" y="2441448"/>
            <a:ext cx="6995160" cy="512064"/>
          </a:xfrm>
          <a:prstGeom prst="rect">
            <a:avLst/>
          </a:prstGeom>
          <a:noFill/>
          <a:ln/>
        </p:spPr>
        <p:txBody>
          <a:bodyPr wrap="square" lIns="0" tIns="0" rIns="0" bIns="0" rtlCol="0" anchor="t"/>
          <a:lstStyle/>
          <a:p>
            <a:pPr indent="0" marL="0">
              <a:lnSpc>
                <a:spcPct val="108000"/>
              </a:lnSpc>
              <a:buNone/>
            </a:pPr>
            <a:r>
              <a:rPr lang="en-US" sz="960" dirty="0">
                <a:solidFill>
                  <a:srgbClr val="E3E8F2"/>
                </a:solidFill>
                <a:latin typeface="Calibri" pitchFamily="34" charset="0"/>
                <a:ea typeface="Calibri" pitchFamily="34" charset="-122"/>
                <a:cs typeface="Calibri" pitchFamily="34" charset="-120"/>
              </a:rPr>
              <a:t>Dhriti Garg (backend, rule engine, medical research) Â· Shiwani Goyal (frontend, Hindi/English UI, pitch) Â· Khushi Gupta (knowledge base, evidence grading, OCR, PDF/ADR)</a:t>
            </a:r>
            <a:endParaRPr lang="en-US" sz="960" dirty="0"/>
          </a:p>
        </p:txBody>
      </p:sp>
      <p:sp>
        <p:nvSpPr>
          <p:cNvPr id="12" name="Text 9"/>
          <p:cNvSpPr txBox="1"/>
          <p:nvPr/>
        </p:nvSpPr>
        <p:spPr>
          <a:xfrm>
            <a:off x="457200" y="3008376"/>
            <a:ext cx="1188720" cy="512064"/>
          </a:xfrm>
          <a:prstGeom prst="rect">
            <a:avLst/>
          </a:prstGeom>
          <a:noFill/>
          <a:ln/>
        </p:spPr>
        <p:txBody>
          <a:bodyPr wrap="square" lIns="0" tIns="0" rIns="0" bIns="0" rtlCol="0" anchor="t"/>
          <a:lstStyle/>
          <a:p>
            <a:pPr indent="0" marL="0">
              <a:buNone/>
            </a:pPr>
            <a:r>
              <a:rPr lang="en-US" sz="1100" b="1" dirty="0">
                <a:solidFill>
                  <a:srgbClr val="F4A300"/>
                </a:solidFill>
                <a:latin typeface="Calibri" pitchFamily="34" charset="0"/>
                <a:ea typeface="Calibri" pitchFamily="34" charset="-122"/>
                <a:cs typeface="Calibri" pitchFamily="34" charset="-120"/>
              </a:rPr>
              <a:t>AI / ML</a:t>
            </a:r>
            <a:endParaRPr lang="en-US" sz="1100" dirty="0"/>
          </a:p>
        </p:txBody>
      </p:sp>
      <p:sp>
        <p:nvSpPr>
          <p:cNvPr id="13" name="Text 10"/>
          <p:cNvSpPr txBox="1"/>
          <p:nvPr/>
        </p:nvSpPr>
        <p:spPr>
          <a:xfrm>
            <a:off x="1691640" y="3008376"/>
            <a:ext cx="6995160" cy="512064"/>
          </a:xfrm>
          <a:prstGeom prst="rect">
            <a:avLst/>
          </a:prstGeom>
          <a:noFill/>
          <a:ln/>
        </p:spPr>
        <p:txBody>
          <a:bodyPr wrap="square" lIns="0" tIns="0" rIns="0" bIns="0" rtlCol="0" anchor="t"/>
          <a:lstStyle/>
          <a:p>
            <a:pPr indent="0" marL="0">
              <a:lnSpc>
                <a:spcPct val="108000"/>
              </a:lnSpc>
              <a:buNone/>
            </a:pPr>
            <a:r>
              <a:rPr lang="en-US" sz="960" dirty="0">
                <a:solidFill>
                  <a:srgbClr val="E3E8F2"/>
                </a:solidFill>
                <a:latin typeface="Calibri" pitchFamily="34" charset="0"/>
                <a:ea typeface="Calibri" pitchFamily="34" charset="-122"/>
                <a:cs typeface="Calibri" pitchFamily="34" charset="-120"/>
              </a:rPr>
              <a:t>Deep-learning OCR (Tesseract) reads the photos Â· NLP matching resolves Indian brand names Â· an LLM explains the evidence under strict guardrails Â· TinyFish web agents research and verify the knowledge base. Rules decide.</a:t>
            </a:r>
            <a:endParaRPr lang="en-US" sz="960" dirty="0"/>
          </a:p>
        </p:txBody>
      </p:sp>
      <p:sp>
        <p:nvSpPr>
          <p:cNvPr id="14" name="Text 11"/>
          <p:cNvSpPr txBox="1"/>
          <p:nvPr/>
        </p:nvSpPr>
        <p:spPr>
          <a:xfrm>
            <a:off x="457200" y="3575304"/>
            <a:ext cx="1188720" cy="512064"/>
          </a:xfrm>
          <a:prstGeom prst="rect">
            <a:avLst/>
          </a:prstGeom>
          <a:noFill/>
          <a:ln/>
        </p:spPr>
        <p:txBody>
          <a:bodyPr wrap="square" lIns="0" tIns="0" rIns="0" bIns="0" rtlCol="0" anchor="t"/>
          <a:lstStyle/>
          <a:p>
            <a:pPr indent="0" marL="0">
              <a:buNone/>
            </a:pPr>
            <a:r>
              <a:rPr lang="en-US" sz="1100" b="1" dirty="0">
                <a:solidFill>
                  <a:srgbClr val="F4A300"/>
                </a:solidFill>
                <a:latin typeface="Calibri" pitchFamily="34" charset="0"/>
                <a:ea typeface="Calibri" pitchFamily="34" charset="-122"/>
                <a:cs typeface="Calibri" pitchFamily="34" charset="-120"/>
              </a:rPr>
              <a:t>TinyFish</a:t>
            </a:r>
            <a:endParaRPr lang="en-US" sz="1100" dirty="0"/>
          </a:p>
        </p:txBody>
      </p:sp>
      <p:sp>
        <p:nvSpPr>
          <p:cNvPr id="15" name="Text 12"/>
          <p:cNvSpPr txBox="1"/>
          <p:nvPr/>
        </p:nvSpPr>
        <p:spPr>
          <a:xfrm>
            <a:off x="1691640" y="3575304"/>
            <a:ext cx="6995160" cy="512064"/>
          </a:xfrm>
          <a:prstGeom prst="rect">
            <a:avLst/>
          </a:prstGeom>
          <a:noFill/>
          <a:ln/>
        </p:spPr>
        <p:txBody>
          <a:bodyPr wrap="square" lIns="0" tIns="0" rIns="0" bIns="0" rtlCol="0" anchor="t"/>
          <a:lstStyle/>
          <a:p>
            <a:pPr indent="0" marL="0">
              <a:lnSpc>
                <a:spcPct val="108000"/>
              </a:lnSpc>
              <a:buNone/>
            </a:pPr>
            <a:r>
              <a:rPr lang="en-US" sz="960" dirty="0">
                <a:solidFill>
                  <a:srgbClr val="E3E8F2"/>
                </a:solidFill>
                <a:latin typeface="Calibri" pitchFamily="34" charset="0"/>
                <a:ea typeface="Calibri" pitchFamily="34" charset="-122"/>
                <a:cs typeface="Calibri" pitchFamily="34" charset="-120"/>
              </a:rPr>
              <a:t>Fetch API verifies every citation Â· Web Agent drafts interaction rows from MSKCC / LiverTox monographs Â· Search + Agent map Indian products to their herbs. Functional today; every draft is human-approved.</a:t>
            </a:r>
            <a:endParaRPr lang="en-US" sz="960" dirty="0"/>
          </a:p>
        </p:txBody>
      </p:sp>
      <p:sp>
        <p:nvSpPr>
          <p:cNvPr id="16" name="Text 13"/>
          <p:cNvSpPr txBox="1"/>
          <p:nvPr/>
        </p:nvSpPr>
        <p:spPr>
          <a:xfrm>
            <a:off x="457200" y="4142232"/>
            <a:ext cx="1188720" cy="512064"/>
          </a:xfrm>
          <a:prstGeom prst="rect">
            <a:avLst/>
          </a:prstGeom>
          <a:noFill/>
          <a:ln/>
        </p:spPr>
        <p:txBody>
          <a:bodyPr wrap="square" lIns="0" tIns="0" rIns="0" bIns="0" rtlCol="0" anchor="t"/>
          <a:lstStyle/>
          <a:p>
            <a:pPr indent="0" marL="0">
              <a:buNone/>
            </a:pPr>
            <a:r>
              <a:rPr lang="en-US" sz="1100" b="1" dirty="0">
                <a:solidFill>
                  <a:srgbClr val="F4A300"/>
                </a:solidFill>
                <a:latin typeface="Calibri" pitchFamily="34" charset="0"/>
                <a:ea typeface="Calibri" pitchFamily="34" charset="-122"/>
                <a:cs typeface="Calibri" pitchFamily="34" charset="-120"/>
              </a:rPr>
              <a:t>Status</a:t>
            </a:r>
            <a:endParaRPr lang="en-US" sz="1100" dirty="0"/>
          </a:p>
        </p:txBody>
      </p:sp>
      <p:sp>
        <p:nvSpPr>
          <p:cNvPr id="17" name="Text 14"/>
          <p:cNvSpPr txBox="1"/>
          <p:nvPr/>
        </p:nvSpPr>
        <p:spPr>
          <a:xfrm>
            <a:off x="1691640" y="4142232"/>
            <a:ext cx="6995160" cy="512064"/>
          </a:xfrm>
          <a:prstGeom prst="rect">
            <a:avLst/>
          </a:prstGeom>
          <a:noFill/>
          <a:ln/>
        </p:spPr>
        <p:txBody>
          <a:bodyPr wrap="square" lIns="0" tIns="0" rIns="0" bIns="0" rtlCol="0" anchor="t"/>
          <a:lstStyle/>
          <a:p>
            <a:pPr indent="0" marL="0">
              <a:lnSpc>
                <a:spcPct val="108000"/>
              </a:lnSpc>
              <a:buNone/>
            </a:pPr>
            <a:r>
              <a:rPr lang="en-US" sz="960" dirty="0">
                <a:solidFill>
                  <a:srgbClr val="E3E8F2"/>
                </a:solidFill>
                <a:latin typeface="Calibri" pitchFamily="34" charset="0"/>
                <a:ea typeface="Calibri" pitchFamily="34" charset="-122"/>
                <a:cs typeface="Calibri" pitchFamily="34" charset="-120"/>
              </a:rPr>
              <a:t>Working prototype: 25 API routes, 49 cited interactions, 78 sources, 58 automated tests. Offline-capable.</a:t>
            </a:r>
            <a:endParaRPr lang="en-US" sz="960" dirty="0"/>
          </a:p>
        </p:txBody>
      </p:sp>
      <p:sp>
        <p:nvSpPr>
          <p:cNvPr id="18" name="Shape 15"/>
          <p:cNvSpPr/>
          <p:nvPr/>
        </p:nvSpPr>
        <p:spPr>
          <a:xfrm>
            <a:off x="0" y="4754880"/>
            <a:ext cx="9144000" cy="370332"/>
          </a:xfrm>
          <a:prstGeom prst="rect">
            <a:avLst/>
          </a:prstGeom>
          <a:solidFill>
            <a:srgbClr val="0E172C"/>
          </a:solidFill>
          <a:ln w="12700">
            <a:solidFill>
              <a:srgbClr val="0E172C"/>
            </a:solidFill>
            <a:prstDash val="solid"/>
          </a:ln>
        </p:spPr>
      </p:sp>
      <p:sp>
        <p:nvSpPr>
          <p:cNvPr id="19" name="Text 16"/>
          <p:cNvSpPr txBox="1"/>
          <p:nvPr/>
        </p:nvSpPr>
        <p:spPr>
          <a:xfrm>
            <a:off x="457200" y="4754880"/>
            <a:ext cx="8229600" cy="370332"/>
          </a:xfrm>
          <a:prstGeom prst="rect">
            <a:avLst/>
          </a:prstGeom>
          <a:noFill/>
          <a:ln/>
        </p:spPr>
        <p:txBody>
          <a:bodyPr wrap="square" lIns="0" tIns="0" rIns="0" bIns="0" rtlCol="0" anchor="ctr"/>
          <a:lstStyle/>
          <a:p>
            <a:pPr indent="0" marL="0">
              <a:buNone/>
            </a:pPr>
            <a:r>
              <a:rPr lang="en-US" sz="850" i="1" dirty="0">
                <a:solidFill>
                  <a:srgbClr val="9DB4E0"/>
                </a:solidFill>
                <a:latin typeface="Calibri" pitchFamily="34" charset="0"/>
                <a:ea typeface="Calibri" pitchFamily="34" charset="-122"/>
                <a:cs typeface="Calibri" pitchFamily="34" charset="-120"/>
              </a:rPr>
              <a:t>Aligned with the Ministry of Ayush Pharmacovigilance Programme for ASU&amp;H drugs Â· decision support, never diagnosis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4213D"/>
          </a:solidFill>
          <a:ln w="12700">
            <a:solidFill>
              <a:srgbClr val="14213D"/>
            </a:solidFill>
            <a:prstDash val="solid"/>
          </a:ln>
        </p:spPr>
      </p:sp>
      <p:sp>
        <p:nvSpPr>
          <p:cNvPr id="3" name="Shape 1"/>
          <p:cNvSpPr/>
          <p:nvPr/>
        </p:nvSpPr>
        <p:spPr>
          <a:xfrm>
            <a:off x="0" y="566928"/>
            <a:ext cx="9144000" cy="36576"/>
          </a:xfrm>
          <a:prstGeom prst="rect">
            <a:avLst/>
          </a:prstGeom>
          <a:solidFill>
            <a:srgbClr val="F4A300"/>
          </a:solidFill>
          <a:ln w="12700">
            <a:solidFill>
              <a:srgbClr val="F4A300"/>
            </a:solidFill>
            <a:prstDash val="solid"/>
          </a:ln>
        </p:spPr>
      </p:sp>
      <p:sp>
        <p:nvSpPr>
          <p:cNvPr id="4" name="Shape 2"/>
          <p:cNvSpPr/>
          <p:nvPr/>
        </p:nvSpPr>
        <p:spPr>
          <a:xfrm>
            <a:off x="228600" y="128016"/>
            <a:ext cx="1234440" cy="310896"/>
          </a:xfrm>
          <a:prstGeom prst="roundRect">
            <a:avLst>
              <a:gd name="adj" fmla="val 50000"/>
            </a:avLst>
          </a:prstGeom>
          <a:solidFill>
            <a:srgbClr val="F4A300"/>
          </a:solidFill>
          <a:ln w="9525">
            <a:solidFill>
              <a:srgbClr val="F4A300"/>
            </a:solidFill>
            <a:prstDash val="solid"/>
          </a:ln>
        </p:spPr>
      </p:sp>
      <p:sp>
        <p:nvSpPr>
          <p:cNvPr id="5" name="Text 3"/>
          <p:cNvSpPr txBox="1"/>
          <p:nvPr/>
        </p:nvSpPr>
        <p:spPr>
          <a:xfrm>
            <a:off x="228600" y="128016"/>
            <a:ext cx="1234440" cy="310896"/>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Bug Hunters</a:t>
            </a:r>
            <a:endParaRPr lang="en-US" sz="1050" dirty="0"/>
          </a:p>
        </p:txBody>
      </p:sp>
      <p:sp>
        <p:nvSpPr>
          <p:cNvPr id="6" name="Text 4"/>
          <p:cNvSpPr txBox="1"/>
          <p:nvPr/>
        </p:nvSpPr>
        <p:spPr>
          <a:xfrm>
            <a:off x="1600200" y="64008"/>
            <a:ext cx="557784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1 Â· PROBLEM STATEMENT</a:t>
            </a:r>
            <a:endParaRPr lang="en-US" sz="1800" dirty="0"/>
          </a:p>
        </p:txBody>
      </p:sp>
      <p:sp>
        <p:nvSpPr>
          <p:cNvPr id="7" name="Text 5"/>
          <p:cNvSpPr txBox="1"/>
          <p:nvPr/>
        </p:nvSpPr>
        <p:spPr>
          <a:xfrm>
            <a:off x="7223760" y="91440"/>
            <a:ext cx="1691640" cy="402336"/>
          </a:xfrm>
          <a:prstGeom prst="rect">
            <a:avLst/>
          </a:prstGeom>
          <a:noFill/>
          <a:ln/>
        </p:spPr>
        <p:txBody>
          <a:bodyPr wrap="square" lIns="0" tIns="0" rIns="0" bIns="0" rtlCol="0" anchor="ctr"/>
          <a:lstStyle/>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KRITICAL HACKS 2026</a:t>
            </a:r>
            <a:endParaRPr lang="en-US" sz="850" dirty="0"/>
          </a:p>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IGDTUW Â· AI/ML Track</a:t>
            </a:r>
            <a:endParaRPr lang="en-US" sz="850" dirty="0"/>
          </a:p>
        </p:txBody>
      </p:sp>
      <p:sp>
        <p:nvSpPr>
          <p:cNvPr id="8" name="Shape 6"/>
          <p:cNvSpPr/>
          <p:nvPr/>
        </p:nvSpPr>
        <p:spPr>
          <a:xfrm>
            <a:off x="0" y="4937760"/>
            <a:ext cx="9144000" cy="205740"/>
          </a:xfrm>
          <a:prstGeom prst="rect">
            <a:avLst/>
          </a:prstGeom>
          <a:solidFill>
            <a:srgbClr val="14213D"/>
          </a:solidFill>
          <a:ln w="12700">
            <a:solidFill>
              <a:srgbClr val="14213D"/>
            </a:solidFill>
            <a:prstDash val="solid"/>
          </a:ln>
        </p:spPr>
      </p:sp>
      <p:sp>
        <p:nvSpPr>
          <p:cNvPr id="9" name="Text 7"/>
          <p:cNvSpPr txBox="1"/>
          <p:nvPr/>
        </p:nvSpPr>
        <p:spPr>
          <a:xfrm>
            <a:off x="228600" y="4937760"/>
            <a:ext cx="6400800" cy="205740"/>
          </a:xfrm>
          <a:prstGeom prst="rect">
            <a:avLst/>
          </a:prstGeom>
          <a:noFill/>
          <a:ln/>
        </p:spPr>
        <p:txBody>
          <a:bodyPr wrap="square" lIns="0" tIns="0" rIns="0" bIns="0" rtlCol="0" anchor="ctr"/>
          <a:lstStyle/>
          <a:p>
            <a:pPr indent="0" marL="0">
              <a:buNone/>
            </a:pPr>
            <a:r>
              <a:rPr lang="en-US" sz="700" dirty="0">
                <a:solidFill>
                  <a:srgbClr val="C9D1E0"/>
                </a:solidFill>
                <a:latin typeface="Calibri" pitchFamily="34" charset="0"/>
                <a:ea typeface="Calibri" pitchFamily="34" charset="-122"/>
                <a:cs typeface="Calibri" pitchFamily="34" charset="-120"/>
              </a:rPr>
              <a:t>TakeSure Â· Confidence before taking something Â· Team Bug Hunters Â· Kritical Hacks 2026</a:t>
            </a:r>
            <a:endParaRPr lang="en-US" sz="700" dirty="0"/>
          </a:p>
        </p:txBody>
      </p:sp>
      <p:sp>
        <p:nvSpPr>
          <p:cNvPr id="10" name="Text 8"/>
          <p:cNvSpPr txBox="1"/>
          <p:nvPr/>
        </p:nvSpPr>
        <p:spPr>
          <a:xfrm>
            <a:off x="5943600" y="4937760"/>
            <a:ext cx="2971800" cy="205740"/>
          </a:xfrm>
          <a:prstGeom prst="rect">
            <a:avLst/>
          </a:prstGeom>
          <a:noFill/>
          <a:ln/>
        </p:spPr>
        <p:txBody>
          <a:bodyPr wrap="square" lIns="0" tIns="0" rIns="0" bIns="0" rtlCol="0" anchor="ctr"/>
          <a:lstStyle/>
          <a:p>
            <a:pPr algn="r" indent="0" marL="0">
              <a:buNone/>
            </a:pPr>
            <a:r>
              <a:rPr lang="en-US" sz="700" dirty="0">
                <a:solidFill>
                  <a:srgbClr val="C9D1E0"/>
                </a:solidFill>
                <a:latin typeface="Calibri" pitchFamily="34" charset="0"/>
                <a:ea typeface="Calibri" pitchFamily="34" charset="-122"/>
                <a:cs typeface="Calibri" pitchFamily="34" charset="-120"/>
              </a:rPr>
              <a:t>Decision support Â· not diagnosis   2</a:t>
            </a:r>
            <a:endParaRPr lang="en-US" sz="700" dirty="0"/>
          </a:p>
        </p:txBody>
      </p:sp>
      <p:sp>
        <p:nvSpPr>
          <p:cNvPr id="11" name="Shape 9"/>
          <p:cNvSpPr/>
          <p:nvPr/>
        </p:nvSpPr>
        <p:spPr>
          <a:xfrm>
            <a:off x="228600" y="777240"/>
            <a:ext cx="5577840" cy="2697480"/>
          </a:xfrm>
          <a:prstGeom prst="roundRect">
            <a:avLst>
              <a:gd name="adj" fmla="val 1695"/>
            </a:avLst>
          </a:prstGeom>
          <a:solidFill>
            <a:srgbClr val="FFFFFF"/>
          </a:solidFill>
          <a:ln w="9525">
            <a:solidFill>
              <a:srgbClr val="C9D0DD"/>
            </a:solidFill>
            <a:prstDash val="solid"/>
          </a:ln>
        </p:spPr>
      </p:sp>
      <p:sp>
        <p:nvSpPr>
          <p:cNvPr id="12" name="Shape 10"/>
          <p:cNvSpPr/>
          <p:nvPr/>
        </p:nvSpPr>
        <p:spPr>
          <a:xfrm>
            <a:off x="228600" y="777240"/>
            <a:ext cx="5577840" cy="237744"/>
          </a:xfrm>
          <a:prstGeom prst="rect">
            <a:avLst/>
          </a:prstGeom>
          <a:solidFill>
            <a:srgbClr val="14213D"/>
          </a:solidFill>
          <a:ln w="12700">
            <a:solidFill>
              <a:srgbClr val="14213D"/>
            </a:solidFill>
            <a:prstDash val="solid"/>
          </a:ln>
        </p:spPr>
      </p:sp>
      <p:sp>
        <p:nvSpPr>
          <p:cNvPr id="13" name="Text 11"/>
          <p:cNvSpPr txBox="1"/>
          <p:nvPr/>
        </p:nvSpPr>
        <p:spPr>
          <a:xfrm>
            <a:off x="320040" y="777240"/>
            <a:ext cx="539496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THE GAP NOBODY CHECKS</a:t>
            </a:r>
            <a:endParaRPr lang="en-US" sz="850" dirty="0"/>
          </a:p>
        </p:txBody>
      </p:sp>
      <p:sp>
        <p:nvSpPr>
          <p:cNvPr id="14" name="Shape 12"/>
          <p:cNvSpPr/>
          <p:nvPr/>
        </p:nvSpPr>
        <p:spPr>
          <a:xfrm>
            <a:off x="365760" y="1115568"/>
            <a:ext cx="237744" cy="237744"/>
          </a:xfrm>
          <a:prstGeom prst="ellipse">
            <a:avLst/>
          </a:prstGeom>
          <a:solidFill>
            <a:srgbClr val="14213D"/>
          </a:solidFill>
          <a:ln w="12700">
            <a:solidFill>
              <a:srgbClr val="14213D"/>
            </a:solidFill>
            <a:prstDash val="solid"/>
          </a:ln>
        </p:spPr>
      </p:sp>
      <p:sp>
        <p:nvSpPr>
          <p:cNvPr id="15" name="Text 13"/>
          <p:cNvSpPr txBox="1"/>
          <p:nvPr/>
        </p:nvSpPr>
        <p:spPr>
          <a:xfrm>
            <a:off x="365760" y="1115568"/>
            <a:ext cx="237744" cy="237744"/>
          </a:xfrm>
          <a:prstGeom prst="rect">
            <a:avLst/>
          </a:prstGeom>
          <a:noFill/>
          <a:ln/>
        </p:spPr>
        <p:txBody>
          <a:bodyPr wrap="square" lIns="0" tIns="0" rIns="0" bIns="0" rtlCol="0" anchor="ctr"/>
          <a:lstStyle/>
          <a:p>
            <a:pPr algn="ctr" indent="0" marL="0">
              <a:buNone/>
            </a:pPr>
            <a:r>
              <a:rPr lang="en-US" sz="884" b="1" dirty="0">
                <a:solidFill>
                  <a:srgbClr val="F4A300"/>
                </a:solidFill>
                <a:latin typeface="Calibri" pitchFamily="34" charset="0"/>
                <a:ea typeface="Calibri" pitchFamily="34" charset="-122"/>
                <a:cs typeface="Calibri" pitchFamily="34" charset="-120"/>
              </a:rPr>
              <a:t>1</a:t>
            </a:r>
            <a:endParaRPr lang="en-US" sz="884" dirty="0"/>
          </a:p>
        </p:txBody>
      </p:sp>
      <p:sp>
        <p:nvSpPr>
          <p:cNvPr id="16" name="Text 14"/>
          <p:cNvSpPr txBox="1"/>
          <p:nvPr/>
        </p:nvSpPr>
        <p:spPr>
          <a:xfrm>
            <a:off x="713232" y="1097280"/>
            <a:ext cx="4983480" cy="841248"/>
          </a:xfrm>
          <a:prstGeom prst="rect">
            <a:avLst/>
          </a:prstGeom>
          <a:noFill/>
          <a:ln/>
        </p:spPr>
        <p:txBody>
          <a:bodyPr wrap="square" lIns="0" tIns="0" rIns="0" bIns="0" rtlCol="0" anchor="t"/>
          <a:lstStyle/>
          <a:p>
            <a:pPr indent="0" marL="0">
              <a:buNone/>
            </a:pPr>
            <a:r>
              <a:rPr lang="en-US" sz="860" b="1" dirty="0">
                <a:solidFill>
                  <a:srgbClr val="14213D"/>
                </a:solidFill>
                <a:latin typeface="Calibri" pitchFamily="34" charset="0"/>
                <a:ea typeface="Calibri" pitchFamily="34" charset="-122"/>
                <a:cs typeface="Calibri" pitchFamily="34" charset="-120"/>
              </a:rPr>
              <a:t>India runs two medical systems side by side â€” and nobody checks the combination. </a:t>
            </a:r>
            <a:pPr indent="0" marL="0">
              <a:buNone/>
            </a:pPr>
            <a:r>
              <a:rPr lang="en-US" sz="860" dirty="0">
                <a:solidFill>
                  <a:srgbClr val="333333"/>
                </a:solidFill>
                <a:latin typeface="Calibri" pitchFamily="34" charset="0"/>
                <a:ea typeface="Calibri" pitchFamily="34" charset="-122"/>
                <a:cs typeface="Calibri" pitchFamily="34" charset="-120"/>
              </a:rPr>
              <a:t>A thyroid patient on Thyronorm adds ashwagandha for stress; a transplant patient on tacrolimus drinks giloy kadha; a cardiac patient on warfarin takes guggul. Ashwagandha can raise thyroid hormone, giloy can oppose immunosuppression, guggul can increase bleeding.</a:t>
            </a:r>
            <a:endParaRPr lang="en-US" sz="860" dirty="0"/>
          </a:p>
        </p:txBody>
      </p:sp>
      <p:sp>
        <p:nvSpPr>
          <p:cNvPr id="17" name="Shape 15"/>
          <p:cNvSpPr/>
          <p:nvPr/>
        </p:nvSpPr>
        <p:spPr>
          <a:xfrm>
            <a:off x="365760" y="1993392"/>
            <a:ext cx="237744" cy="237744"/>
          </a:xfrm>
          <a:prstGeom prst="ellipse">
            <a:avLst/>
          </a:prstGeom>
          <a:solidFill>
            <a:srgbClr val="14213D"/>
          </a:solidFill>
          <a:ln w="12700">
            <a:solidFill>
              <a:srgbClr val="14213D"/>
            </a:solidFill>
            <a:prstDash val="solid"/>
          </a:ln>
        </p:spPr>
      </p:sp>
      <p:sp>
        <p:nvSpPr>
          <p:cNvPr id="18" name="Text 16"/>
          <p:cNvSpPr txBox="1"/>
          <p:nvPr/>
        </p:nvSpPr>
        <p:spPr>
          <a:xfrm>
            <a:off x="365760" y="1993392"/>
            <a:ext cx="237744" cy="237744"/>
          </a:xfrm>
          <a:prstGeom prst="rect">
            <a:avLst/>
          </a:prstGeom>
          <a:noFill/>
          <a:ln/>
        </p:spPr>
        <p:txBody>
          <a:bodyPr wrap="square" lIns="0" tIns="0" rIns="0" bIns="0" rtlCol="0" anchor="ctr"/>
          <a:lstStyle/>
          <a:p>
            <a:pPr algn="ctr" indent="0" marL="0">
              <a:buNone/>
            </a:pPr>
            <a:r>
              <a:rPr lang="en-US" sz="884" b="1" dirty="0">
                <a:solidFill>
                  <a:srgbClr val="F4A300"/>
                </a:solidFill>
                <a:latin typeface="Calibri" pitchFamily="34" charset="0"/>
                <a:ea typeface="Calibri" pitchFamily="34" charset="-122"/>
                <a:cs typeface="Calibri" pitchFamily="34" charset="-120"/>
              </a:rPr>
              <a:t>2</a:t>
            </a:r>
            <a:endParaRPr lang="en-US" sz="884" dirty="0"/>
          </a:p>
        </p:txBody>
      </p:sp>
      <p:sp>
        <p:nvSpPr>
          <p:cNvPr id="19" name="Text 17"/>
          <p:cNvSpPr txBox="1"/>
          <p:nvPr/>
        </p:nvSpPr>
        <p:spPr>
          <a:xfrm>
            <a:off x="713232" y="1975104"/>
            <a:ext cx="4983480" cy="365760"/>
          </a:xfrm>
          <a:prstGeom prst="rect">
            <a:avLst/>
          </a:prstGeom>
          <a:noFill/>
          <a:ln/>
        </p:spPr>
        <p:txBody>
          <a:bodyPr wrap="square" lIns="0" tIns="0" rIns="0" bIns="0" rtlCol="0" anchor="t"/>
          <a:lstStyle/>
          <a:p>
            <a:pPr indent="0" marL="0">
              <a:buNone/>
            </a:pPr>
            <a:r>
              <a:rPr lang="en-US" sz="860" b="1" dirty="0">
                <a:solidFill>
                  <a:srgbClr val="14213D"/>
                </a:solidFill>
                <a:latin typeface="Calibri" pitchFamily="34" charset="0"/>
                <a:ea typeface="Calibri" pitchFamily="34" charset="-122"/>
                <a:cs typeface="Calibri" pitchFamily="34" charset="-120"/>
              </a:rPr>
              <a:t>The doctor rarely asks, the patient rarely tells, the chemist has no tool, </a:t>
            </a:r>
            <a:pPr indent="0" marL="0">
              <a:buNone/>
            </a:pPr>
            <a:r>
              <a:rPr lang="en-US" sz="860" dirty="0">
                <a:solidFill>
                  <a:srgbClr val="333333"/>
                </a:solidFill>
                <a:latin typeface="Calibri" pitchFamily="34" charset="0"/>
                <a:ea typeface="Calibri" pitchFamily="34" charset="-122"/>
                <a:cs typeface="Calibri" pitchFamily="34" charset="-120"/>
              </a:rPr>
              <a:t>and the product label says nothing about allopathic medicines.</a:t>
            </a:r>
            <a:endParaRPr lang="en-US" sz="860" dirty="0"/>
          </a:p>
        </p:txBody>
      </p:sp>
      <p:sp>
        <p:nvSpPr>
          <p:cNvPr id="20" name="Shape 18"/>
          <p:cNvSpPr/>
          <p:nvPr/>
        </p:nvSpPr>
        <p:spPr>
          <a:xfrm>
            <a:off x="365760" y="2395728"/>
            <a:ext cx="237744" cy="237744"/>
          </a:xfrm>
          <a:prstGeom prst="ellipse">
            <a:avLst/>
          </a:prstGeom>
          <a:solidFill>
            <a:srgbClr val="14213D"/>
          </a:solidFill>
          <a:ln w="12700">
            <a:solidFill>
              <a:srgbClr val="14213D"/>
            </a:solidFill>
            <a:prstDash val="solid"/>
          </a:ln>
        </p:spPr>
      </p:sp>
      <p:sp>
        <p:nvSpPr>
          <p:cNvPr id="21" name="Text 19"/>
          <p:cNvSpPr txBox="1"/>
          <p:nvPr/>
        </p:nvSpPr>
        <p:spPr>
          <a:xfrm>
            <a:off x="365760" y="2395728"/>
            <a:ext cx="237744" cy="237744"/>
          </a:xfrm>
          <a:prstGeom prst="rect">
            <a:avLst/>
          </a:prstGeom>
          <a:noFill/>
          <a:ln/>
        </p:spPr>
        <p:txBody>
          <a:bodyPr wrap="square" lIns="0" tIns="0" rIns="0" bIns="0" rtlCol="0" anchor="ctr"/>
          <a:lstStyle/>
          <a:p>
            <a:pPr algn="ctr" indent="0" marL="0">
              <a:buNone/>
            </a:pPr>
            <a:r>
              <a:rPr lang="en-US" sz="884" b="1" dirty="0">
                <a:solidFill>
                  <a:srgbClr val="F4A300"/>
                </a:solidFill>
                <a:latin typeface="Calibri" pitchFamily="34" charset="0"/>
                <a:ea typeface="Calibri" pitchFamily="34" charset="-122"/>
                <a:cs typeface="Calibri" pitchFamily="34" charset="-120"/>
              </a:rPr>
              <a:t>3</a:t>
            </a:r>
            <a:endParaRPr lang="en-US" sz="884" dirty="0"/>
          </a:p>
        </p:txBody>
      </p:sp>
      <p:sp>
        <p:nvSpPr>
          <p:cNvPr id="22" name="Text 20"/>
          <p:cNvSpPr txBox="1"/>
          <p:nvPr/>
        </p:nvSpPr>
        <p:spPr>
          <a:xfrm>
            <a:off x="713232" y="2377440"/>
            <a:ext cx="4983480" cy="566928"/>
          </a:xfrm>
          <a:prstGeom prst="rect">
            <a:avLst/>
          </a:prstGeom>
          <a:noFill/>
          <a:ln/>
        </p:spPr>
        <p:txBody>
          <a:bodyPr wrap="square" lIns="0" tIns="0" rIns="0" bIns="0" rtlCol="0" anchor="t"/>
          <a:lstStyle/>
          <a:p>
            <a:pPr indent="0" marL="0">
              <a:buNone/>
            </a:pPr>
            <a:r>
              <a:rPr lang="en-US" sz="860" b="1" dirty="0">
                <a:solidFill>
                  <a:srgbClr val="14213D"/>
                </a:solidFill>
                <a:latin typeface="Calibri" pitchFamily="34" charset="0"/>
                <a:ea typeface="Calibri" pitchFamily="34" charset="-122"/>
                <a:cs typeface="Calibri" pitchFamily="34" charset="-120"/>
              </a:rPr>
              <a:t>Existing checkers (Medscape, Drugs.com, 1mg) know only allopathic Ã— allopathic pairs; </a:t>
            </a:r>
            <a:pPr indent="0" marL="0">
              <a:buNone/>
            </a:pPr>
            <a:r>
              <a:rPr lang="en-US" sz="860" dirty="0">
                <a:solidFill>
                  <a:srgbClr val="333333"/>
                </a:solidFill>
                <a:latin typeface="Calibri" pitchFamily="34" charset="0"/>
                <a:ea typeface="Calibri" pitchFamily="34" charset="-122"/>
                <a:cs typeface="Calibri" pitchFamily="34" charset="-120"/>
              </a:rPr>
              <a:t>Western herb databases are English-only, paid, and do not know Himalaya Ashvagandha or Dabur Giloy Ghanvati.</a:t>
            </a:r>
            <a:endParaRPr lang="en-US" sz="860" dirty="0"/>
          </a:p>
        </p:txBody>
      </p:sp>
      <p:sp>
        <p:nvSpPr>
          <p:cNvPr id="23" name="Shape 21"/>
          <p:cNvSpPr/>
          <p:nvPr/>
        </p:nvSpPr>
        <p:spPr>
          <a:xfrm>
            <a:off x="365760" y="2880360"/>
            <a:ext cx="1280160" cy="530352"/>
          </a:xfrm>
          <a:prstGeom prst="roundRect">
            <a:avLst>
              <a:gd name="adj" fmla="val 8621"/>
            </a:avLst>
          </a:prstGeom>
          <a:solidFill>
            <a:srgbClr val="F4F6FA"/>
          </a:solidFill>
          <a:ln w="9525">
            <a:solidFill>
              <a:srgbClr val="C9D0DD"/>
            </a:solidFill>
            <a:prstDash val="solid"/>
          </a:ln>
        </p:spPr>
      </p:sp>
      <p:sp>
        <p:nvSpPr>
          <p:cNvPr id="24" name="Text 22"/>
          <p:cNvSpPr txBox="1"/>
          <p:nvPr/>
        </p:nvSpPr>
        <p:spPr>
          <a:xfrm>
            <a:off x="429768" y="2898648"/>
            <a:ext cx="566928" cy="493776"/>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37%</a:t>
            </a:r>
            <a:endParaRPr lang="en-US" sz="1300" dirty="0"/>
          </a:p>
        </p:txBody>
      </p:sp>
      <p:sp>
        <p:nvSpPr>
          <p:cNvPr id="25" name="Text 23"/>
          <p:cNvSpPr txBox="1"/>
          <p:nvPr/>
        </p:nvSpPr>
        <p:spPr>
          <a:xfrm>
            <a:off x="969264" y="2916936"/>
            <a:ext cx="658368" cy="475488"/>
          </a:xfrm>
          <a:prstGeom prst="rect">
            <a:avLst/>
          </a:prstGeom>
          <a:noFill/>
          <a:ln/>
        </p:spPr>
        <p:txBody>
          <a:bodyPr wrap="square" lIns="0" tIns="0" rIns="0" bIns="0" rtlCol="0" anchor="ctr"/>
          <a:lstStyle/>
          <a:p>
            <a:pPr indent="0" marL="0">
              <a:buNone/>
            </a:pPr>
            <a:r>
              <a:rPr lang="en-US" sz="630" dirty="0">
                <a:solidFill>
                  <a:srgbClr val="5D6166"/>
                </a:solidFill>
                <a:latin typeface="Calibri" pitchFamily="34" charset="0"/>
                <a:ea typeface="Calibri" pitchFamily="34" charset="-122"/>
                <a:cs typeface="Calibri" pitchFamily="34" charset="-120"/>
              </a:rPr>
              <a:t>of hospital patients use allopathic + herbal medicines together</a:t>
            </a:r>
            <a:endParaRPr lang="en-US" sz="630" dirty="0"/>
          </a:p>
        </p:txBody>
      </p:sp>
      <p:sp>
        <p:nvSpPr>
          <p:cNvPr id="26" name="Shape 24"/>
          <p:cNvSpPr/>
          <p:nvPr/>
        </p:nvSpPr>
        <p:spPr>
          <a:xfrm>
            <a:off x="1719072" y="2880360"/>
            <a:ext cx="1280160" cy="530352"/>
          </a:xfrm>
          <a:prstGeom prst="roundRect">
            <a:avLst>
              <a:gd name="adj" fmla="val 8621"/>
            </a:avLst>
          </a:prstGeom>
          <a:solidFill>
            <a:srgbClr val="F4F6FA"/>
          </a:solidFill>
          <a:ln w="9525">
            <a:solidFill>
              <a:srgbClr val="C9D0DD"/>
            </a:solidFill>
            <a:prstDash val="solid"/>
          </a:ln>
        </p:spPr>
      </p:sp>
      <p:sp>
        <p:nvSpPr>
          <p:cNvPr id="27" name="Text 25"/>
          <p:cNvSpPr txBox="1"/>
          <p:nvPr/>
        </p:nvSpPr>
        <p:spPr>
          <a:xfrm>
            <a:off x="1783080" y="2898648"/>
            <a:ext cx="566928" cy="493776"/>
          </a:xfrm>
          <a:prstGeom prst="rect">
            <a:avLst/>
          </a:prstGeom>
          <a:noFill/>
          <a:ln/>
        </p:spPr>
        <p:txBody>
          <a:bodyPr wrap="square" lIns="0" tIns="0" rIns="0" bIns="0" rtlCol="0" anchor="ctr"/>
          <a:lstStyle/>
          <a:p>
            <a:pPr indent="0" marL="0">
              <a:buNone/>
            </a:pPr>
            <a:r>
              <a:rPr lang="en-US" sz="1300" b="1" dirty="0">
                <a:solidFill>
                  <a:srgbClr val="B86E00"/>
                </a:solidFill>
                <a:latin typeface="Calibri" pitchFamily="34" charset="0"/>
                <a:ea typeface="Calibri" pitchFamily="34" charset="-122"/>
                <a:cs typeface="Calibri" pitchFamily="34" charset="-120"/>
              </a:rPr>
              <a:t>65%</a:t>
            </a:r>
            <a:endParaRPr lang="en-US" sz="1300" dirty="0"/>
          </a:p>
        </p:txBody>
      </p:sp>
      <p:sp>
        <p:nvSpPr>
          <p:cNvPr id="28" name="Text 26"/>
          <p:cNvSpPr txBox="1"/>
          <p:nvPr/>
        </p:nvSpPr>
        <p:spPr>
          <a:xfrm>
            <a:off x="2322576" y="2916936"/>
            <a:ext cx="658368" cy="475488"/>
          </a:xfrm>
          <a:prstGeom prst="rect">
            <a:avLst/>
          </a:prstGeom>
          <a:noFill/>
          <a:ln/>
        </p:spPr>
        <p:txBody>
          <a:bodyPr wrap="square" lIns="0" tIns="0" rIns="0" bIns="0" rtlCol="0" anchor="ctr"/>
          <a:lstStyle/>
          <a:p>
            <a:pPr indent="0" marL="0">
              <a:buNone/>
            </a:pPr>
            <a:r>
              <a:rPr lang="en-US" sz="630" dirty="0">
                <a:solidFill>
                  <a:srgbClr val="5D6166"/>
                </a:solidFill>
                <a:latin typeface="Calibri" pitchFamily="34" charset="0"/>
                <a:ea typeface="Calibri" pitchFamily="34" charset="-122"/>
                <a:cs typeface="Calibri" pitchFamily="34" charset="-120"/>
              </a:rPr>
              <a:t>of herbal users lack knowledge of dose, side effects, interactions</a:t>
            </a:r>
            <a:endParaRPr lang="en-US" sz="630" dirty="0"/>
          </a:p>
        </p:txBody>
      </p:sp>
      <p:sp>
        <p:nvSpPr>
          <p:cNvPr id="29" name="Shape 27"/>
          <p:cNvSpPr/>
          <p:nvPr/>
        </p:nvSpPr>
        <p:spPr>
          <a:xfrm>
            <a:off x="3072384" y="2880360"/>
            <a:ext cx="1280160" cy="530352"/>
          </a:xfrm>
          <a:prstGeom prst="roundRect">
            <a:avLst>
              <a:gd name="adj" fmla="val 8621"/>
            </a:avLst>
          </a:prstGeom>
          <a:solidFill>
            <a:srgbClr val="F4F6FA"/>
          </a:solidFill>
          <a:ln w="9525">
            <a:solidFill>
              <a:srgbClr val="C9D0DD"/>
            </a:solidFill>
            <a:prstDash val="solid"/>
          </a:ln>
        </p:spPr>
      </p:sp>
      <p:sp>
        <p:nvSpPr>
          <p:cNvPr id="30" name="Text 28"/>
          <p:cNvSpPr txBox="1"/>
          <p:nvPr/>
        </p:nvSpPr>
        <p:spPr>
          <a:xfrm>
            <a:off x="3136392" y="2898648"/>
            <a:ext cx="566928" cy="493776"/>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19%</a:t>
            </a:r>
            <a:endParaRPr lang="en-US" sz="1300" dirty="0"/>
          </a:p>
        </p:txBody>
      </p:sp>
      <p:sp>
        <p:nvSpPr>
          <p:cNvPr id="31" name="Text 29"/>
          <p:cNvSpPr txBox="1"/>
          <p:nvPr/>
        </p:nvSpPr>
        <p:spPr>
          <a:xfrm>
            <a:off x="3675888" y="2916936"/>
            <a:ext cx="658368" cy="475488"/>
          </a:xfrm>
          <a:prstGeom prst="rect">
            <a:avLst/>
          </a:prstGeom>
          <a:noFill/>
          <a:ln/>
        </p:spPr>
        <p:txBody>
          <a:bodyPr wrap="square" lIns="0" tIns="0" rIns="0" bIns="0" rtlCol="0" anchor="ctr"/>
          <a:lstStyle/>
          <a:p>
            <a:pPr indent="0" marL="0">
              <a:buNone/>
            </a:pPr>
            <a:r>
              <a:rPr lang="en-US" sz="630" dirty="0">
                <a:solidFill>
                  <a:srgbClr val="5D6166"/>
                </a:solidFill>
                <a:latin typeface="Calibri" pitchFamily="34" charset="0"/>
                <a:ea typeface="Calibri" pitchFamily="34" charset="-122"/>
                <a:cs typeface="Calibri" pitchFamily="34" charset="-120"/>
              </a:rPr>
              <a:t>of Indian patients disclose herbal use to their doctor</a:t>
            </a:r>
            <a:endParaRPr lang="en-US" sz="630" dirty="0"/>
          </a:p>
        </p:txBody>
      </p:sp>
      <p:sp>
        <p:nvSpPr>
          <p:cNvPr id="32" name="Shape 30"/>
          <p:cNvSpPr/>
          <p:nvPr/>
        </p:nvSpPr>
        <p:spPr>
          <a:xfrm>
            <a:off x="4425696" y="2880360"/>
            <a:ext cx="1280160" cy="530352"/>
          </a:xfrm>
          <a:prstGeom prst="roundRect">
            <a:avLst>
              <a:gd name="adj" fmla="val 8621"/>
            </a:avLst>
          </a:prstGeom>
          <a:solidFill>
            <a:srgbClr val="F4F6FA"/>
          </a:solidFill>
          <a:ln w="9525">
            <a:solidFill>
              <a:srgbClr val="C9D0DD"/>
            </a:solidFill>
            <a:prstDash val="solid"/>
          </a:ln>
        </p:spPr>
      </p:sp>
      <p:sp>
        <p:nvSpPr>
          <p:cNvPr id="33" name="Text 31"/>
          <p:cNvSpPr txBox="1"/>
          <p:nvPr/>
        </p:nvSpPr>
        <p:spPr>
          <a:xfrm>
            <a:off x="4489704" y="2898648"/>
            <a:ext cx="566928" cy="493776"/>
          </a:xfrm>
          <a:prstGeom prst="rect">
            <a:avLst/>
          </a:prstGeom>
          <a:noFill/>
          <a:ln/>
        </p:spPr>
        <p:txBody>
          <a:bodyPr wrap="square" lIns="0" tIns="0" rIns="0" bIns="0" rtlCol="0" anchor="ctr"/>
          <a:lstStyle/>
          <a:p>
            <a:pPr indent="0" marL="0">
              <a:buNone/>
            </a:pPr>
            <a:r>
              <a:rPr lang="en-US" sz="1300" b="1" dirty="0">
                <a:solidFill>
                  <a:srgbClr val="B86E00"/>
                </a:solidFill>
                <a:latin typeface="Calibri" pitchFamily="34" charset="0"/>
                <a:ea typeface="Calibri" pitchFamily="34" charset="-122"/>
                <a:cs typeface="Calibri" pitchFamily="34" charset="-120"/>
              </a:rPr>
              <a:t>1,473</a:t>
            </a:r>
            <a:endParaRPr lang="en-US" sz="1300" dirty="0"/>
          </a:p>
        </p:txBody>
      </p:sp>
      <p:sp>
        <p:nvSpPr>
          <p:cNvPr id="34" name="Text 32"/>
          <p:cNvSpPr txBox="1"/>
          <p:nvPr/>
        </p:nvSpPr>
        <p:spPr>
          <a:xfrm>
            <a:off x="5029200" y="2916936"/>
            <a:ext cx="658368" cy="475488"/>
          </a:xfrm>
          <a:prstGeom prst="rect">
            <a:avLst/>
          </a:prstGeom>
          <a:noFill/>
          <a:ln/>
        </p:spPr>
        <p:txBody>
          <a:bodyPr wrap="square" lIns="0" tIns="0" rIns="0" bIns="0" rtlCol="0" anchor="ctr"/>
          <a:lstStyle/>
          <a:p>
            <a:pPr indent="0" marL="0">
              <a:buNone/>
            </a:pPr>
            <a:r>
              <a:rPr lang="en-US" sz="630" dirty="0">
                <a:solidFill>
                  <a:srgbClr val="5D6166"/>
                </a:solidFill>
                <a:latin typeface="Calibri" pitchFamily="34" charset="0"/>
                <a:ea typeface="Calibri" pitchFamily="34" charset="-122"/>
                <a:cs typeface="Calibri" pitchFamily="34" charset="-120"/>
              </a:rPr>
              <a:t>ASU&amp;H adverse-event reports nationally since 2018</a:t>
            </a:r>
            <a:endParaRPr lang="en-US" sz="630" dirty="0"/>
          </a:p>
        </p:txBody>
      </p:sp>
      <p:sp>
        <p:nvSpPr>
          <p:cNvPr id="35" name="Shape 33"/>
          <p:cNvSpPr/>
          <p:nvPr/>
        </p:nvSpPr>
        <p:spPr>
          <a:xfrm>
            <a:off x="5989320" y="777240"/>
            <a:ext cx="2926080" cy="2697480"/>
          </a:xfrm>
          <a:prstGeom prst="roundRect">
            <a:avLst>
              <a:gd name="adj" fmla="val 1695"/>
            </a:avLst>
          </a:prstGeom>
          <a:solidFill>
            <a:srgbClr val="FFFFFF"/>
          </a:solidFill>
          <a:ln w="9525">
            <a:solidFill>
              <a:srgbClr val="C9D0DD"/>
            </a:solidFill>
            <a:prstDash val="solid"/>
          </a:ln>
        </p:spPr>
      </p:sp>
      <p:sp>
        <p:nvSpPr>
          <p:cNvPr id="36" name="Shape 34"/>
          <p:cNvSpPr/>
          <p:nvPr/>
        </p:nvSpPr>
        <p:spPr>
          <a:xfrm>
            <a:off x="5989320" y="777240"/>
            <a:ext cx="2926080" cy="237744"/>
          </a:xfrm>
          <a:prstGeom prst="rect">
            <a:avLst/>
          </a:prstGeom>
          <a:solidFill>
            <a:srgbClr val="14213D"/>
          </a:solidFill>
          <a:ln w="12700">
            <a:solidFill>
              <a:srgbClr val="14213D"/>
            </a:solidFill>
            <a:prstDash val="solid"/>
          </a:ln>
        </p:spPr>
      </p:sp>
      <p:sp>
        <p:nvSpPr>
          <p:cNvPr id="37" name="Text 35"/>
          <p:cNvSpPr txBox="1"/>
          <p:nvPr/>
        </p:nvSpPr>
        <p:spPr>
          <a:xfrm>
            <a:off x="6080760" y="777240"/>
            <a:ext cx="274320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WHY IT IS STILL UNSOLVED</a:t>
            </a:r>
            <a:endParaRPr lang="en-US" sz="850" dirty="0"/>
          </a:p>
        </p:txBody>
      </p:sp>
      <p:sp>
        <p:nvSpPr>
          <p:cNvPr id="38" name="Text 36"/>
          <p:cNvSpPr txBox="1"/>
          <p:nvPr/>
        </p:nvSpPr>
        <p:spPr>
          <a:xfrm>
            <a:off x="6126480" y="1097280"/>
            <a:ext cx="2651760" cy="2286000"/>
          </a:xfrm>
          <a:prstGeom prst="rect">
            <a:avLst/>
          </a:prstGeom>
          <a:noFill/>
          <a:ln/>
        </p:spPr>
        <p:txBody>
          <a:bodyPr wrap="square" lIns="0" tIns="0" rIns="0" bIns="0" rtlCol="0" anchor="t"/>
          <a:lstStyle/>
          <a:p>
            <a:pPr marL="114300" indent="-114300">
              <a:spcAft>
                <a:spcPts val="300"/>
              </a:spcAft>
              <a:buSzPct val="100000"/>
              <a:buChar char="•"/>
            </a:pPr>
            <a:r>
              <a:rPr lang="en-US" sz="820" b="1" dirty="0">
                <a:solidFill>
                  <a:srgbClr val="14213D"/>
                </a:solidFill>
                <a:latin typeface="Calibri" pitchFamily="34" charset="0"/>
                <a:ea typeface="Calibri" pitchFamily="34" charset="-122"/>
                <a:cs typeface="Calibri" pitchFamily="34" charset="-120"/>
              </a:rPr>
              <a:t>No dataset exists. </a:t>
            </a:r>
            <a:pPr indent="0" marL="0">
              <a:spcAft>
                <a:spcPts val="300"/>
              </a:spcAft>
              <a:buNone/>
            </a:pPr>
            <a:r>
              <a:rPr lang="en-US" sz="820" dirty="0">
                <a:solidFill>
                  <a:srgbClr val="333333"/>
                </a:solidFill>
                <a:latin typeface="Calibri" pitchFamily="34" charset="0"/>
                <a:ea typeface="Calibri" pitchFamily="34" charset="-122"/>
                <a:cs typeface="Calibri" pitchFamily="34" charset="-120"/>
              </a:rPr>
              <a:t>There is no public table of Indian herb Ã— allopathic-drug interactions; evidence is scattered across MSKCC, LiverTox, WHO monographs and journals.</a:t>
            </a:r>
            <a:endParaRPr lang="en-US" sz="820" dirty="0"/>
          </a:p>
          <a:p>
            <a:pPr marL="114300" indent="-114300">
              <a:spcAft>
                <a:spcPts val="300"/>
              </a:spcAft>
              <a:buSzPct val="100000"/>
              <a:buChar char="•"/>
            </a:pPr>
            <a:r>
              <a:rPr lang="en-US" sz="820" b="1" dirty="0">
                <a:solidFill>
                  <a:srgbClr val="14213D"/>
                </a:solidFill>
                <a:latin typeface="Calibri" pitchFamily="34" charset="0"/>
                <a:ea typeface="Calibri" pitchFamily="34" charset="-122"/>
                <a:cs typeface="Calibri" pitchFamily="34" charset="-120"/>
              </a:rPr>
              <a:t>No bridge table. </a:t>
            </a:r>
            <a:pPr indent="0" marL="0">
              <a:spcAft>
                <a:spcPts val="300"/>
              </a:spcAft>
              <a:buNone/>
            </a:pPr>
            <a:r>
              <a:rPr lang="en-US" sz="820" dirty="0">
                <a:solidFill>
                  <a:srgbClr val="333333"/>
                </a:solidFill>
                <a:latin typeface="Calibri" pitchFamily="34" charset="0"/>
                <a:ea typeface="Calibri" pitchFamily="34" charset="-122"/>
                <a:cs typeface="Calibri" pitchFamily="34" charset="-120"/>
              </a:rPr>
              <a:t>Nothing maps Thyronorm â†’ levothyroxine and Chyawanprash â†’ amla + ashwagandha in one place.</a:t>
            </a:r>
            <a:endParaRPr lang="en-US" sz="820" dirty="0"/>
          </a:p>
          <a:p>
            <a:pPr marL="114300" indent="-114300">
              <a:spcAft>
                <a:spcPts val="300"/>
              </a:spcAft>
              <a:buSzPct val="100000"/>
              <a:buChar char="•"/>
            </a:pPr>
            <a:r>
              <a:rPr lang="en-US" sz="820" b="1" dirty="0">
                <a:solidFill>
                  <a:srgbClr val="14213D"/>
                </a:solidFill>
                <a:latin typeface="Calibri" pitchFamily="34" charset="0"/>
                <a:ea typeface="Calibri" pitchFamily="34" charset="-122"/>
                <a:cs typeface="Calibri" pitchFamily="34" charset="-120"/>
              </a:rPr>
              <a:t>Reports do not flow. </a:t>
            </a:r>
            <a:pPr indent="0" marL="0">
              <a:spcAft>
                <a:spcPts val="300"/>
              </a:spcAft>
              <a:buNone/>
            </a:pPr>
            <a:r>
              <a:rPr lang="en-US" sz="820" dirty="0">
                <a:solidFill>
                  <a:srgbClr val="333333"/>
                </a:solidFill>
                <a:latin typeface="Calibri" pitchFamily="34" charset="0"/>
                <a:ea typeface="Calibri" pitchFamily="34" charset="-122"/>
                <a:cs typeface="Calibri" pitchFamily="34" charset="-120"/>
              </a:rPr>
              <a:t>Ayush Suraksha exists, but the patient never learns a reaction should be reported.</a:t>
            </a:r>
            <a:endParaRPr lang="en-US" sz="820" dirty="0"/>
          </a:p>
        </p:txBody>
      </p:sp>
      <p:sp>
        <p:nvSpPr>
          <p:cNvPr id="39" name="Shape 37"/>
          <p:cNvSpPr/>
          <p:nvPr/>
        </p:nvSpPr>
        <p:spPr>
          <a:xfrm>
            <a:off x="228600" y="3611880"/>
            <a:ext cx="8686800" cy="1188720"/>
          </a:xfrm>
          <a:prstGeom prst="roundRect">
            <a:avLst>
              <a:gd name="adj" fmla="val 3846"/>
            </a:avLst>
          </a:prstGeom>
          <a:solidFill>
            <a:srgbClr val="FFFFFF"/>
          </a:solidFill>
          <a:ln w="9525">
            <a:solidFill>
              <a:srgbClr val="C9D0DD"/>
            </a:solidFill>
            <a:prstDash val="solid"/>
          </a:ln>
        </p:spPr>
      </p:sp>
      <p:sp>
        <p:nvSpPr>
          <p:cNvPr id="40" name="Shape 38"/>
          <p:cNvSpPr/>
          <p:nvPr/>
        </p:nvSpPr>
        <p:spPr>
          <a:xfrm>
            <a:off x="228600" y="3611880"/>
            <a:ext cx="8686800" cy="237744"/>
          </a:xfrm>
          <a:prstGeom prst="rect">
            <a:avLst/>
          </a:prstGeom>
          <a:solidFill>
            <a:srgbClr val="14213D"/>
          </a:solidFill>
          <a:ln w="12700">
            <a:solidFill>
              <a:srgbClr val="14213D"/>
            </a:solidFill>
            <a:prstDash val="solid"/>
          </a:ln>
        </p:spPr>
      </p:sp>
      <p:sp>
        <p:nvSpPr>
          <p:cNvPr id="41" name="Text 39"/>
          <p:cNvSpPr txBox="1"/>
          <p:nvPr/>
        </p:nvSpPr>
        <p:spPr>
          <a:xfrm>
            <a:off x="320040" y="3611880"/>
            <a:ext cx="850392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IMPACT OF THE GAP</a:t>
            </a:r>
            <a:endParaRPr lang="en-US" sz="850" dirty="0"/>
          </a:p>
        </p:txBody>
      </p:sp>
      <p:sp>
        <p:nvSpPr>
          <p:cNvPr id="42" name="Text 40"/>
          <p:cNvSpPr txBox="1"/>
          <p:nvPr/>
        </p:nvSpPr>
        <p:spPr>
          <a:xfrm>
            <a:off x="365760" y="3931920"/>
            <a:ext cx="8412480" cy="777240"/>
          </a:xfrm>
          <a:prstGeom prst="rect">
            <a:avLst/>
          </a:prstGeom>
          <a:noFill/>
          <a:ln/>
        </p:spPr>
        <p:txBody>
          <a:bodyPr wrap="square" lIns="0" tIns="0" rIns="0" bIns="0" rtlCol="0" anchor="t"/>
          <a:lstStyle/>
          <a:p>
            <a:pPr indent="0" marL="0">
              <a:buNone/>
            </a:pPr>
            <a:r>
              <a:rPr lang="en-US" sz="900" dirty="0">
                <a:solidFill>
                  <a:srgbClr val="333333"/>
                </a:solidFill>
                <a:latin typeface="Calibri" pitchFamily="34" charset="0"/>
                <a:ea typeface="Calibri" pitchFamily="34" charset="-122"/>
                <a:cs typeface="Calibri" pitchFamily="34" charset="-120"/>
              </a:rPr>
              <a:t>Patients on thyroid, diabetes, BP/heart, blood-thinner, transplant or epilepsy medicines and their families Â· doctors who never hear about the co-use Â· chemists who sell both systems' products with no cross-check Â· the Ministry's pharmacovigilance network that never receives the reports. Sources for every statistic are on the references slide.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4213D"/>
          </a:solidFill>
          <a:ln w="12700">
            <a:solidFill>
              <a:srgbClr val="14213D"/>
            </a:solidFill>
            <a:prstDash val="solid"/>
          </a:ln>
        </p:spPr>
      </p:sp>
      <p:sp>
        <p:nvSpPr>
          <p:cNvPr id="3" name="Shape 1"/>
          <p:cNvSpPr/>
          <p:nvPr/>
        </p:nvSpPr>
        <p:spPr>
          <a:xfrm>
            <a:off x="0" y="566928"/>
            <a:ext cx="9144000" cy="36576"/>
          </a:xfrm>
          <a:prstGeom prst="rect">
            <a:avLst/>
          </a:prstGeom>
          <a:solidFill>
            <a:srgbClr val="F4A300"/>
          </a:solidFill>
          <a:ln w="12700">
            <a:solidFill>
              <a:srgbClr val="F4A300"/>
            </a:solidFill>
            <a:prstDash val="solid"/>
          </a:ln>
        </p:spPr>
      </p:sp>
      <p:sp>
        <p:nvSpPr>
          <p:cNvPr id="4" name="Shape 2"/>
          <p:cNvSpPr/>
          <p:nvPr/>
        </p:nvSpPr>
        <p:spPr>
          <a:xfrm>
            <a:off x="228600" y="128016"/>
            <a:ext cx="1234440" cy="310896"/>
          </a:xfrm>
          <a:prstGeom prst="roundRect">
            <a:avLst>
              <a:gd name="adj" fmla="val 50000"/>
            </a:avLst>
          </a:prstGeom>
          <a:solidFill>
            <a:srgbClr val="F4A300"/>
          </a:solidFill>
          <a:ln w="9525">
            <a:solidFill>
              <a:srgbClr val="F4A300"/>
            </a:solidFill>
            <a:prstDash val="solid"/>
          </a:ln>
        </p:spPr>
      </p:sp>
      <p:sp>
        <p:nvSpPr>
          <p:cNvPr id="5" name="Text 3"/>
          <p:cNvSpPr txBox="1"/>
          <p:nvPr/>
        </p:nvSpPr>
        <p:spPr>
          <a:xfrm>
            <a:off x="228600" y="128016"/>
            <a:ext cx="1234440" cy="310896"/>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Bug Hunters</a:t>
            </a:r>
            <a:endParaRPr lang="en-US" sz="1050" dirty="0"/>
          </a:p>
        </p:txBody>
      </p:sp>
      <p:sp>
        <p:nvSpPr>
          <p:cNvPr id="6" name="Text 4"/>
          <p:cNvSpPr txBox="1"/>
          <p:nvPr/>
        </p:nvSpPr>
        <p:spPr>
          <a:xfrm>
            <a:off x="1600200" y="64008"/>
            <a:ext cx="557784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2 Â· PROPOSED SOLUTION</a:t>
            </a:r>
            <a:endParaRPr lang="en-US" sz="1800" dirty="0"/>
          </a:p>
        </p:txBody>
      </p:sp>
      <p:sp>
        <p:nvSpPr>
          <p:cNvPr id="7" name="Text 5"/>
          <p:cNvSpPr txBox="1"/>
          <p:nvPr/>
        </p:nvSpPr>
        <p:spPr>
          <a:xfrm>
            <a:off x="7223760" y="91440"/>
            <a:ext cx="1691640" cy="402336"/>
          </a:xfrm>
          <a:prstGeom prst="rect">
            <a:avLst/>
          </a:prstGeom>
          <a:noFill/>
          <a:ln/>
        </p:spPr>
        <p:txBody>
          <a:bodyPr wrap="square" lIns="0" tIns="0" rIns="0" bIns="0" rtlCol="0" anchor="ctr"/>
          <a:lstStyle/>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KRITICAL HACKS 2026</a:t>
            </a:r>
            <a:endParaRPr lang="en-US" sz="850" dirty="0"/>
          </a:p>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IGDTUW Â· AI/ML Track</a:t>
            </a:r>
            <a:endParaRPr lang="en-US" sz="850" dirty="0"/>
          </a:p>
        </p:txBody>
      </p:sp>
      <p:sp>
        <p:nvSpPr>
          <p:cNvPr id="8" name="Shape 6"/>
          <p:cNvSpPr/>
          <p:nvPr/>
        </p:nvSpPr>
        <p:spPr>
          <a:xfrm>
            <a:off x="0" y="4937760"/>
            <a:ext cx="9144000" cy="205740"/>
          </a:xfrm>
          <a:prstGeom prst="rect">
            <a:avLst/>
          </a:prstGeom>
          <a:solidFill>
            <a:srgbClr val="14213D"/>
          </a:solidFill>
          <a:ln w="12700">
            <a:solidFill>
              <a:srgbClr val="14213D"/>
            </a:solidFill>
            <a:prstDash val="solid"/>
          </a:ln>
        </p:spPr>
      </p:sp>
      <p:sp>
        <p:nvSpPr>
          <p:cNvPr id="9" name="Text 7"/>
          <p:cNvSpPr txBox="1"/>
          <p:nvPr/>
        </p:nvSpPr>
        <p:spPr>
          <a:xfrm>
            <a:off x="228600" y="4937760"/>
            <a:ext cx="6400800" cy="205740"/>
          </a:xfrm>
          <a:prstGeom prst="rect">
            <a:avLst/>
          </a:prstGeom>
          <a:noFill/>
          <a:ln/>
        </p:spPr>
        <p:txBody>
          <a:bodyPr wrap="square" lIns="0" tIns="0" rIns="0" bIns="0" rtlCol="0" anchor="ctr"/>
          <a:lstStyle/>
          <a:p>
            <a:pPr indent="0" marL="0">
              <a:buNone/>
            </a:pPr>
            <a:r>
              <a:rPr lang="en-US" sz="700" dirty="0">
                <a:solidFill>
                  <a:srgbClr val="C9D1E0"/>
                </a:solidFill>
                <a:latin typeface="Calibri" pitchFamily="34" charset="0"/>
                <a:ea typeface="Calibri" pitchFamily="34" charset="-122"/>
                <a:cs typeface="Calibri" pitchFamily="34" charset="-120"/>
              </a:rPr>
              <a:t>TakeSure Â· Confidence before taking something Â· Team Bug Hunters Â· Kritical Hacks 2026</a:t>
            </a:r>
            <a:endParaRPr lang="en-US" sz="700" dirty="0"/>
          </a:p>
        </p:txBody>
      </p:sp>
      <p:sp>
        <p:nvSpPr>
          <p:cNvPr id="10" name="Text 8"/>
          <p:cNvSpPr txBox="1"/>
          <p:nvPr/>
        </p:nvSpPr>
        <p:spPr>
          <a:xfrm>
            <a:off x="5943600" y="4937760"/>
            <a:ext cx="2971800" cy="205740"/>
          </a:xfrm>
          <a:prstGeom prst="rect">
            <a:avLst/>
          </a:prstGeom>
          <a:noFill/>
          <a:ln/>
        </p:spPr>
        <p:txBody>
          <a:bodyPr wrap="square" lIns="0" tIns="0" rIns="0" bIns="0" rtlCol="0" anchor="ctr"/>
          <a:lstStyle/>
          <a:p>
            <a:pPr algn="r" indent="0" marL="0">
              <a:buNone/>
            </a:pPr>
            <a:r>
              <a:rPr lang="en-US" sz="700" dirty="0">
                <a:solidFill>
                  <a:srgbClr val="C9D1E0"/>
                </a:solidFill>
                <a:latin typeface="Calibri" pitchFamily="34" charset="0"/>
                <a:ea typeface="Calibri" pitchFamily="34" charset="-122"/>
                <a:cs typeface="Calibri" pitchFamily="34" charset="-120"/>
              </a:rPr>
              <a:t>Decision support Â· not diagnosis   3</a:t>
            </a:r>
            <a:endParaRPr lang="en-US" sz="700" dirty="0"/>
          </a:p>
        </p:txBody>
      </p:sp>
      <p:sp>
        <p:nvSpPr>
          <p:cNvPr id="11" name="Text 9"/>
          <p:cNvSpPr txBox="1"/>
          <p:nvPr/>
        </p:nvSpPr>
        <p:spPr>
          <a:xfrm>
            <a:off x="274320" y="731520"/>
            <a:ext cx="3657600" cy="274320"/>
          </a:xfrm>
          <a:prstGeom prst="rect">
            <a:avLst/>
          </a:prstGeom>
          <a:noFill/>
          <a:ln/>
        </p:spPr>
        <p:txBody>
          <a:bodyPr wrap="square" lIns="0" tIns="0" rIns="0" bIns="0" rtlCol="0" anchor="t"/>
          <a:lstStyle/>
          <a:p>
            <a:pPr indent="0" marL="0">
              <a:buNone/>
            </a:pPr>
            <a:r>
              <a:rPr lang="en-US" sz="1300" b="1" dirty="0">
                <a:solidFill>
                  <a:srgbClr val="14213D"/>
                </a:solidFill>
                <a:latin typeface="Cambria" pitchFamily="34" charset="0"/>
                <a:ea typeface="Cambria" pitchFamily="34" charset="-122"/>
                <a:cs typeface="Cambria" pitchFamily="34" charset="-120"/>
              </a:rPr>
              <a:t>Five things TakeSure does</a:t>
            </a:r>
            <a:endParaRPr lang="en-US" sz="1300" dirty="0"/>
          </a:p>
        </p:txBody>
      </p:sp>
      <p:sp>
        <p:nvSpPr>
          <p:cNvPr id="12" name="Shape 10"/>
          <p:cNvSpPr/>
          <p:nvPr/>
        </p:nvSpPr>
        <p:spPr>
          <a:xfrm>
            <a:off x="292608" y="1069848"/>
            <a:ext cx="237744" cy="237744"/>
          </a:xfrm>
          <a:prstGeom prst="ellipse">
            <a:avLst/>
          </a:prstGeom>
          <a:solidFill>
            <a:srgbClr val="14213D"/>
          </a:solidFill>
          <a:ln w="12700">
            <a:solidFill>
              <a:srgbClr val="14213D"/>
            </a:solidFill>
            <a:prstDash val="solid"/>
          </a:ln>
        </p:spPr>
      </p:sp>
      <p:sp>
        <p:nvSpPr>
          <p:cNvPr id="13" name="Text 11"/>
          <p:cNvSpPr txBox="1"/>
          <p:nvPr/>
        </p:nvSpPr>
        <p:spPr>
          <a:xfrm>
            <a:off x="292608" y="1069848"/>
            <a:ext cx="237744" cy="237744"/>
          </a:xfrm>
          <a:prstGeom prst="rect">
            <a:avLst/>
          </a:prstGeom>
          <a:noFill/>
          <a:ln/>
        </p:spPr>
        <p:txBody>
          <a:bodyPr wrap="square" lIns="0" tIns="0" rIns="0" bIns="0" rtlCol="0" anchor="ctr"/>
          <a:lstStyle/>
          <a:p>
            <a:pPr algn="ctr" indent="0" marL="0">
              <a:buNone/>
            </a:pPr>
            <a:r>
              <a:rPr lang="en-US" sz="884" b="1" dirty="0">
                <a:solidFill>
                  <a:srgbClr val="F4A300"/>
                </a:solidFill>
                <a:latin typeface="Calibri" pitchFamily="34" charset="0"/>
                <a:ea typeface="Calibri" pitchFamily="34" charset="-122"/>
                <a:cs typeface="Calibri" pitchFamily="34" charset="-120"/>
              </a:rPr>
              <a:t>1</a:t>
            </a:r>
            <a:endParaRPr lang="en-US" sz="884" dirty="0"/>
          </a:p>
        </p:txBody>
      </p:sp>
      <p:sp>
        <p:nvSpPr>
          <p:cNvPr id="14" name="Text 12"/>
          <p:cNvSpPr txBox="1"/>
          <p:nvPr/>
        </p:nvSpPr>
        <p:spPr>
          <a:xfrm>
            <a:off x="621792" y="1051560"/>
            <a:ext cx="4892040" cy="475488"/>
          </a:xfrm>
          <a:prstGeom prst="rect">
            <a:avLst/>
          </a:prstGeom>
          <a:noFill/>
          <a:ln/>
        </p:spPr>
        <p:txBody>
          <a:bodyPr wrap="square" lIns="0" tIns="0" rIns="0" bIns="0" rtlCol="0" anchor="t"/>
          <a:lstStyle/>
          <a:p>
            <a:pPr indent="0" marL="0">
              <a:buNone/>
            </a:pPr>
            <a:r>
              <a:rPr lang="en-US" sz="860" b="1" dirty="0">
                <a:solidFill>
                  <a:srgbClr val="14213D"/>
                </a:solidFill>
                <a:latin typeface="Calibri" pitchFamily="34" charset="0"/>
                <a:ea typeface="Calibri" pitchFamily="34" charset="-122"/>
                <a:cs typeface="Calibri" pitchFamily="34" charset="-120"/>
              </a:rPr>
              <a:t>Scan â€” </a:t>
            </a:r>
            <a:pPr indent="0" marL="0">
              <a:buNone/>
            </a:pPr>
            <a:r>
              <a:rPr lang="en-US" sz="860" dirty="0">
                <a:solidFill>
                  <a:srgbClr val="333333"/>
                </a:solidFill>
                <a:latin typeface="Calibri" pitchFamily="34" charset="0"/>
                <a:ea typeface="Calibri" pitchFamily="34" charset="-122"/>
                <a:cs typeface="Calibri" pitchFamily="34" charset="-120"/>
              </a:rPr>
              <a:t>Photograph the prescription and the Ayurvedic product label (or type the names). OCR reads them; every name is shown for confirmation before anything is checked.</a:t>
            </a:r>
            <a:endParaRPr lang="en-US" sz="860" dirty="0"/>
          </a:p>
        </p:txBody>
      </p:sp>
      <p:sp>
        <p:nvSpPr>
          <p:cNvPr id="15" name="Shape 13"/>
          <p:cNvSpPr/>
          <p:nvPr/>
        </p:nvSpPr>
        <p:spPr>
          <a:xfrm>
            <a:off x="292608" y="1581912"/>
            <a:ext cx="237744" cy="237744"/>
          </a:xfrm>
          <a:prstGeom prst="ellipse">
            <a:avLst/>
          </a:prstGeom>
          <a:solidFill>
            <a:srgbClr val="14213D"/>
          </a:solidFill>
          <a:ln w="12700">
            <a:solidFill>
              <a:srgbClr val="14213D"/>
            </a:solidFill>
            <a:prstDash val="solid"/>
          </a:ln>
        </p:spPr>
      </p:sp>
      <p:sp>
        <p:nvSpPr>
          <p:cNvPr id="16" name="Text 14"/>
          <p:cNvSpPr txBox="1"/>
          <p:nvPr/>
        </p:nvSpPr>
        <p:spPr>
          <a:xfrm>
            <a:off x="292608" y="1581912"/>
            <a:ext cx="237744" cy="237744"/>
          </a:xfrm>
          <a:prstGeom prst="rect">
            <a:avLst/>
          </a:prstGeom>
          <a:noFill/>
          <a:ln/>
        </p:spPr>
        <p:txBody>
          <a:bodyPr wrap="square" lIns="0" tIns="0" rIns="0" bIns="0" rtlCol="0" anchor="ctr"/>
          <a:lstStyle/>
          <a:p>
            <a:pPr algn="ctr" indent="0" marL="0">
              <a:buNone/>
            </a:pPr>
            <a:r>
              <a:rPr lang="en-US" sz="884" b="1" dirty="0">
                <a:solidFill>
                  <a:srgbClr val="F4A300"/>
                </a:solidFill>
                <a:latin typeface="Calibri" pitchFamily="34" charset="0"/>
                <a:ea typeface="Calibri" pitchFamily="34" charset="-122"/>
                <a:cs typeface="Calibri" pitchFamily="34" charset="-120"/>
              </a:rPr>
              <a:t>2</a:t>
            </a:r>
            <a:endParaRPr lang="en-US" sz="884" dirty="0"/>
          </a:p>
        </p:txBody>
      </p:sp>
      <p:sp>
        <p:nvSpPr>
          <p:cNvPr id="17" name="Text 15"/>
          <p:cNvSpPr txBox="1"/>
          <p:nvPr/>
        </p:nvSpPr>
        <p:spPr>
          <a:xfrm>
            <a:off x="621792" y="1563624"/>
            <a:ext cx="4892040" cy="475488"/>
          </a:xfrm>
          <a:prstGeom prst="rect">
            <a:avLst/>
          </a:prstGeom>
          <a:noFill/>
          <a:ln/>
        </p:spPr>
        <p:txBody>
          <a:bodyPr wrap="square" lIns="0" tIns="0" rIns="0" bIns="0" rtlCol="0" anchor="t"/>
          <a:lstStyle/>
          <a:p>
            <a:pPr indent="0" marL="0">
              <a:buNone/>
            </a:pPr>
            <a:r>
              <a:rPr lang="en-US" sz="860" b="1" dirty="0">
                <a:solidFill>
                  <a:srgbClr val="14213D"/>
                </a:solidFill>
                <a:latin typeface="Calibri" pitchFamily="34" charset="0"/>
                <a:ea typeface="Calibri" pitchFamily="34" charset="-122"/>
                <a:cs typeface="Calibri" pitchFamily="34" charset="-120"/>
              </a:rPr>
              <a:t>Match â€” </a:t>
            </a:r>
            <a:pPr indent="0" marL="0">
              <a:buNone/>
            </a:pPr>
            <a:r>
              <a:rPr lang="en-US" sz="860" dirty="0">
                <a:solidFill>
                  <a:srgbClr val="333333"/>
                </a:solidFill>
                <a:latin typeface="Calibri" pitchFamily="34" charset="0"/>
                <a:ea typeface="Calibri" pitchFamily="34" charset="-122"/>
                <a:cs typeface="Calibri" pitchFamily="34" charset="-120"/>
              </a:rPr>
              <a:t>Indian brand â†’ generic (Thyronorm â†’ levothyroxine), product â†’ herbs (Chyawanprash â†’ amla, ashwagandhaâ€¦) via a curated bridge dictionary + fuzzy matching.</a:t>
            </a:r>
            <a:endParaRPr lang="en-US" sz="860" dirty="0"/>
          </a:p>
        </p:txBody>
      </p:sp>
      <p:sp>
        <p:nvSpPr>
          <p:cNvPr id="18" name="Shape 16"/>
          <p:cNvSpPr/>
          <p:nvPr/>
        </p:nvSpPr>
        <p:spPr>
          <a:xfrm>
            <a:off x="292608" y="2093976"/>
            <a:ext cx="237744" cy="237744"/>
          </a:xfrm>
          <a:prstGeom prst="ellipse">
            <a:avLst/>
          </a:prstGeom>
          <a:solidFill>
            <a:srgbClr val="14213D"/>
          </a:solidFill>
          <a:ln w="12700">
            <a:solidFill>
              <a:srgbClr val="14213D"/>
            </a:solidFill>
            <a:prstDash val="solid"/>
          </a:ln>
        </p:spPr>
      </p:sp>
      <p:sp>
        <p:nvSpPr>
          <p:cNvPr id="19" name="Text 17"/>
          <p:cNvSpPr txBox="1"/>
          <p:nvPr/>
        </p:nvSpPr>
        <p:spPr>
          <a:xfrm>
            <a:off x="292608" y="2093976"/>
            <a:ext cx="237744" cy="237744"/>
          </a:xfrm>
          <a:prstGeom prst="rect">
            <a:avLst/>
          </a:prstGeom>
          <a:noFill/>
          <a:ln/>
        </p:spPr>
        <p:txBody>
          <a:bodyPr wrap="square" lIns="0" tIns="0" rIns="0" bIns="0" rtlCol="0" anchor="ctr"/>
          <a:lstStyle/>
          <a:p>
            <a:pPr algn="ctr" indent="0" marL="0">
              <a:buNone/>
            </a:pPr>
            <a:r>
              <a:rPr lang="en-US" sz="884" b="1" dirty="0">
                <a:solidFill>
                  <a:srgbClr val="F4A300"/>
                </a:solidFill>
                <a:latin typeface="Calibri" pitchFamily="34" charset="0"/>
                <a:ea typeface="Calibri" pitchFamily="34" charset="-122"/>
                <a:cs typeface="Calibri" pitchFamily="34" charset="-120"/>
              </a:rPr>
              <a:t>3</a:t>
            </a:r>
            <a:endParaRPr lang="en-US" sz="884" dirty="0"/>
          </a:p>
        </p:txBody>
      </p:sp>
      <p:sp>
        <p:nvSpPr>
          <p:cNvPr id="20" name="Text 18"/>
          <p:cNvSpPr txBox="1"/>
          <p:nvPr/>
        </p:nvSpPr>
        <p:spPr>
          <a:xfrm>
            <a:off x="621792" y="2075688"/>
            <a:ext cx="4892040" cy="475488"/>
          </a:xfrm>
          <a:prstGeom prst="rect">
            <a:avLst/>
          </a:prstGeom>
          <a:noFill/>
          <a:ln/>
        </p:spPr>
        <p:txBody>
          <a:bodyPr wrap="square" lIns="0" tIns="0" rIns="0" bIns="0" rtlCol="0" anchor="t"/>
          <a:lstStyle/>
          <a:p>
            <a:pPr indent="0" marL="0">
              <a:buNone/>
            </a:pPr>
            <a:r>
              <a:rPr lang="en-US" sz="860" b="1" dirty="0">
                <a:solidFill>
                  <a:srgbClr val="14213D"/>
                </a:solidFill>
                <a:latin typeface="Calibri" pitchFamily="34" charset="0"/>
                <a:ea typeface="Calibri" pitchFamily="34" charset="-122"/>
                <a:cs typeface="Calibri" pitchFamily="34" charset="-120"/>
              </a:rPr>
              <a:t>Decide â€” </a:t>
            </a:r>
            <a:pPr indent="0" marL="0">
              <a:buNone/>
            </a:pPr>
            <a:r>
              <a:rPr lang="en-US" sz="860" dirty="0">
                <a:solidFill>
                  <a:srgbClr val="333333"/>
                </a:solidFill>
                <a:latin typeface="Calibri" pitchFamily="34" charset="0"/>
                <a:ea typeface="Calibri" pitchFamily="34" charset="-122"/>
                <a:cs typeface="Calibri" pitchFamily="34" charset="-120"/>
              </a:rPr>
              <a:t>Deterministic rule engine over a cited knowledge base â†’ GREEN / AMBER / RED / NOT IN DATABASE, with timing gaps (e.g. 2â€“3 h between Triphala and oral medicines).</a:t>
            </a:r>
            <a:endParaRPr lang="en-US" sz="860" dirty="0"/>
          </a:p>
        </p:txBody>
      </p:sp>
      <p:sp>
        <p:nvSpPr>
          <p:cNvPr id="21" name="Shape 19"/>
          <p:cNvSpPr/>
          <p:nvPr/>
        </p:nvSpPr>
        <p:spPr>
          <a:xfrm>
            <a:off x="292608" y="2606040"/>
            <a:ext cx="237744" cy="237744"/>
          </a:xfrm>
          <a:prstGeom prst="ellipse">
            <a:avLst/>
          </a:prstGeom>
          <a:solidFill>
            <a:srgbClr val="14213D"/>
          </a:solidFill>
          <a:ln w="12700">
            <a:solidFill>
              <a:srgbClr val="14213D"/>
            </a:solidFill>
            <a:prstDash val="solid"/>
          </a:ln>
        </p:spPr>
      </p:sp>
      <p:sp>
        <p:nvSpPr>
          <p:cNvPr id="22" name="Text 20"/>
          <p:cNvSpPr txBox="1"/>
          <p:nvPr/>
        </p:nvSpPr>
        <p:spPr>
          <a:xfrm>
            <a:off x="292608" y="2606040"/>
            <a:ext cx="237744" cy="237744"/>
          </a:xfrm>
          <a:prstGeom prst="rect">
            <a:avLst/>
          </a:prstGeom>
          <a:noFill/>
          <a:ln/>
        </p:spPr>
        <p:txBody>
          <a:bodyPr wrap="square" lIns="0" tIns="0" rIns="0" bIns="0" rtlCol="0" anchor="ctr"/>
          <a:lstStyle/>
          <a:p>
            <a:pPr algn="ctr" indent="0" marL="0">
              <a:buNone/>
            </a:pPr>
            <a:r>
              <a:rPr lang="en-US" sz="884" b="1" dirty="0">
                <a:solidFill>
                  <a:srgbClr val="F4A300"/>
                </a:solidFill>
                <a:latin typeface="Calibri" pitchFamily="34" charset="0"/>
                <a:ea typeface="Calibri" pitchFamily="34" charset="-122"/>
                <a:cs typeface="Calibri" pitchFamily="34" charset="-120"/>
              </a:rPr>
              <a:t>4</a:t>
            </a:r>
            <a:endParaRPr lang="en-US" sz="884" dirty="0"/>
          </a:p>
        </p:txBody>
      </p:sp>
      <p:sp>
        <p:nvSpPr>
          <p:cNvPr id="23" name="Text 21"/>
          <p:cNvSpPr txBox="1"/>
          <p:nvPr/>
        </p:nvSpPr>
        <p:spPr>
          <a:xfrm>
            <a:off x="621792" y="2587752"/>
            <a:ext cx="4892040" cy="475488"/>
          </a:xfrm>
          <a:prstGeom prst="rect">
            <a:avLst/>
          </a:prstGeom>
          <a:noFill/>
          <a:ln/>
        </p:spPr>
        <p:txBody>
          <a:bodyPr wrap="square" lIns="0" tIns="0" rIns="0" bIns="0" rtlCol="0" anchor="t"/>
          <a:lstStyle/>
          <a:p>
            <a:pPr indent="0" marL="0">
              <a:buNone/>
            </a:pPr>
            <a:r>
              <a:rPr lang="en-US" sz="860" b="1" dirty="0">
                <a:solidFill>
                  <a:srgbClr val="14213D"/>
                </a:solidFill>
                <a:latin typeface="Calibri" pitchFamily="34" charset="0"/>
                <a:ea typeface="Calibri" pitchFamily="34" charset="-122"/>
                <a:cs typeface="Calibri" pitchFamily="34" charset="-120"/>
              </a:rPr>
              <a:t>Explain â€” </a:t>
            </a:r>
            <a:pPr indent="0" marL="0">
              <a:buNone/>
            </a:pPr>
            <a:r>
              <a:rPr lang="en-US" sz="860" dirty="0">
                <a:solidFill>
                  <a:srgbClr val="333333"/>
                </a:solidFill>
                <a:latin typeface="Calibri" pitchFamily="34" charset="0"/>
                <a:ea typeface="Calibri" pitchFamily="34" charset="-122"/>
                <a:cs typeface="Calibri" pitchFamily="34" charset="-120"/>
              </a:rPr>
              <a:t>AI rewrites only the matched evidence into simple Hindi/English + 3 questions to ask the doctor. It cannot add, remove or re-grade an interaction.</a:t>
            </a:r>
            <a:endParaRPr lang="en-US" sz="860" dirty="0"/>
          </a:p>
        </p:txBody>
      </p:sp>
      <p:sp>
        <p:nvSpPr>
          <p:cNvPr id="24" name="Shape 22"/>
          <p:cNvSpPr/>
          <p:nvPr/>
        </p:nvSpPr>
        <p:spPr>
          <a:xfrm>
            <a:off x="292608" y="3118104"/>
            <a:ext cx="237744" cy="237744"/>
          </a:xfrm>
          <a:prstGeom prst="ellipse">
            <a:avLst/>
          </a:prstGeom>
          <a:solidFill>
            <a:srgbClr val="14213D"/>
          </a:solidFill>
          <a:ln w="12700">
            <a:solidFill>
              <a:srgbClr val="14213D"/>
            </a:solidFill>
            <a:prstDash val="solid"/>
          </a:ln>
        </p:spPr>
      </p:sp>
      <p:sp>
        <p:nvSpPr>
          <p:cNvPr id="25" name="Text 23"/>
          <p:cNvSpPr txBox="1"/>
          <p:nvPr/>
        </p:nvSpPr>
        <p:spPr>
          <a:xfrm>
            <a:off x="292608" y="3118104"/>
            <a:ext cx="237744" cy="237744"/>
          </a:xfrm>
          <a:prstGeom prst="rect">
            <a:avLst/>
          </a:prstGeom>
          <a:noFill/>
          <a:ln/>
        </p:spPr>
        <p:txBody>
          <a:bodyPr wrap="square" lIns="0" tIns="0" rIns="0" bIns="0" rtlCol="0" anchor="ctr"/>
          <a:lstStyle/>
          <a:p>
            <a:pPr algn="ctr" indent="0" marL="0">
              <a:buNone/>
            </a:pPr>
            <a:r>
              <a:rPr lang="en-US" sz="884" b="1" dirty="0">
                <a:solidFill>
                  <a:srgbClr val="F4A300"/>
                </a:solidFill>
                <a:latin typeface="Calibri" pitchFamily="34" charset="0"/>
                <a:ea typeface="Calibri" pitchFamily="34" charset="-122"/>
                <a:cs typeface="Calibri" pitchFamily="34" charset="-120"/>
              </a:rPr>
              <a:t>5</a:t>
            </a:r>
            <a:endParaRPr lang="en-US" sz="884" dirty="0"/>
          </a:p>
        </p:txBody>
      </p:sp>
      <p:sp>
        <p:nvSpPr>
          <p:cNvPr id="26" name="Text 24"/>
          <p:cNvSpPr txBox="1"/>
          <p:nvPr/>
        </p:nvSpPr>
        <p:spPr>
          <a:xfrm>
            <a:off x="621792" y="3099816"/>
            <a:ext cx="4892040" cy="475488"/>
          </a:xfrm>
          <a:prstGeom prst="rect">
            <a:avLst/>
          </a:prstGeom>
          <a:noFill/>
          <a:ln/>
        </p:spPr>
        <p:txBody>
          <a:bodyPr wrap="square" lIns="0" tIns="0" rIns="0" bIns="0" rtlCol="0" anchor="t"/>
          <a:lstStyle/>
          <a:p>
            <a:pPr indent="0" marL="0">
              <a:buNone/>
            </a:pPr>
            <a:r>
              <a:rPr lang="en-US" sz="860" b="1" dirty="0">
                <a:solidFill>
                  <a:srgbClr val="14213D"/>
                </a:solidFill>
                <a:latin typeface="Calibri" pitchFamily="34" charset="0"/>
                <a:ea typeface="Calibri" pitchFamily="34" charset="-122"/>
                <a:cs typeface="Calibri" pitchFamily="34" charset="-120"/>
              </a:rPr>
              <a:t>Report â€” </a:t>
            </a:r>
            <a:pPr indent="0" marL="0">
              <a:buNone/>
            </a:pPr>
            <a:r>
              <a:rPr lang="en-US" sz="860" dirty="0">
                <a:solidFill>
                  <a:srgbClr val="333333"/>
                </a:solidFill>
                <a:latin typeface="Calibri" pitchFamily="34" charset="0"/>
                <a:ea typeface="Calibri" pitchFamily="34" charset="-122"/>
                <a:cs typeface="Calibri" pitchFamily="34" charset="-120"/>
              </a:rPr>
              <a:t>One-page PDF with sources for the doctor; one-tap suspected-ADR report in the Ministry of Ayush format for the Ayush Suraksha portal.</a:t>
            </a:r>
            <a:endParaRPr lang="en-US" sz="860" dirty="0"/>
          </a:p>
        </p:txBody>
      </p:sp>
      <p:sp>
        <p:nvSpPr>
          <p:cNvPr id="27" name="Shape 25"/>
          <p:cNvSpPr/>
          <p:nvPr/>
        </p:nvSpPr>
        <p:spPr>
          <a:xfrm>
            <a:off x="292608" y="3657600"/>
            <a:ext cx="5212080" cy="457200"/>
          </a:xfrm>
          <a:prstGeom prst="roundRect">
            <a:avLst>
              <a:gd name="adj" fmla="val 10000"/>
            </a:avLst>
          </a:prstGeom>
          <a:solidFill>
            <a:srgbClr val="F4F6FA"/>
          </a:solidFill>
          <a:ln w="9525">
            <a:solidFill>
              <a:srgbClr val="F4F6FA"/>
            </a:solidFill>
            <a:prstDash val="solid"/>
          </a:ln>
        </p:spPr>
      </p:sp>
      <p:sp>
        <p:nvSpPr>
          <p:cNvPr id="28" name="Shape 26"/>
          <p:cNvSpPr/>
          <p:nvPr/>
        </p:nvSpPr>
        <p:spPr>
          <a:xfrm>
            <a:off x="292608" y="3657600"/>
            <a:ext cx="45720" cy="457200"/>
          </a:xfrm>
          <a:prstGeom prst="rect">
            <a:avLst/>
          </a:prstGeom>
          <a:solidFill>
            <a:srgbClr val="F4A300"/>
          </a:solidFill>
          <a:ln w="12700">
            <a:solidFill>
              <a:srgbClr val="F4A300"/>
            </a:solidFill>
            <a:prstDash val="solid"/>
          </a:ln>
        </p:spPr>
      </p:sp>
      <p:sp>
        <p:nvSpPr>
          <p:cNvPr id="29" name="Text 27"/>
          <p:cNvSpPr txBox="1"/>
          <p:nvPr/>
        </p:nvSpPr>
        <p:spPr>
          <a:xfrm>
            <a:off x="411480" y="3657600"/>
            <a:ext cx="5029200" cy="457200"/>
          </a:xfrm>
          <a:prstGeom prst="rect">
            <a:avLst/>
          </a:prstGeom>
          <a:noFill/>
          <a:ln/>
        </p:spPr>
        <p:txBody>
          <a:bodyPr wrap="square" lIns="0" tIns="0" rIns="0" bIns="0" rtlCol="0" anchor="ctr"/>
          <a:lstStyle/>
          <a:p>
            <a:pPr indent="0" marL="0">
              <a:buNone/>
            </a:pPr>
            <a:r>
              <a:rPr lang="en-US" sz="900" b="1" i="1" dirty="0">
                <a:solidFill>
                  <a:srgbClr val="14213D"/>
                </a:solidFill>
                <a:latin typeface="Calibri" pitchFamily="34" charset="0"/>
                <a:ea typeface="Calibri" pitchFamily="34" charset="-122"/>
                <a:cs typeface="Calibri" pitchFamily="34" charset="-120"/>
              </a:rPr>
              <a:t>Our rule: the verdict comes from published data; AI only explains it. Switch the AI off and the verdict is identical.</a:t>
            </a:r>
            <a:endParaRPr lang="en-US" sz="900" dirty="0"/>
          </a:p>
        </p:txBody>
      </p:sp>
      <p:sp>
        <p:nvSpPr>
          <p:cNvPr id="30" name="Text 28"/>
          <p:cNvSpPr txBox="1"/>
          <p:nvPr/>
        </p:nvSpPr>
        <p:spPr>
          <a:xfrm>
            <a:off x="292608" y="4206240"/>
            <a:ext cx="5212080" cy="548640"/>
          </a:xfrm>
          <a:prstGeom prst="rect">
            <a:avLst/>
          </a:prstGeom>
          <a:noFill/>
          <a:ln/>
        </p:spPr>
        <p:txBody>
          <a:bodyPr wrap="square" lIns="0" tIns="0" rIns="0" bIns="0" rtlCol="0" anchor="t"/>
          <a:lstStyle/>
          <a:p>
            <a:pPr indent="0" marL="0">
              <a:buNone/>
            </a:pPr>
            <a:r>
              <a:rPr lang="en-US" sz="840" dirty="0">
                <a:solidFill>
                  <a:srgbClr val="333333"/>
                </a:solidFill>
                <a:latin typeface="Calibri" pitchFamily="34" charset="0"/>
                <a:ea typeface="Calibri" pitchFamily="34" charset="-122"/>
                <a:cs typeface="Calibri" pitchFamily="34" charset="-120"/>
              </a:rPr>
              <a:t>Novelty: the missing bridge table â€” Indian brand names Ã— Ayurvedic herb synonyms (Sanskrit/Hindi/Latin) Ã— graded published evidence â€” open, auditable, grown with TinyFish agents and approved by reviewers.</a:t>
            </a:r>
            <a:endParaRPr lang="en-US" sz="840" dirty="0"/>
          </a:p>
        </p:txBody>
      </p:sp>
      <p:sp>
        <p:nvSpPr>
          <p:cNvPr id="31" name="Shape 29"/>
          <p:cNvSpPr/>
          <p:nvPr/>
        </p:nvSpPr>
        <p:spPr>
          <a:xfrm>
            <a:off x="5715000" y="713232"/>
            <a:ext cx="3200400" cy="4133088"/>
          </a:xfrm>
          <a:prstGeom prst="roundRect">
            <a:avLst>
              <a:gd name="adj" fmla="val 1429"/>
            </a:avLst>
          </a:prstGeom>
          <a:solidFill>
            <a:srgbClr val="FFFFFF"/>
          </a:solidFill>
          <a:ln w="9525">
            <a:solidFill>
              <a:srgbClr val="C9D0DD"/>
            </a:solidFill>
            <a:prstDash val="solid"/>
          </a:ln>
        </p:spPr>
      </p:sp>
      <p:pic>
        <p:nvPicPr>
          <p:cNvPr id="32" name="Image 0" descr="C:/Temp/final-ppt/flowchart_big_text.png">    </p:cNvPr>
          <p:cNvPicPr>
            <a:picLocks noChangeAspect="1"/>
          </p:cNvPicPr>
          <p:nvPr/>
        </p:nvPicPr>
        <p:blipFill>
          <a:blip r:embed="rId1"/>
          <a:stretch>
            <a:fillRect/>
          </a:stretch>
        </p:blipFill>
        <p:spPr>
          <a:xfrm>
            <a:off x="6355080" y="749808"/>
            <a:ext cx="2468880" cy="4032504"/>
          </a:xfrm>
          <a:prstGeom prst="rect">
            <a:avLst/>
          </a:prstGeom>
        </p:spPr>
      </p:pic>
      <p:sp>
        <p:nvSpPr>
          <p:cNvPr id="33" name="Text 30"/>
          <p:cNvSpPr txBox="1"/>
          <p:nvPr/>
        </p:nvSpPr>
        <p:spPr>
          <a:xfrm>
            <a:off x="5760720" y="749808"/>
            <a:ext cx="594360" cy="182880"/>
          </a:xfrm>
          <a:prstGeom prst="rect">
            <a:avLst/>
          </a:prstGeom>
          <a:noFill/>
          <a:ln/>
        </p:spPr>
        <p:txBody>
          <a:bodyPr wrap="square" lIns="0" tIns="0" rIns="0" bIns="0" rtlCol="0" anchor="t"/>
          <a:lstStyle/>
          <a:p>
            <a:pPr indent="0" marL="0">
              <a:buNone/>
            </a:pPr>
            <a:r>
              <a:rPr lang="en-US" sz="650" b="1" dirty="0">
                <a:solidFill>
                  <a:srgbClr val="5D6166"/>
                </a:solidFill>
                <a:latin typeface="Calibri" pitchFamily="34" charset="0"/>
                <a:ea typeface="Calibri" pitchFamily="34" charset="-122"/>
                <a:cs typeface="Calibri" pitchFamily="34" charset="-120"/>
              </a:rPr>
              <a:t>Project workflow</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4213D"/>
          </a:solidFill>
          <a:ln w="12700">
            <a:solidFill>
              <a:srgbClr val="14213D"/>
            </a:solidFill>
            <a:prstDash val="solid"/>
          </a:ln>
        </p:spPr>
      </p:sp>
      <p:sp>
        <p:nvSpPr>
          <p:cNvPr id="3" name="Shape 1"/>
          <p:cNvSpPr/>
          <p:nvPr/>
        </p:nvSpPr>
        <p:spPr>
          <a:xfrm>
            <a:off x="0" y="566928"/>
            <a:ext cx="9144000" cy="36576"/>
          </a:xfrm>
          <a:prstGeom prst="rect">
            <a:avLst/>
          </a:prstGeom>
          <a:solidFill>
            <a:srgbClr val="F4A300"/>
          </a:solidFill>
          <a:ln w="12700">
            <a:solidFill>
              <a:srgbClr val="F4A300"/>
            </a:solidFill>
            <a:prstDash val="solid"/>
          </a:ln>
        </p:spPr>
      </p:sp>
      <p:sp>
        <p:nvSpPr>
          <p:cNvPr id="4" name="Shape 2"/>
          <p:cNvSpPr/>
          <p:nvPr/>
        </p:nvSpPr>
        <p:spPr>
          <a:xfrm>
            <a:off x="228600" y="128016"/>
            <a:ext cx="1234440" cy="310896"/>
          </a:xfrm>
          <a:prstGeom prst="roundRect">
            <a:avLst>
              <a:gd name="adj" fmla="val 50000"/>
            </a:avLst>
          </a:prstGeom>
          <a:solidFill>
            <a:srgbClr val="F4A300"/>
          </a:solidFill>
          <a:ln w="9525">
            <a:solidFill>
              <a:srgbClr val="F4A300"/>
            </a:solidFill>
            <a:prstDash val="solid"/>
          </a:ln>
        </p:spPr>
      </p:sp>
      <p:sp>
        <p:nvSpPr>
          <p:cNvPr id="5" name="Text 3"/>
          <p:cNvSpPr txBox="1"/>
          <p:nvPr/>
        </p:nvSpPr>
        <p:spPr>
          <a:xfrm>
            <a:off x="228600" y="128016"/>
            <a:ext cx="1234440" cy="310896"/>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Bug Hunters</a:t>
            </a:r>
            <a:endParaRPr lang="en-US" sz="1050" dirty="0"/>
          </a:p>
        </p:txBody>
      </p:sp>
      <p:sp>
        <p:nvSpPr>
          <p:cNvPr id="6" name="Text 4"/>
          <p:cNvSpPr txBox="1"/>
          <p:nvPr/>
        </p:nvSpPr>
        <p:spPr>
          <a:xfrm>
            <a:off x="1600200" y="64008"/>
            <a:ext cx="557784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3 Â· TARGET USERS &amp; USE CASES</a:t>
            </a:r>
            <a:endParaRPr lang="en-US" sz="1800" dirty="0"/>
          </a:p>
        </p:txBody>
      </p:sp>
      <p:sp>
        <p:nvSpPr>
          <p:cNvPr id="7" name="Text 5"/>
          <p:cNvSpPr txBox="1"/>
          <p:nvPr/>
        </p:nvSpPr>
        <p:spPr>
          <a:xfrm>
            <a:off x="7223760" y="91440"/>
            <a:ext cx="1691640" cy="402336"/>
          </a:xfrm>
          <a:prstGeom prst="rect">
            <a:avLst/>
          </a:prstGeom>
          <a:noFill/>
          <a:ln/>
        </p:spPr>
        <p:txBody>
          <a:bodyPr wrap="square" lIns="0" tIns="0" rIns="0" bIns="0" rtlCol="0" anchor="ctr"/>
          <a:lstStyle/>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KRITICAL HACKS 2026</a:t>
            </a:r>
            <a:endParaRPr lang="en-US" sz="850" dirty="0"/>
          </a:p>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IGDTUW Â· AI/ML Track</a:t>
            </a:r>
            <a:endParaRPr lang="en-US" sz="850" dirty="0"/>
          </a:p>
        </p:txBody>
      </p:sp>
      <p:sp>
        <p:nvSpPr>
          <p:cNvPr id="8" name="Shape 6"/>
          <p:cNvSpPr/>
          <p:nvPr/>
        </p:nvSpPr>
        <p:spPr>
          <a:xfrm>
            <a:off x="0" y="4937760"/>
            <a:ext cx="9144000" cy="205740"/>
          </a:xfrm>
          <a:prstGeom prst="rect">
            <a:avLst/>
          </a:prstGeom>
          <a:solidFill>
            <a:srgbClr val="14213D"/>
          </a:solidFill>
          <a:ln w="12700">
            <a:solidFill>
              <a:srgbClr val="14213D"/>
            </a:solidFill>
            <a:prstDash val="solid"/>
          </a:ln>
        </p:spPr>
      </p:sp>
      <p:sp>
        <p:nvSpPr>
          <p:cNvPr id="9" name="Text 7"/>
          <p:cNvSpPr txBox="1"/>
          <p:nvPr/>
        </p:nvSpPr>
        <p:spPr>
          <a:xfrm>
            <a:off x="228600" y="4937760"/>
            <a:ext cx="6400800" cy="205740"/>
          </a:xfrm>
          <a:prstGeom prst="rect">
            <a:avLst/>
          </a:prstGeom>
          <a:noFill/>
          <a:ln/>
        </p:spPr>
        <p:txBody>
          <a:bodyPr wrap="square" lIns="0" tIns="0" rIns="0" bIns="0" rtlCol="0" anchor="ctr"/>
          <a:lstStyle/>
          <a:p>
            <a:pPr indent="0" marL="0">
              <a:buNone/>
            </a:pPr>
            <a:r>
              <a:rPr lang="en-US" sz="700" dirty="0">
                <a:solidFill>
                  <a:srgbClr val="C9D1E0"/>
                </a:solidFill>
                <a:latin typeface="Calibri" pitchFamily="34" charset="0"/>
                <a:ea typeface="Calibri" pitchFamily="34" charset="-122"/>
                <a:cs typeface="Calibri" pitchFamily="34" charset="-120"/>
              </a:rPr>
              <a:t>TakeSure Â· Confidence before taking something Â· Team Bug Hunters Â· Kritical Hacks 2026</a:t>
            </a:r>
            <a:endParaRPr lang="en-US" sz="700" dirty="0"/>
          </a:p>
        </p:txBody>
      </p:sp>
      <p:sp>
        <p:nvSpPr>
          <p:cNvPr id="10" name="Text 8"/>
          <p:cNvSpPr txBox="1"/>
          <p:nvPr/>
        </p:nvSpPr>
        <p:spPr>
          <a:xfrm>
            <a:off x="5943600" y="4937760"/>
            <a:ext cx="2971800" cy="205740"/>
          </a:xfrm>
          <a:prstGeom prst="rect">
            <a:avLst/>
          </a:prstGeom>
          <a:noFill/>
          <a:ln/>
        </p:spPr>
        <p:txBody>
          <a:bodyPr wrap="square" lIns="0" tIns="0" rIns="0" bIns="0" rtlCol="0" anchor="ctr"/>
          <a:lstStyle/>
          <a:p>
            <a:pPr algn="r" indent="0" marL="0">
              <a:buNone/>
            </a:pPr>
            <a:r>
              <a:rPr lang="en-US" sz="700" dirty="0">
                <a:solidFill>
                  <a:srgbClr val="C9D1E0"/>
                </a:solidFill>
                <a:latin typeface="Calibri" pitchFamily="34" charset="0"/>
                <a:ea typeface="Calibri" pitchFamily="34" charset="-122"/>
                <a:cs typeface="Calibri" pitchFamily="34" charset="-120"/>
              </a:rPr>
              <a:t>Decision support Â· not diagnosis   4</a:t>
            </a:r>
            <a:endParaRPr lang="en-US" sz="700" dirty="0"/>
          </a:p>
        </p:txBody>
      </p:sp>
      <p:sp>
        <p:nvSpPr>
          <p:cNvPr id="11" name="Shape 9"/>
          <p:cNvSpPr/>
          <p:nvPr/>
        </p:nvSpPr>
        <p:spPr>
          <a:xfrm>
            <a:off x="228600" y="777240"/>
            <a:ext cx="2788920" cy="2331720"/>
          </a:xfrm>
          <a:prstGeom prst="roundRect">
            <a:avLst>
              <a:gd name="adj" fmla="val 1961"/>
            </a:avLst>
          </a:prstGeom>
          <a:solidFill>
            <a:srgbClr val="FFFFFF"/>
          </a:solidFill>
          <a:ln w="9525">
            <a:solidFill>
              <a:srgbClr val="C9D0DD"/>
            </a:solidFill>
            <a:prstDash val="solid"/>
          </a:ln>
        </p:spPr>
      </p:sp>
      <p:sp>
        <p:nvSpPr>
          <p:cNvPr id="12" name="Shape 10"/>
          <p:cNvSpPr/>
          <p:nvPr/>
        </p:nvSpPr>
        <p:spPr>
          <a:xfrm>
            <a:off x="338328" y="886968"/>
            <a:ext cx="548640" cy="256032"/>
          </a:xfrm>
          <a:prstGeom prst="roundRect">
            <a:avLst>
              <a:gd name="adj" fmla="val 17857"/>
            </a:avLst>
          </a:prstGeom>
          <a:solidFill>
            <a:srgbClr val="F4A300"/>
          </a:solidFill>
          <a:ln w="9525">
            <a:solidFill>
              <a:srgbClr val="F4A300"/>
            </a:solidFill>
            <a:prstDash val="solid"/>
          </a:ln>
        </p:spPr>
      </p:sp>
      <p:sp>
        <p:nvSpPr>
          <p:cNvPr id="13" name="Text 11"/>
          <p:cNvSpPr txBox="1"/>
          <p:nvPr/>
        </p:nvSpPr>
        <p:spPr>
          <a:xfrm>
            <a:off x="338328" y="886968"/>
            <a:ext cx="548640" cy="256032"/>
          </a:xfrm>
          <a:prstGeom prst="rect">
            <a:avLst/>
          </a:prstGeom>
          <a:noFill/>
          <a:ln/>
        </p:spPr>
        <p:txBody>
          <a:bodyPr wrap="square" lIns="0" tIns="0" rIns="0" bIns="0" rtlCol="0" anchor="ctr"/>
          <a:lstStyle/>
          <a:p>
            <a:pPr algn="ctr" indent="0" marL="0">
              <a:buNone/>
            </a:pPr>
            <a:r>
              <a:rPr lang="en-US" sz="900" b="1" dirty="0">
                <a:solidFill>
                  <a:srgbClr val="14213D"/>
                </a:solidFill>
                <a:latin typeface="Calibri" pitchFamily="34" charset="0"/>
                <a:ea typeface="Calibri" pitchFamily="34" charset="-122"/>
                <a:cs typeface="Calibri" pitchFamily="34" charset="-120"/>
              </a:rPr>
              <a:t>B2C</a:t>
            </a:r>
            <a:endParaRPr lang="en-US" sz="900" dirty="0"/>
          </a:p>
        </p:txBody>
      </p:sp>
      <p:sp>
        <p:nvSpPr>
          <p:cNvPr id="14" name="Text 12"/>
          <p:cNvSpPr txBox="1"/>
          <p:nvPr/>
        </p:nvSpPr>
        <p:spPr>
          <a:xfrm>
            <a:off x="960120" y="886968"/>
            <a:ext cx="201168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Patients &amp; caregivers</a:t>
            </a:r>
            <a:endParaRPr lang="en-US" sz="1050" dirty="0"/>
          </a:p>
        </p:txBody>
      </p:sp>
      <p:sp>
        <p:nvSpPr>
          <p:cNvPr id="15" name="Text 13"/>
          <p:cNvSpPr txBox="1"/>
          <p:nvPr/>
        </p:nvSpPr>
        <p:spPr>
          <a:xfrm>
            <a:off x="338328" y="1234440"/>
            <a:ext cx="2560320" cy="914400"/>
          </a:xfrm>
          <a:prstGeom prst="rect">
            <a:avLst/>
          </a:prstGeom>
          <a:noFill/>
          <a:ln/>
        </p:spPr>
        <p:txBody>
          <a:bodyPr wrap="square" lIns="0" tIns="0" rIns="0" bIns="0" rtlCol="0" anchor="t"/>
          <a:lstStyle/>
          <a:p>
            <a:pPr indent="0" marL="0">
              <a:buNone/>
            </a:pPr>
            <a:r>
              <a:rPr lang="en-US" sz="860" dirty="0">
                <a:solidFill>
                  <a:srgbClr val="333333"/>
                </a:solidFill>
                <a:latin typeface="Calibri" pitchFamily="34" charset="0"/>
                <a:ea typeface="Calibri" pitchFamily="34" charset="-122"/>
                <a:cs typeface="Calibri" pitchFamily="34" charset="-120"/>
              </a:rPr>
              <a:t>Adults 30â€“70 on long-term medicines who also take Ayurvedic products; family members managing an elder's medicines; Hindi or English, phone-first.</a:t>
            </a:r>
            <a:endParaRPr lang="en-US" sz="860" dirty="0"/>
          </a:p>
        </p:txBody>
      </p:sp>
      <p:sp>
        <p:nvSpPr>
          <p:cNvPr id="16" name="Shape 14"/>
          <p:cNvSpPr/>
          <p:nvPr/>
        </p:nvSpPr>
        <p:spPr>
          <a:xfrm>
            <a:off x="338328" y="2194560"/>
            <a:ext cx="2560320" cy="804672"/>
          </a:xfrm>
          <a:prstGeom prst="roundRect">
            <a:avLst>
              <a:gd name="adj" fmla="val 5682"/>
            </a:avLst>
          </a:prstGeom>
          <a:solidFill>
            <a:srgbClr val="F4F6FA"/>
          </a:solidFill>
          <a:ln w="9525">
            <a:solidFill>
              <a:srgbClr val="F4F6FA"/>
            </a:solidFill>
            <a:prstDash val="solid"/>
          </a:ln>
        </p:spPr>
      </p:sp>
      <p:sp>
        <p:nvSpPr>
          <p:cNvPr id="17" name="Text 15"/>
          <p:cNvSpPr txBox="1"/>
          <p:nvPr/>
        </p:nvSpPr>
        <p:spPr>
          <a:xfrm>
            <a:off x="411480" y="2240280"/>
            <a:ext cx="2423160" cy="731520"/>
          </a:xfrm>
          <a:prstGeom prst="rect">
            <a:avLst/>
          </a:prstGeom>
          <a:noFill/>
          <a:ln/>
        </p:spPr>
        <p:txBody>
          <a:bodyPr wrap="square" lIns="0" tIns="0" rIns="0" bIns="0" rtlCol="0" anchor="ctr"/>
          <a:lstStyle/>
          <a:p>
            <a:pPr indent="0" marL="0">
              <a:buNone/>
            </a:pPr>
            <a:r>
              <a:rPr lang="en-US" sz="820" i="1" dirty="0">
                <a:solidFill>
                  <a:srgbClr val="14213D"/>
                </a:solidFill>
                <a:latin typeface="Calibri" pitchFamily="34" charset="0"/>
                <a:ea typeface="Calibri" pitchFamily="34" charset="-122"/>
                <a:cs typeface="Calibri" pitchFamily="34" charset="-120"/>
              </a:rPr>
              <a:t>â€œMummy ki thyroid tablet ke saath ashwagandha safe hai?â€ â€” answer in 60 seconds with the source.</a:t>
            </a:r>
            <a:endParaRPr lang="en-US" sz="820" dirty="0"/>
          </a:p>
        </p:txBody>
      </p:sp>
      <p:sp>
        <p:nvSpPr>
          <p:cNvPr id="18" name="Shape 16"/>
          <p:cNvSpPr/>
          <p:nvPr/>
        </p:nvSpPr>
        <p:spPr>
          <a:xfrm>
            <a:off x="3154680" y="777240"/>
            <a:ext cx="2788920" cy="2331720"/>
          </a:xfrm>
          <a:prstGeom prst="roundRect">
            <a:avLst>
              <a:gd name="adj" fmla="val 1961"/>
            </a:avLst>
          </a:prstGeom>
          <a:solidFill>
            <a:srgbClr val="FFFFFF"/>
          </a:solidFill>
          <a:ln w="9525">
            <a:solidFill>
              <a:srgbClr val="C9D0DD"/>
            </a:solidFill>
            <a:prstDash val="solid"/>
          </a:ln>
        </p:spPr>
      </p:sp>
      <p:sp>
        <p:nvSpPr>
          <p:cNvPr id="19" name="Shape 17"/>
          <p:cNvSpPr/>
          <p:nvPr/>
        </p:nvSpPr>
        <p:spPr>
          <a:xfrm>
            <a:off x="3264408" y="886968"/>
            <a:ext cx="548640" cy="256032"/>
          </a:xfrm>
          <a:prstGeom prst="roundRect">
            <a:avLst>
              <a:gd name="adj" fmla="val 17857"/>
            </a:avLst>
          </a:prstGeom>
          <a:solidFill>
            <a:srgbClr val="F4A300"/>
          </a:solidFill>
          <a:ln w="9525">
            <a:solidFill>
              <a:srgbClr val="F4A300"/>
            </a:solidFill>
            <a:prstDash val="solid"/>
          </a:ln>
        </p:spPr>
      </p:sp>
      <p:sp>
        <p:nvSpPr>
          <p:cNvPr id="20" name="Text 18"/>
          <p:cNvSpPr txBox="1"/>
          <p:nvPr/>
        </p:nvSpPr>
        <p:spPr>
          <a:xfrm>
            <a:off x="3264408" y="886968"/>
            <a:ext cx="548640" cy="256032"/>
          </a:xfrm>
          <a:prstGeom prst="rect">
            <a:avLst/>
          </a:prstGeom>
          <a:noFill/>
          <a:ln/>
        </p:spPr>
        <p:txBody>
          <a:bodyPr wrap="square" lIns="0" tIns="0" rIns="0" bIns="0" rtlCol="0" anchor="ctr"/>
          <a:lstStyle/>
          <a:p>
            <a:pPr algn="ctr" indent="0" marL="0">
              <a:buNone/>
            </a:pPr>
            <a:r>
              <a:rPr lang="en-US" sz="900" b="1" dirty="0">
                <a:solidFill>
                  <a:srgbClr val="14213D"/>
                </a:solidFill>
                <a:latin typeface="Calibri" pitchFamily="34" charset="0"/>
                <a:ea typeface="Calibri" pitchFamily="34" charset="-122"/>
                <a:cs typeface="Calibri" pitchFamily="34" charset="-120"/>
              </a:rPr>
              <a:t>B2B</a:t>
            </a:r>
            <a:endParaRPr lang="en-US" sz="900" dirty="0"/>
          </a:p>
        </p:txBody>
      </p:sp>
      <p:sp>
        <p:nvSpPr>
          <p:cNvPr id="21" name="Text 19"/>
          <p:cNvSpPr txBox="1"/>
          <p:nvPr/>
        </p:nvSpPr>
        <p:spPr>
          <a:xfrm>
            <a:off x="3886200" y="886968"/>
            <a:ext cx="201168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Clinicians &amp; pharmacies</a:t>
            </a:r>
            <a:endParaRPr lang="en-US" sz="1050" dirty="0"/>
          </a:p>
        </p:txBody>
      </p:sp>
      <p:sp>
        <p:nvSpPr>
          <p:cNvPr id="22" name="Text 20"/>
          <p:cNvSpPr txBox="1"/>
          <p:nvPr/>
        </p:nvSpPr>
        <p:spPr>
          <a:xfrm>
            <a:off x="3264408" y="1234440"/>
            <a:ext cx="2560320" cy="914400"/>
          </a:xfrm>
          <a:prstGeom prst="rect">
            <a:avLst/>
          </a:prstGeom>
          <a:noFill/>
          <a:ln/>
        </p:spPr>
        <p:txBody>
          <a:bodyPr wrap="square" lIns="0" tIns="0" rIns="0" bIns="0" rtlCol="0" anchor="t"/>
          <a:lstStyle/>
          <a:p>
            <a:pPr indent="0" marL="0">
              <a:buNone/>
            </a:pPr>
            <a:r>
              <a:rPr lang="en-US" sz="860" dirty="0">
                <a:solidFill>
                  <a:srgbClr val="333333"/>
                </a:solidFill>
                <a:latin typeface="Calibri" pitchFamily="34" charset="0"/>
                <a:ea typeface="Calibri" pitchFamily="34" charset="-122"/>
                <a:cs typeface="Calibri" pitchFamily="34" charset="-120"/>
              </a:rPr>
              <a:t>MBBS/MD doctors, BAMS vaidyas, hospital pharmacies, retail chemists, telemedicine and hospital-HIS platforms (API).</a:t>
            </a:r>
            <a:endParaRPr lang="en-US" sz="860" dirty="0"/>
          </a:p>
        </p:txBody>
      </p:sp>
      <p:sp>
        <p:nvSpPr>
          <p:cNvPr id="23" name="Shape 21"/>
          <p:cNvSpPr/>
          <p:nvPr/>
        </p:nvSpPr>
        <p:spPr>
          <a:xfrm>
            <a:off x="3264408" y="2194560"/>
            <a:ext cx="2560320" cy="804672"/>
          </a:xfrm>
          <a:prstGeom prst="roundRect">
            <a:avLst>
              <a:gd name="adj" fmla="val 5682"/>
            </a:avLst>
          </a:prstGeom>
          <a:solidFill>
            <a:srgbClr val="F4F6FA"/>
          </a:solidFill>
          <a:ln w="9525">
            <a:solidFill>
              <a:srgbClr val="F4F6FA"/>
            </a:solidFill>
            <a:prstDash val="solid"/>
          </a:ln>
        </p:spPr>
      </p:sp>
      <p:sp>
        <p:nvSpPr>
          <p:cNvPr id="24" name="Text 22"/>
          <p:cNvSpPr txBox="1"/>
          <p:nvPr/>
        </p:nvSpPr>
        <p:spPr>
          <a:xfrm>
            <a:off x="3337560" y="2240280"/>
            <a:ext cx="2423160" cy="731520"/>
          </a:xfrm>
          <a:prstGeom prst="rect">
            <a:avLst/>
          </a:prstGeom>
          <a:noFill/>
          <a:ln/>
        </p:spPr>
        <p:txBody>
          <a:bodyPr wrap="square" lIns="0" tIns="0" rIns="0" bIns="0" rtlCol="0" anchor="ctr"/>
          <a:lstStyle/>
          <a:p>
            <a:pPr indent="0" marL="0">
              <a:buNone/>
            </a:pPr>
            <a:r>
              <a:rPr lang="en-US" sz="820" i="1" dirty="0">
                <a:solidFill>
                  <a:srgbClr val="14213D"/>
                </a:solidFill>
                <a:latin typeface="Calibri" pitchFamily="34" charset="0"/>
                <a:ea typeface="Calibri" pitchFamily="34" charset="-122"/>
                <a:cs typeface="Calibri" pitchFamily="34" charset="-120"/>
              </a:rPr>
              <a:t>QR on the chemist's bill; counter-side cross-check at the only shop that sells both systems' products.</a:t>
            </a:r>
            <a:endParaRPr lang="en-US" sz="820" dirty="0"/>
          </a:p>
        </p:txBody>
      </p:sp>
      <p:sp>
        <p:nvSpPr>
          <p:cNvPr id="25" name="Shape 23"/>
          <p:cNvSpPr/>
          <p:nvPr/>
        </p:nvSpPr>
        <p:spPr>
          <a:xfrm>
            <a:off x="6080760" y="777240"/>
            <a:ext cx="2788920" cy="2331720"/>
          </a:xfrm>
          <a:prstGeom prst="roundRect">
            <a:avLst>
              <a:gd name="adj" fmla="val 1961"/>
            </a:avLst>
          </a:prstGeom>
          <a:solidFill>
            <a:srgbClr val="FFFFFF"/>
          </a:solidFill>
          <a:ln w="9525">
            <a:solidFill>
              <a:srgbClr val="C9D0DD"/>
            </a:solidFill>
            <a:prstDash val="solid"/>
          </a:ln>
        </p:spPr>
      </p:sp>
      <p:sp>
        <p:nvSpPr>
          <p:cNvPr id="26" name="Shape 24"/>
          <p:cNvSpPr/>
          <p:nvPr/>
        </p:nvSpPr>
        <p:spPr>
          <a:xfrm>
            <a:off x="6190488" y="886968"/>
            <a:ext cx="548640" cy="256032"/>
          </a:xfrm>
          <a:prstGeom prst="roundRect">
            <a:avLst>
              <a:gd name="adj" fmla="val 17857"/>
            </a:avLst>
          </a:prstGeom>
          <a:solidFill>
            <a:srgbClr val="F4A300"/>
          </a:solidFill>
          <a:ln w="9525">
            <a:solidFill>
              <a:srgbClr val="F4A300"/>
            </a:solidFill>
            <a:prstDash val="solid"/>
          </a:ln>
        </p:spPr>
      </p:sp>
      <p:sp>
        <p:nvSpPr>
          <p:cNvPr id="27" name="Text 25"/>
          <p:cNvSpPr txBox="1"/>
          <p:nvPr/>
        </p:nvSpPr>
        <p:spPr>
          <a:xfrm>
            <a:off x="6190488" y="886968"/>
            <a:ext cx="548640" cy="256032"/>
          </a:xfrm>
          <a:prstGeom prst="rect">
            <a:avLst/>
          </a:prstGeom>
          <a:noFill/>
          <a:ln/>
        </p:spPr>
        <p:txBody>
          <a:bodyPr wrap="square" lIns="0" tIns="0" rIns="0" bIns="0" rtlCol="0" anchor="ctr"/>
          <a:lstStyle/>
          <a:p>
            <a:pPr algn="ctr" indent="0" marL="0">
              <a:buNone/>
            </a:pPr>
            <a:r>
              <a:rPr lang="en-US" sz="900" b="1" dirty="0">
                <a:solidFill>
                  <a:srgbClr val="14213D"/>
                </a:solidFill>
                <a:latin typeface="Calibri" pitchFamily="34" charset="0"/>
                <a:ea typeface="Calibri" pitchFamily="34" charset="-122"/>
                <a:cs typeface="Calibri" pitchFamily="34" charset="-120"/>
              </a:rPr>
              <a:t>B2G</a:t>
            </a:r>
            <a:endParaRPr lang="en-US" sz="900" dirty="0"/>
          </a:p>
        </p:txBody>
      </p:sp>
      <p:sp>
        <p:nvSpPr>
          <p:cNvPr id="28" name="Text 26"/>
          <p:cNvSpPr txBox="1"/>
          <p:nvPr/>
        </p:nvSpPr>
        <p:spPr>
          <a:xfrm>
            <a:off x="6812280" y="886968"/>
            <a:ext cx="201168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Regulators</a:t>
            </a:r>
            <a:endParaRPr lang="en-US" sz="1050" dirty="0"/>
          </a:p>
        </p:txBody>
      </p:sp>
      <p:sp>
        <p:nvSpPr>
          <p:cNvPr id="29" name="Text 27"/>
          <p:cNvSpPr txBox="1"/>
          <p:nvPr/>
        </p:nvSpPr>
        <p:spPr>
          <a:xfrm>
            <a:off x="6190488" y="1234440"/>
            <a:ext cx="2560320" cy="914400"/>
          </a:xfrm>
          <a:prstGeom prst="rect">
            <a:avLst/>
          </a:prstGeom>
          <a:noFill/>
          <a:ln/>
        </p:spPr>
        <p:txBody>
          <a:bodyPr wrap="square" lIns="0" tIns="0" rIns="0" bIns="0" rtlCol="0" anchor="t"/>
          <a:lstStyle/>
          <a:p>
            <a:pPr indent="0" marL="0">
              <a:buNone/>
            </a:pPr>
            <a:r>
              <a:rPr lang="en-US" sz="860" dirty="0">
                <a:solidFill>
                  <a:srgbClr val="333333"/>
                </a:solidFill>
                <a:latin typeface="Calibri" pitchFamily="34" charset="0"/>
                <a:ea typeface="Calibri" pitchFamily="34" charset="-122"/>
                <a:cs typeface="Calibri" pitchFamily="34" charset="-120"/>
              </a:rPr>
              <a:t>Ministry of Ayush / NPvCC at AIIA and the 99 Peripheral Pharmacovigilance Centres.</a:t>
            </a:r>
            <a:endParaRPr lang="en-US" sz="860" dirty="0"/>
          </a:p>
        </p:txBody>
      </p:sp>
      <p:sp>
        <p:nvSpPr>
          <p:cNvPr id="30" name="Shape 28"/>
          <p:cNvSpPr/>
          <p:nvPr/>
        </p:nvSpPr>
        <p:spPr>
          <a:xfrm>
            <a:off x="6190488" y="2194560"/>
            <a:ext cx="2560320" cy="804672"/>
          </a:xfrm>
          <a:prstGeom prst="roundRect">
            <a:avLst>
              <a:gd name="adj" fmla="val 5682"/>
            </a:avLst>
          </a:prstGeom>
          <a:solidFill>
            <a:srgbClr val="F4F6FA"/>
          </a:solidFill>
          <a:ln w="9525">
            <a:solidFill>
              <a:srgbClr val="F4F6FA"/>
            </a:solidFill>
            <a:prstDash val="solid"/>
          </a:ln>
        </p:spPr>
      </p:sp>
      <p:sp>
        <p:nvSpPr>
          <p:cNvPr id="31" name="Text 29"/>
          <p:cNvSpPr txBox="1"/>
          <p:nvPr/>
        </p:nvSpPr>
        <p:spPr>
          <a:xfrm>
            <a:off x="6263640" y="2240280"/>
            <a:ext cx="2423160" cy="731520"/>
          </a:xfrm>
          <a:prstGeom prst="rect">
            <a:avLst/>
          </a:prstGeom>
          <a:noFill/>
          <a:ln/>
        </p:spPr>
        <p:txBody>
          <a:bodyPr wrap="square" lIns="0" tIns="0" rIns="0" bIns="0" rtlCol="0" anchor="ctr"/>
          <a:lstStyle/>
          <a:p>
            <a:pPr indent="0" marL="0">
              <a:buNone/>
            </a:pPr>
            <a:r>
              <a:rPr lang="en-US" sz="820" i="1" dirty="0">
                <a:solidFill>
                  <a:srgbClr val="14213D"/>
                </a:solidFill>
                <a:latin typeface="Calibri" pitchFamily="34" charset="0"/>
                <a:ea typeface="Calibri" pitchFamily="34" charset="-122"/>
                <a:cs typeface="Calibri" pitchFamily="34" charset="-120"/>
              </a:rPr>
              <a:t>Structured ICSRs in the official format and anonymised co-use analytics by state.</a:t>
            </a:r>
            <a:endParaRPr lang="en-US" sz="820" dirty="0"/>
          </a:p>
        </p:txBody>
      </p:sp>
      <p:sp>
        <p:nvSpPr>
          <p:cNvPr id="32" name="Shape 30"/>
          <p:cNvSpPr/>
          <p:nvPr/>
        </p:nvSpPr>
        <p:spPr>
          <a:xfrm>
            <a:off x="228600" y="3291840"/>
            <a:ext cx="8686800" cy="1508760"/>
          </a:xfrm>
          <a:prstGeom prst="roundRect">
            <a:avLst>
              <a:gd name="adj" fmla="val 3030"/>
            </a:avLst>
          </a:prstGeom>
          <a:solidFill>
            <a:srgbClr val="FFFFFF"/>
          </a:solidFill>
          <a:ln w="9525">
            <a:solidFill>
              <a:srgbClr val="C9D0DD"/>
            </a:solidFill>
            <a:prstDash val="solid"/>
          </a:ln>
        </p:spPr>
      </p:sp>
      <p:sp>
        <p:nvSpPr>
          <p:cNvPr id="33" name="Shape 31"/>
          <p:cNvSpPr/>
          <p:nvPr/>
        </p:nvSpPr>
        <p:spPr>
          <a:xfrm>
            <a:off x="228600" y="3291840"/>
            <a:ext cx="8686800" cy="237744"/>
          </a:xfrm>
          <a:prstGeom prst="rect">
            <a:avLst/>
          </a:prstGeom>
          <a:solidFill>
            <a:srgbClr val="14213D"/>
          </a:solidFill>
          <a:ln w="12700">
            <a:solidFill>
              <a:srgbClr val="14213D"/>
            </a:solidFill>
            <a:prstDash val="solid"/>
          </a:ln>
        </p:spPr>
      </p:sp>
      <p:sp>
        <p:nvSpPr>
          <p:cNvPr id="34" name="Text 32"/>
          <p:cNvSpPr txBox="1"/>
          <p:nvPr/>
        </p:nvSpPr>
        <p:spPr>
          <a:xfrm>
            <a:off x="320040" y="3291840"/>
            <a:ext cx="850392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THREE USE CASES WE DEMONSTRATE</a:t>
            </a:r>
            <a:endParaRPr lang="en-US" sz="850" dirty="0"/>
          </a:p>
        </p:txBody>
      </p:sp>
      <p:sp>
        <p:nvSpPr>
          <p:cNvPr id="35" name="Shape 33"/>
          <p:cNvSpPr/>
          <p:nvPr/>
        </p:nvSpPr>
        <p:spPr>
          <a:xfrm>
            <a:off x="365760" y="3611880"/>
            <a:ext cx="2743200" cy="1078992"/>
          </a:xfrm>
          <a:prstGeom prst="roundRect">
            <a:avLst>
              <a:gd name="adj" fmla="val 4237"/>
            </a:avLst>
          </a:prstGeom>
          <a:solidFill>
            <a:srgbClr val="F4F6FA"/>
          </a:solidFill>
          <a:ln w="9525">
            <a:solidFill>
              <a:srgbClr val="C9D0DD"/>
            </a:solidFill>
            <a:prstDash val="solid"/>
          </a:ln>
        </p:spPr>
      </p:sp>
      <p:sp>
        <p:nvSpPr>
          <p:cNvPr id="36" name="Shape 34"/>
          <p:cNvSpPr/>
          <p:nvPr/>
        </p:nvSpPr>
        <p:spPr>
          <a:xfrm>
            <a:off x="457200" y="3703320"/>
            <a:ext cx="868680" cy="256032"/>
          </a:xfrm>
          <a:prstGeom prst="roundRect">
            <a:avLst>
              <a:gd name="adj" fmla="val 14286"/>
            </a:avLst>
          </a:prstGeom>
          <a:solidFill>
            <a:srgbClr val="B86E00"/>
          </a:solidFill>
          <a:ln w="9525">
            <a:solidFill>
              <a:srgbClr val="B86E00"/>
            </a:solidFill>
            <a:prstDash val="solid"/>
          </a:ln>
        </p:spPr>
      </p:sp>
      <p:sp>
        <p:nvSpPr>
          <p:cNvPr id="37" name="Text 35"/>
          <p:cNvSpPr txBox="1"/>
          <p:nvPr/>
        </p:nvSpPr>
        <p:spPr>
          <a:xfrm>
            <a:off x="457200" y="3703320"/>
            <a:ext cx="86868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AMBER</a:t>
            </a:r>
            <a:endParaRPr lang="en-US" sz="850" dirty="0"/>
          </a:p>
        </p:txBody>
      </p:sp>
      <p:sp>
        <p:nvSpPr>
          <p:cNvPr id="38" name="Text 36"/>
          <p:cNvSpPr txBox="1"/>
          <p:nvPr/>
        </p:nvSpPr>
        <p:spPr>
          <a:xfrm>
            <a:off x="1389888" y="3703320"/>
            <a:ext cx="1691640" cy="256032"/>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Ashwagandha + Levothyroxine</a:t>
            </a:r>
            <a:endParaRPr lang="en-US" sz="900" dirty="0"/>
          </a:p>
        </p:txBody>
      </p:sp>
      <p:sp>
        <p:nvSpPr>
          <p:cNvPr id="39" name="Text 37"/>
          <p:cNvSpPr txBox="1"/>
          <p:nvPr/>
        </p:nvSpPr>
        <p:spPr>
          <a:xfrm>
            <a:off x="457200" y="4023360"/>
            <a:ext cx="2560320" cy="640080"/>
          </a:xfrm>
          <a:prstGeom prst="rect">
            <a:avLst/>
          </a:prstGeom>
          <a:noFill/>
          <a:ln/>
        </p:spPr>
        <p:txBody>
          <a:bodyPr wrap="square" lIns="0" tIns="0" rIns="0" bIns="0" rtlCol="0" anchor="t"/>
          <a:lstStyle/>
          <a:p>
            <a:pPr indent="0" marL="0">
              <a:buNone/>
            </a:pPr>
            <a:r>
              <a:rPr lang="en-US" sz="780" dirty="0">
                <a:solidFill>
                  <a:srgbClr val="333333"/>
                </a:solidFill>
                <a:latin typeface="Calibri" pitchFamily="34" charset="0"/>
                <a:ea typeface="Calibri" pitchFamily="34" charset="-122"/>
                <a:cs typeface="Calibri" pitchFamily="34" charset="-120"/>
              </a:rPr>
              <a:t>Caution Â· grade B Â· recheck TSH in 6â€“8 weeks Â· Sharma 2018, Gannon 2014</a:t>
            </a:r>
            <a:endParaRPr lang="en-US" sz="780" dirty="0"/>
          </a:p>
        </p:txBody>
      </p:sp>
      <p:sp>
        <p:nvSpPr>
          <p:cNvPr id="40" name="Shape 38"/>
          <p:cNvSpPr/>
          <p:nvPr/>
        </p:nvSpPr>
        <p:spPr>
          <a:xfrm>
            <a:off x="3246120" y="3611880"/>
            <a:ext cx="2743200" cy="1078992"/>
          </a:xfrm>
          <a:prstGeom prst="roundRect">
            <a:avLst>
              <a:gd name="adj" fmla="val 4237"/>
            </a:avLst>
          </a:prstGeom>
          <a:solidFill>
            <a:srgbClr val="F4F6FA"/>
          </a:solidFill>
          <a:ln w="9525">
            <a:solidFill>
              <a:srgbClr val="C9D0DD"/>
            </a:solidFill>
            <a:prstDash val="solid"/>
          </a:ln>
        </p:spPr>
      </p:sp>
      <p:sp>
        <p:nvSpPr>
          <p:cNvPr id="41" name="Shape 39"/>
          <p:cNvSpPr/>
          <p:nvPr/>
        </p:nvSpPr>
        <p:spPr>
          <a:xfrm>
            <a:off x="3337560" y="3703320"/>
            <a:ext cx="868680" cy="256032"/>
          </a:xfrm>
          <a:prstGeom prst="roundRect">
            <a:avLst>
              <a:gd name="adj" fmla="val 14286"/>
            </a:avLst>
          </a:prstGeom>
          <a:solidFill>
            <a:srgbClr val="B00020"/>
          </a:solidFill>
          <a:ln w="9525">
            <a:solidFill>
              <a:srgbClr val="B00020"/>
            </a:solidFill>
            <a:prstDash val="solid"/>
          </a:ln>
        </p:spPr>
      </p:sp>
      <p:sp>
        <p:nvSpPr>
          <p:cNvPr id="42" name="Text 40"/>
          <p:cNvSpPr txBox="1"/>
          <p:nvPr/>
        </p:nvSpPr>
        <p:spPr>
          <a:xfrm>
            <a:off x="3337560" y="3703320"/>
            <a:ext cx="86868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RED</a:t>
            </a:r>
            <a:endParaRPr lang="en-US" sz="850" dirty="0"/>
          </a:p>
        </p:txBody>
      </p:sp>
      <p:sp>
        <p:nvSpPr>
          <p:cNvPr id="43" name="Text 41"/>
          <p:cNvSpPr txBox="1"/>
          <p:nvPr/>
        </p:nvSpPr>
        <p:spPr>
          <a:xfrm>
            <a:off x="4270248" y="3703320"/>
            <a:ext cx="1691640" cy="256032"/>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Guggul + Warfarin</a:t>
            </a:r>
            <a:endParaRPr lang="en-US" sz="900" dirty="0"/>
          </a:p>
        </p:txBody>
      </p:sp>
      <p:sp>
        <p:nvSpPr>
          <p:cNvPr id="44" name="Text 42"/>
          <p:cNvSpPr txBox="1"/>
          <p:nvPr/>
        </p:nvSpPr>
        <p:spPr>
          <a:xfrm>
            <a:off x="3337560" y="4023360"/>
            <a:ext cx="2560320" cy="640080"/>
          </a:xfrm>
          <a:prstGeom prst="rect">
            <a:avLst/>
          </a:prstGeom>
          <a:noFill/>
          <a:ln/>
        </p:spPr>
        <p:txBody>
          <a:bodyPr wrap="square" lIns="0" tIns="0" rIns="0" bIns="0" rtlCol="0" anchor="t"/>
          <a:lstStyle/>
          <a:p>
            <a:pPr indent="0" marL="0">
              <a:buNone/>
            </a:pPr>
            <a:r>
              <a:rPr lang="en-US" sz="780" dirty="0">
                <a:solidFill>
                  <a:srgbClr val="333333"/>
                </a:solidFill>
                <a:latin typeface="Calibri" pitchFamily="34" charset="0"/>
                <a:ea typeface="Calibri" pitchFamily="34" charset="-122"/>
                <a:cs typeface="Calibri" pitchFamily="34" charset="-120"/>
              </a:rPr>
              <a:t>High risk Â· bleeding Â· anticoagulant class escalation (rule R5) Â· MSKCC, Stockley's</a:t>
            </a:r>
            <a:endParaRPr lang="en-US" sz="780" dirty="0"/>
          </a:p>
        </p:txBody>
      </p:sp>
      <p:sp>
        <p:nvSpPr>
          <p:cNvPr id="45" name="Shape 43"/>
          <p:cNvSpPr/>
          <p:nvPr/>
        </p:nvSpPr>
        <p:spPr>
          <a:xfrm>
            <a:off x="6126480" y="3611880"/>
            <a:ext cx="2743200" cy="1078992"/>
          </a:xfrm>
          <a:prstGeom prst="roundRect">
            <a:avLst>
              <a:gd name="adj" fmla="val 4237"/>
            </a:avLst>
          </a:prstGeom>
          <a:solidFill>
            <a:srgbClr val="F4F6FA"/>
          </a:solidFill>
          <a:ln w="9525">
            <a:solidFill>
              <a:srgbClr val="C9D0DD"/>
            </a:solidFill>
            <a:prstDash val="solid"/>
          </a:ln>
        </p:spPr>
      </p:sp>
      <p:sp>
        <p:nvSpPr>
          <p:cNvPr id="46" name="Shape 44"/>
          <p:cNvSpPr/>
          <p:nvPr/>
        </p:nvSpPr>
        <p:spPr>
          <a:xfrm>
            <a:off x="6217920" y="3703320"/>
            <a:ext cx="868680" cy="256032"/>
          </a:xfrm>
          <a:prstGeom prst="roundRect">
            <a:avLst>
              <a:gd name="adj" fmla="val 14286"/>
            </a:avLst>
          </a:prstGeom>
          <a:solidFill>
            <a:srgbClr val="4B5563"/>
          </a:solidFill>
          <a:ln w="9525">
            <a:solidFill>
              <a:srgbClr val="4B5563"/>
            </a:solidFill>
            <a:prstDash val="solid"/>
          </a:ln>
        </p:spPr>
      </p:sp>
      <p:sp>
        <p:nvSpPr>
          <p:cNvPr id="47" name="Text 45"/>
          <p:cNvSpPr txBox="1"/>
          <p:nvPr/>
        </p:nvSpPr>
        <p:spPr>
          <a:xfrm>
            <a:off x="6217920" y="3703320"/>
            <a:ext cx="86868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NOT IN DB</a:t>
            </a:r>
            <a:endParaRPr lang="en-US" sz="850" dirty="0"/>
          </a:p>
        </p:txBody>
      </p:sp>
      <p:sp>
        <p:nvSpPr>
          <p:cNvPr id="48" name="Text 46"/>
          <p:cNvSpPr txBox="1"/>
          <p:nvPr/>
        </p:nvSpPr>
        <p:spPr>
          <a:xfrm>
            <a:off x="7150608" y="3703320"/>
            <a:ext cx="1691640" cy="256032"/>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Dolo 650 + Tulsi</a:t>
            </a:r>
            <a:endParaRPr lang="en-US" sz="900" dirty="0"/>
          </a:p>
        </p:txBody>
      </p:sp>
      <p:sp>
        <p:nvSpPr>
          <p:cNvPr id="49" name="Text 47"/>
          <p:cNvSpPr txBox="1"/>
          <p:nvPr/>
        </p:nvSpPr>
        <p:spPr>
          <a:xfrm>
            <a:off x="6217920" y="4023360"/>
            <a:ext cx="2560320" cy="640080"/>
          </a:xfrm>
          <a:prstGeom prst="rect">
            <a:avLst/>
          </a:prstGeom>
          <a:noFill/>
          <a:ln/>
        </p:spPr>
        <p:txBody>
          <a:bodyPr wrap="square" lIns="0" tIns="0" rIns="0" bIns="0" rtlCol="0" anchor="t"/>
          <a:lstStyle/>
          <a:p>
            <a:pPr indent="0" marL="0">
              <a:buNone/>
            </a:pPr>
            <a:r>
              <a:rPr lang="en-US" sz="780" dirty="0">
                <a:solidFill>
                  <a:srgbClr val="333333"/>
                </a:solidFill>
                <a:latin typeface="Calibri" pitchFamily="34" charset="0"/>
                <a:ea typeface="Calibri" pitchFamily="34" charset="-122"/>
                <a:cs typeface="Calibri" pitchFamily="34" charset="-120"/>
              </a:rPr>
              <a:t>No reviewed row â†’ we say so, never guess GREEN Â· pair logged for TinyFish-assisted curation</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4213D"/>
          </a:solidFill>
          <a:ln w="12700">
            <a:solidFill>
              <a:srgbClr val="14213D"/>
            </a:solidFill>
            <a:prstDash val="solid"/>
          </a:ln>
        </p:spPr>
      </p:sp>
      <p:sp>
        <p:nvSpPr>
          <p:cNvPr id="3" name="Shape 1"/>
          <p:cNvSpPr/>
          <p:nvPr/>
        </p:nvSpPr>
        <p:spPr>
          <a:xfrm>
            <a:off x="0" y="566928"/>
            <a:ext cx="9144000" cy="36576"/>
          </a:xfrm>
          <a:prstGeom prst="rect">
            <a:avLst/>
          </a:prstGeom>
          <a:solidFill>
            <a:srgbClr val="F4A300"/>
          </a:solidFill>
          <a:ln w="12700">
            <a:solidFill>
              <a:srgbClr val="F4A300"/>
            </a:solidFill>
            <a:prstDash val="solid"/>
          </a:ln>
        </p:spPr>
      </p:sp>
      <p:sp>
        <p:nvSpPr>
          <p:cNvPr id="4" name="Shape 2"/>
          <p:cNvSpPr/>
          <p:nvPr/>
        </p:nvSpPr>
        <p:spPr>
          <a:xfrm>
            <a:off x="228600" y="128016"/>
            <a:ext cx="1234440" cy="310896"/>
          </a:xfrm>
          <a:prstGeom prst="roundRect">
            <a:avLst>
              <a:gd name="adj" fmla="val 50000"/>
            </a:avLst>
          </a:prstGeom>
          <a:solidFill>
            <a:srgbClr val="F4A300"/>
          </a:solidFill>
          <a:ln w="9525">
            <a:solidFill>
              <a:srgbClr val="F4A300"/>
            </a:solidFill>
            <a:prstDash val="solid"/>
          </a:ln>
        </p:spPr>
      </p:sp>
      <p:sp>
        <p:nvSpPr>
          <p:cNvPr id="5" name="Text 3"/>
          <p:cNvSpPr txBox="1"/>
          <p:nvPr/>
        </p:nvSpPr>
        <p:spPr>
          <a:xfrm>
            <a:off x="228600" y="128016"/>
            <a:ext cx="1234440" cy="310896"/>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Bug Hunters</a:t>
            </a:r>
            <a:endParaRPr lang="en-US" sz="1050" dirty="0"/>
          </a:p>
        </p:txBody>
      </p:sp>
      <p:sp>
        <p:nvSpPr>
          <p:cNvPr id="6" name="Text 4"/>
          <p:cNvSpPr txBox="1"/>
          <p:nvPr/>
        </p:nvSpPr>
        <p:spPr>
          <a:xfrm>
            <a:off x="1600200" y="64008"/>
            <a:ext cx="557784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4 Â· ROLE OF AI / ML</a:t>
            </a:r>
            <a:endParaRPr lang="en-US" sz="1800" dirty="0"/>
          </a:p>
        </p:txBody>
      </p:sp>
      <p:sp>
        <p:nvSpPr>
          <p:cNvPr id="7" name="Text 5"/>
          <p:cNvSpPr txBox="1"/>
          <p:nvPr/>
        </p:nvSpPr>
        <p:spPr>
          <a:xfrm>
            <a:off x="7223760" y="91440"/>
            <a:ext cx="1691640" cy="402336"/>
          </a:xfrm>
          <a:prstGeom prst="rect">
            <a:avLst/>
          </a:prstGeom>
          <a:noFill/>
          <a:ln/>
        </p:spPr>
        <p:txBody>
          <a:bodyPr wrap="square" lIns="0" tIns="0" rIns="0" bIns="0" rtlCol="0" anchor="ctr"/>
          <a:lstStyle/>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KRITICAL HACKS 2026</a:t>
            </a:r>
            <a:endParaRPr lang="en-US" sz="850" dirty="0"/>
          </a:p>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IGDTUW Â· AI/ML Track</a:t>
            </a:r>
            <a:endParaRPr lang="en-US" sz="850" dirty="0"/>
          </a:p>
        </p:txBody>
      </p:sp>
      <p:sp>
        <p:nvSpPr>
          <p:cNvPr id="8" name="Shape 6"/>
          <p:cNvSpPr/>
          <p:nvPr/>
        </p:nvSpPr>
        <p:spPr>
          <a:xfrm>
            <a:off x="0" y="4937760"/>
            <a:ext cx="9144000" cy="205740"/>
          </a:xfrm>
          <a:prstGeom prst="rect">
            <a:avLst/>
          </a:prstGeom>
          <a:solidFill>
            <a:srgbClr val="14213D"/>
          </a:solidFill>
          <a:ln w="12700">
            <a:solidFill>
              <a:srgbClr val="14213D"/>
            </a:solidFill>
            <a:prstDash val="solid"/>
          </a:ln>
        </p:spPr>
      </p:sp>
      <p:sp>
        <p:nvSpPr>
          <p:cNvPr id="9" name="Text 7"/>
          <p:cNvSpPr txBox="1"/>
          <p:nvPr/>
        </p:nvSpPr>
        <p:spPr>
          <a:xfrm>
            <a:off x="228600" y="4937760"/>
            <a:ext cx="6400800" cy="205740"/>
          </a:xfrm>
          <a:prstGeom prst="rect">
            <a:avLst/>
          </a:prstGeom>
          <a:noFill/>
          <a:ln/>
        </p:spPr>
        <p:txBody>
          <a:bodyPr wrap="square" lIns="0" tIns="0" rIns="0" bIns="0" rtlCol="0" anchor="ctr"/>
          <a:lstStyle/>
          <a:p>
            <a:pPr indent="0" marL="0">
              <a:buNone/>
            </a:pPr>
            <a:r>
              <a:rPr lang="en-US" sz="700" dirty="0">
                <a:solidFill>
                  <a:srgbClr val="C9D1E0"/>
                </a:solidFill>
                <a:latin typeface="Calibri" pitchFamily="34" charset="0"/>
                <a:ea typeface="Calibri" pitchFamily="34" charset="-122"/>
                <a:cs typeface="Calibri" pitchFamily="34" charset="-120"/>
              </a:rPr>
              <a:t>TakeSure Â· Confidence before taking something Â· Team Bug Hunters Â· Kritical Hacks 2026</a:t>
            </a:r>
            <a:endParaRPr lang="en-US" sz="700" dirty="0"/>
          </a:p>
        </p:txBody>
      </p:sp>
      <p:sp>
        <p:nvSpPr>
          <p:cNvPr id="10" name="Text 8"/>
          <p:cNvSpPr txBox="1"/>
          <p:nvPr/>
        </p:nvSpPr>
        <p:spPr>
          <a:xfrm>
            <a:off x="5943600" y="4937760"/>
            <a:ext cx="2971800" cy="205740"/>
          </a:xfrm>
          <a:prstGeom prst="rect">
            <a:avLst/>
          </a:prstGeom>
          <a:noFill/>
          <a:ln/>
        </p:spPr>
        <p:txBody>
          <a:bodyPr wrap="square" lIns="0" tIns="0" rIns="0" bIns="0" rtlCol="0" anchor="ctr"/>
          <a:lstStyle/>
          <a:p>
            <a:pPr algn="r" indent="0" marL="0">
              <a:buNone/>
            </a:pPr>
            <a:r>
              <a:rPr lang="en-US" sz="700" dirty="0">
                <a:solidFill>
                  <a:srgbClr val="C9D1E0"/>
                </a:solidFill>
                <a:latin typeface="Calibri" pitchFamily="34" charset="0"/>
                <a:ea typeface="Calibri" pitchFamily="34" charset="-122"/>
                <a:cs typeface="Calibri" pitchFamily="34" charset="-120"/>
              </a:rPr>
              <a:t>Decision support Â· not diagnosis   5</a:t>
            </a:r>
            <a:endParaRPr lang="en-US" sz="700" dirty="0"/>
          </a:p>
        </p:txBody>
      </p:sp>
      <p:sp>
        <p:nvSpPr>
          <p:cNvPr id="11" name="Text 9"/>
          <p:cNvSpPr txBox="1"/>
          <p:nvPr/>
        </p:nvSpPr>
        <p:spPr>
          <a:xfrm>
            <a:off x="274320" y="713232"/>
            <a:ext cx="8595360" cy="274320"/>
          </a:xfrm>
          <a:prstGeom prst="rect">
            <a:avLst/>
          </a:prstGeom>
          <a:noFill/>
          <a:ln/>
        </p:spPr>
        <p:txBody>
          <a:bodyPr wrap="square" lIns="0" tIns="0" rIns="0" bIns="0" rtlCol="0" anchor="t"/>
          <a:lstStyle/>
          <a:p>
            <a:pPr indent="0" marL="0">
              <a:buNone/>
            </a:pPr>
            <a:r>
              <a:rPr lang="en-US" sz="1300" b="1" dirty="0">
                <a:solidFill>
                  <a:srgbClr val="14213D"/>
                </a:solidFill>
                <a:latin typeface="Cambria" pitchFamily="34" charset="0"/>
                <a:ea typeface="Cambria" pitchFamily="34" charset="-122"/>
                <a:cs typeface="Cambria" pitchFamily="34" charset="-120"/>
              </a:rPr>
              <a:t>AI everywhere it is safe. Rules in the one place it is dangerous.</a:t>
            </a:r>
            <a:endParaRPr lang="en-US" sz="1300" dirty="0"/>
          </a:p>
        </p:txBody>
      </p:sp>
      <p:sp>
        <p:nvSpPr>
          <p:cNvPr id="12" name="Shape 10"/>
          <p:cNvSpPr/>
          <p:nvPr/>
        </p:nvSpPr>
        <p:spPr>
          <a:xfrm>
            <a:off x="274320" y="1051560"/>
            <a:ext cx="8595360" cy="658368"/>
          </a:xfrm>
          <a:prstGeom prst="roundRect">
            <a:avLst>
              <a:gd name="adj" fmla="val 6944"/>
            </a:avLst>
          </a:prstGeom>
          <a:solidFill>
            <a:srgbClr val="FFFFFF"/>
          </a:solidFill>
          <a:ln w="9525">
            <a:solidFill>
              <a:srgbClr val="C9D0DD"/>
            </a:solidFill>
            <a:prstDash val="solid"/>
          </a:ln>
        </p:spPr>
      </p:sp>
      <p:sp>
        <p:nvSpPr>
          <p:cNvPr id="13" name="Shape 11"/>
          <p:cNvSpPr/>
          <p:nvPr/>
        </p:nvSpPr>
        <p:spPr>
          <a:xfrm>
            <a:off x="365760" y="1143000"/>
            <a:ext cx="1143000" cy="457200"/>
          </a:xfrm>
          <a:prstGeom prst="roundRect">
            <a:avLst>
              <a:gd name="adj" fmla="val 10000"/>
            </a:avLst>
          </a:prstGeom>
          <a:solidFill>
            <a:srgbClr val="0F5A43"/>
          </a:solidFill>
          <a:ln w="9525">
            <a:solidFill>
              <a:srgbClr val="0F5A43"/>
            </a:solidFill>
            <a:prstDash val="solid"/>
          </a:ln>
        </p:spPr>
      </p:sp>
      <p:sp>
        <p:nvSpPr>
          <p:cNvPr id="14" name="Text 12"/>
          <p:cNvSpPr txBox="1"/>
          <p:nvPr/>
        </p:nvSpPr>
        <p:spPr>
          <a:xfrm>
            <a:off x="365760" y="1143000"/>
            <a:ext cx="11430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Computer vision</a:t>
            </a:r>
            <a:endParaRPr lang="en-US" sz="900" dirty="0"/>
          </a:p>
        </p:txBody>
      </p:sp>
      <p:sp>
        <p:nvSpPr>
          <p:cNvPr id="15" name="Text 13"/>
          <p:cNvSpPr txBox="1"/>
          <p:nvPr/>
        </p:nvSpPr>
        <p:spPr>
          <a:xfrm>
            <a:off x="1645920" y="1106424"/>
            <a:ext cx="1828800" cy="54864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OCR</a:t>
            </a:r>
            <a:endParaRPr lang="en-US" sz="1000" dirty="0"/>
          </a:p>
        </p:txBody>
      </p:sp>
      <p:sp>
        <p:nvSpPr>
          <p:cNvPr id="16" name="Text 14"/>
          <p:cNvSpPr txBox="1"/>
          <p:nvPr/>
        </p:nvSpPr>
        <p:spPr>
          <a:xfrm>
            <a:off x="3520440" y="1106424"/>
            <a:ext cx="5257800" cy="566928"/>
          </a:xfrm>
          <a:prstGeom prst="rect">
            <a:avLst/>
          </a:prstGeom>
          <a:noFill/>
          <a:ln/>
        </p:spPr>
        <p:txBody>
          <a:bodyPr wrap="square" lIns="0" tIns="0" rIns="0" bIns="0" rtlCol="0" anchor="ctr"/>
          <a:lstStyle/>
          <a:p>
            <a:pPr indent="0" marL="0">
              <a:buNone/>
            </a:pPr>
            <a:r>
              <a:rPr lang="en-US" sz="820" dirty="0">
                <a:solidFill>
                  <a:srgbClr val="333333"/>
                </a:solidFill>
                <a:latin typeface="Calibri" pitchFamily="34" charset="0"/>
                <a:ea typeface="Calibri" pitchFamily="34" charset="-122"/>
                <a:cs typeface="Calibri" pitchFamily="34" charset="-120"/>
              </a:rPr>
              <a:t>Tesseract 5.4 (pre-trained LSTM) reads prescription and label photos after Pillow pre-processing (grayscale, upscale, autocontrast); English + Hindi models. Roadmap: fine-tune on Indian labels and handwriting.</a:t>
            </a:r>
            <a:endParaRPr lang="en-US" sz="820" dirty="0"/>
          </a:p>
        </p:txBody>
      </p:sp>
      <p:sp>
        <p:nvSpPr>
          <p:cNvPr id="17" name="Shape 15"/>
          <p:cNvSpPr/>
          <p:nvPr/>
        </p:nvSpPr>
        <p:spPr>
          <a:xfrm>
            <a:off x="274320" y="1783080"/>
            <a:ext cx="8595360" cy="658368"/>
          </a:xfrm>
          <a:prstGeom prst="roundRect">
            <a:avLst>
              <a:gd name="adj" fmla="val 6944"/>
            </a:avLst>
          </a:prstGeom>
          <a:solidFill>
            <a:srgbClr val="FFFFFF"/>
          </a:solidFill>
          <a:ln w="9525">
            <a:solidFill>
              <a:srgbClr val="C9D0DD"/>
            </a:solidFill>
            <a:prstDash val="solid"/>
          </a:ln>
        </p:spPr>
      </p:sp>
      <p:sp>
        <p:nvSpPr>
          <p:cNvPr id="18" name="Shape 16"/>
          <p:cNvSpPr/>
          <p:nvPr/>
        </p:nvSpPr>
        <p:spPr>
          <a:xfrm>
            <a:off x="365760" y="1874520"/>
            <a:ext cx="1143000" cy="457200"/>
          </a:xfrm>
          <a:prstGeom prst="roundRect">
            <a:avLst>
              <a:gd name="adj" fmla="val 10000"/>
            </a:avLst>
          </a:prstGeom>
          <a:solidFill>
            <a:srgbClr val="0F5A43"/>
          </a:solidFill>
          <a:ln w="9525">
            <a:solidFill>
              <a:srgbClr val="0F5A43"/>
            </a:solidFill>
            <a:prstDash val="solid"/>
          </a:ln>
        </p:spPr>
      </p:sp>
      <p:sp>
        <p:nvSpPr>
          <p:cNvPr id="19" name="Text 17"/>
          <p:cNvSpPr txBox="1"/>
          <p:nvPr/>
        </p:nvSpPr>
        <p:spPr>
          <a:xfrm>
            <a:off x="365760" y="1874520"/>
            <a:ext cx="11430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NLP</a:t>
            </a:r>
            <a:endParaRPr lang="en-US" sz="900" dirty="0"/>
          </a:p>
        </p:txBody>
      </p:sp>
      <p:sp>
        <p:nvSpPr>
          <p:cNvPr id="20" name="Text 18"/>
          <p:cNvSpPr txBox="1"/>
          <p:nvPr/>
        </p:nvSpPr>
        <p:spPr>
          <a:xfrm>
            <a:off x="1645920" y="1837944"/>
            <a:ext cx="1828800" cy="54864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Name matching</a:t>
            </a:r>
            <a:endParaRPr lang="en-US" sz="1000" dirty="0"/>
          </a:p>
        </p:txBody>
      </p:sp>
      <p:sp>
        <p:nvSpPr>
          <p:cNvPr id="21" name="Text 19"/>
          <p:cNvSpPr txBox="1"/>
          <p:nvPr/>
        </p:nvSpPr>
        <p:spPr>
          <a:xfrm>
            <a:off x="3520440" y="1837944"/>
            <a:ext cx="5257800" cy="566928"/>
          </a:xfrm>
          <a:prstGeom prst="rect">
            <a:avLst/>
          </a:prstGeom>
          <a:noFill/>
          <a:ln/>
        </p:spPr>
        <p:txBody>
          <a:bodyPr wrap="square" lIns="0" tIns="0" rIns="0" bIns="0" rtlCol="0" anchor="ctr"/>
          <a:lstStyle/>
          <a:p>
            <a:pPr indent="0" marL="0">
              <a:buNone/>
            </a:pPr>
            <a:r>
              <a:rPr lang="en-US" sz="820" dirty="0">
                <a:solidFill>
                  <a:srgbClr val="333333"/>
                </a:solidFill>
                <a:latin typeface="Calibri" pitchFamily="34" charset="0"/>
                <a:ea typeface="Calibri" pitchFamily="34" charset="-122"/>
                <a:cs typeface="Calibri" pitchFamily="34" charset="-120"/>
              </a:rPr>
              <a:t>Entity extraction from messy prescription text; RapidFuzz token matching over a bridge dictionary of Indian brands, generics and Sanskrit/Hindi/Latin synonyms. â‰¥85 accept, 70â€“85 ask the user, &lt;70 unrecognised.</a:t>
            </a:r>
            <a:endParaRPr lang="en-US" sz="820" dirty="0"/>
          </a:p>
        </p:txBody>
      </p:sp>
      <p:sp>
        <p:nvSpPr>
          <p:cNvPr id="22" name="Shape 20"/>
          <p:cNvSpPr/>
          <p:nvPr/>
        </p:nvSpPr>
        <p:spPr>
          <a:xfrm>
            <a:off x="274320" y="2514600"/>
            <a:ext cx="8595360" cy="658368"/>
          </a:xfrm>
          <a:prstGeom prst="roundRect">
            <a:avLst>
              <a:gd name="adj" fmla="val 6944"/>
            </a:avLst>
          </a:prstGeom>
          <a:solidFill>
            <a:srgbClr val="FFFFFF"/>
          </a:solidFill>
          <a:ln w="9525">
            <a:solidFill>
              <a:srgbClr val="C9D0DD"/>
            </a:solidFill>
            <a:prstDash val="solid"/>
          </a:ln>
        </p:spPr>
      </p:sp>
      <p:sp>
        <p:nvSpPr>
          <p:cNvPr id="23" name="Shape 21"/>
          <p:cNvSpPr/>
          <p:nvPr/>
        </p:nvSpPr>
        <p:spPr>
          <a:xfrm>
            <a:off x="365760" y="2606040"/>
            <a:ext cx="1143000" cy="457200"/>
          </a:xfrm>
          <a:prstGeom prst="roundRect">
            <a:avLst>
              <a:gd name="adj" fmla="val 10000"/>
            </a:avLst>
          </a:prstGeom>
          <a:solidFill>
            <a:srgbClr val="0F5A43"/>
          </a:solidFill>
          <a:ln w="9525">
            <a:solidFill>
              <a:srgbClr val="0F5A43"/>
            </a:solidFill>
            <a:prstDash val="solid"/>
          </a:ln>
        </p:spPr>
      </p:sp>
      <p:sp>
        <p:nvSpPr>
          <p:cNvPr id="24" name="Text 22"/>
          <p:cNvSpPr txBox="1"/>
          <p:nvPr/>
        </p:nvSpPr>
        <p:spPr>
          <a:xfrm>
            <a:off x="365760" y="2606040"/>
            <a:ext cx="11430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LLM</a:t>
            </a:r>
            <a:endParaRPr lang="en-US" sz="900" dirty="0"/>
          </a:p>
        </p:txBody>
      </p:sp>
      <p:sp>
        <p:nvSpPr>
          <p:cNvPr id="25" name="Text 23"/>
          <p:cNvSpPr txBox="1"/>
          <p:nvPr/>
        </p:nvSpPr>
        <p:spPr>
          <a:xfrm>
            <a:off x="1645920" y="2569464"/>
            <a:ext cx="1828800" cy="54864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Explainer</a:t>
            </a:r>
            <a:endParaRPr lang="en-US" sz="1000" dirty="0"/>
          </a:p>
        </p:txBody>
      </p:sp>
      <p:sp>
        <p:nvSpPr>
          <p:cNvPr id="26" name="Text 24"/>
          <p:cNvSpPr txBox="1"/>
          <p:nvPr/>
        </p:nvSpPr>
        <p:spPr>
          <a:xfrm>
            <a:off x="3520440" y="2569464"/>
            <a:ext cx="5257800" cy="566928"/>
          </a:xfrm>
          <a:prstGeom prst="rect">
            <a:avLst/>
          </a:prstGeom>
          <a:noFill/>
          <a:ln/>
        </p:spPr>
        <p:txBody>
          <a:bodyPr wrap="square" lIns="0" tIns="0" rIns="0" bIns="0" rtlCol="0" anchor="ctr"/>
          <a:lstStyle/>
          <a:p>
            <a:pPr indent="0" marL="0">
              <a:buNone/>
            </a:pPr>
            <a:r>
              <a:rPr lang="en-US" sz="820" dirty="0">
                <a:solidFill>
                  <a:srgbClr val="333333"/>
                </a:solidFill>
                <a:latin typeface="Calibri" pitchFamily="34" charset="0"/>
                <a:ea typeface="Calibri" pitchFamily="34" charset="-122"/>
                <a:cs typeface="Calibri" pitchFamily="34" charset="-120"/>
              </a:rPr>
              <a:t>Groq-hosted open-weight model (gpt-oss-120b), temperature 0, receives only the matched rows, must return a strict JSON schema, directive language rejected in English and Hindi, knowledge-base fallback. Output: plain-language summary + 3 doctor questions.</a:t>
            </a:r>
            <a:endParaRPr lang="en-US" sz="820" dirty="0"/>
          </a:p>
        </p:txBody>
      </p:sp>
      <p:sp>
        <p:nvSpPr>
          <p:cNvPr id="27" name="Shape 25"/>
          <p:cNvSpPr/>
          <p:nvPr/>
        </p:nvSpPr>
        <p:spPr>
          <a:xfrm>
            <a:off x="274320" y="3246120"/>
            <a:ext cx="8595360" cy="658368"/>
          </a:xfrm>
          <a:prstGeom prst="roundRect">
            <a:avLst>
              <a:gd name="adj" fmla="val 6944"/>
            </a:avLst>
          </a:prstGeom>
          <a:solidFill>
            <a:srgbClr val="FFFFFF"/>
          </a:solidFill>
          <a:ln w="9525">
            <a:solidFill>
              <a:srgbClr val="C9D0DD"/>
            </a:solidFill>
            <a:prstDash val="solid"/>
          </a:ln>
        </p:spPr>
      </p:sp>
      <p:sp>
        <p:nvSpPr>
          <p:cNvPr id="28" name="Shape 26"/>
          <p:cNvSpPr/>
          <p:nvPr/>
        </p:nvSpPr>
        <p:spPr>
          <a:xfrm>
            <a:off x="365760" y="3337560"/>
            <a:ext cx="1143000" cy="457200"/>
          </a:xfrm>
          <a:prstGeom prst="roundRect">
            <a:avLst>
              <a:gd name="adj" fmla="val 10000"/>
            </a:avLst>
          </a:prstGeom>
          <a:solidFill>
            <a:srgbClr val="6D28D9"/>
          </a:solidFill>
          <a:ln w="9525">
            <a:solidFill>
              <a:srgbClr val="6D28D9"/>
            </a:solidFill>
            <a:prstDash val="solid"/>
          </a:ln>
        </p:spPr>
      </p:sp>
      <p:sp>
        <p:nvSpPr>
          <p:cNvPr id="29" name="Text 27"/>
          <p:cNvSpPr txBox="1"/>
          <p:nvPr/>
        </p:nvSpPr>
        <p:spPr>
          <a:xfrm>
            <a:off x="365760" y="3337560"/>
            <a:ext cx="11430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Agentic AI</a:t>
            </a:r>
            <a:endParaRPr lang="en-US" sz="900" dirty="0"/>
          </a:p>
        </p:txBody>
      </p:sp>
      <p:sp>
        <p:nvSpPr>
          <p:cNvPr id="30" name="Text 28"/>
          <p:cNvSpPr txBox="1"/>
          <p:nvPr/>
        </p:nvSpPr>
        <p:spPr>
          <a:xfrm>
            <a:off x="1645920" y="3300984"/>
            <a:ext cx="1828800" cy="54864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TinyFish research assistant</a:t>
            </a:r>
            <a:endParaRPr lang="en-US" sz="1000" dirty="0"/>
          </a:p>
        </p:txBody>
      </p:sp>
      <p:sp>
        <p:nvSpPr>
          <p:cNvPr id="31" name="Text 29"/>
          <p:cNvSpPr txBox="1"/>
          <p:nvPr/>
        </p:nvSpPr>
        <p:spPr>
          <a:xfrm>
            <a:off x="3520440" y="3300984"/>
            <a:ext cx="5257800" cy="566928"/>
          </a:xfrm>
          <a:prstGeom prst="rect">
            <a:avLst/>
          </a:prstGeom>
          <a:noFill/>
          <a:ln/>
        </p:spPr>
        <p:txBody>
          <a:bodyPr wrap="square" lIns="0" tIns="0" rIns="0" bIns="0" rtlCol="0" anchor="ctr"/>
          <a:lstStyle/>
          <a:p>
            <a:pPr indent="0" marL="0">
              <a:buNone/>
            </a:pPr>
            <a:r>
              <a:rPr lang="en-US" sz="820" dirty="0">
                <a:solidFill>
                  <a:srgbClr val="333333"/>
                </a:solidFill>
                <a:latin typeface="Calibri" pitchFamily="34" charset="0"/>
                <a:ea typeface="Calibri" pitchFamily="34" charset="-122"/>
                <a:cs typeface="Calibri" pitchFamily="34" charset="-120"/>
              </a:rPr>
              <a:t>Web agents fetch citations, read monographs and product pages, and draft knowledge-base rows with sources attached. Human-reviewed. This is how the dataset scales.</a:t>
            </a:r>
            <a:endParaRPr lang="en-US" sz="820" dirty="0"/>
          </a:p>
        </p:txBody>
      </p:sp>
      <p:sp>
        <p:nvSpPr>
          <p:cNvPr id="32" name="Shape 30"/>
          <p:cNvSpPr/>
          <p:nvPr/>
        </p:nvSpPr>
        <p:spPr>
          <a:xfrm>
            <a:off x="274320" y="3977640"/>
            <a:ext cx="8595360" cy="658368"/>
          </a:xfrm>
          <a:prstGeom prst="roundRect">
            <a:avLst>
              <a:gd name="adj" fmla="val 6944"/>
            </a:avLst>
          </a:prstGeom>
          <a:solidFill>
            <a:srgbClr val="FFFFFF"/>
          </a:solidFill>
          <a:ln w="9525">
            <a:solidFill>
              <a:srgbClr val="C9D0DD"/>
            </a:solidFill>
            <a:prstDash val="solid"/>
          </a:ln>
        </p:spPr>
      </p:sp>
      <p:sp>
        <p:nvSpPr>
          <p:cNvPr id="33" name="Shape 31"/>
          <p:cNvSpPr/>
          <p:nvPr/>
        </p:nvSpPr>
        <p:spPr>
          <a:xfrm>
            <a:off x="365760" y="4069080"/>
            <a:ext cx="1143000" cy="457200"/>
          </a:xfrm>
          <a:prstGeom prst="roundRect">
            <a:avLst>
              <a:gd name="adj" fmla="val 10000"/>
            </a:avLst>
          </a:prstGeom>
          <a:solidFill>
            <a:srgbClr val="14213D"/>
          </a:solidFill>
          <a:ln w="9525">
            <a:solidFill>
              <a:srgbClr val="14213D"/>
            </a:solidFill>
            <a:prstDash val="solid"/>
          </a:ln>
        </p:spPr>
      </p:sp>
      <p:sp>
        <p:nvSpPr>
          <p:cNvPr id="34" name="Text 32"/>
          <p:cNvSpPr txBox="1"/>
          <p:nvPr/>
        </p:nvSpPr>
        <p:spPr>
          <a:xfrm>
            <a:off x="365760" y="4069080"/>
            <a:ext cx="11430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Rules</a:t>
            </a:r>
            <a:endParaRPr lang="en-US" sz="900" dirty="0"/>
          </a:p>
        </p:txBody>
      </p:sp>
      <p:sp>
        <p:nvSpPr>
          <p:cNvPr id="35" name="Text 33"/>
          <p:cNvSpPr txBox="1"/>
          <p:nvPr/>
        </p:nvSpPr>
        <p:spPr>
          <a:xfrm>
            <a:off x="1645920" y="4032504"/>
            <a:ext cx="1828800" cy="54864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Verdict engine</a:t>
            </a:r>
            <a:endParaRPr lang="en-US" sz="1000" dirty="0"/>
          </a:p>
        </p:txBody>
      </p:sp>
      <p:sp>
        <p:nvSpPr>
          <p:cNvPr id="36" name="Text 34"/>
          <p:cNvSpPr txBox="1"/>
          <p:nvPr/>
        </p:nvSpPr>
        <p:spPr>
          <a:xfrm>
            <a:off x="3520440" y="4032504"/>
            <a:ext cx="5257800" cy="566928"/>
          </a:xfrm>
          <a:prstGeom prst="rect">
            <a:avLst/>
          </a:prstGeom>
          <a:noFill/>
          <a:ln/>
        </p:spPr>
        <p:txBody>
          <a:bodyPr wrap="square" lIns="0" tIns="0" rIns="0" bIns="0" rtlCol="0" anchor="ctr"/>
          <a:lstStyle/>
          <a:p>
            <a:pPr indent="0" marL="0">
              <a:buNone/>
            </a:pPr>
            <a:r>
              <a:rPr lang="en-US" sz="820" dirty="0">
                <a:solidFill>
                  <a:srgbClr val="333333"/>
                </a:solidFill>
                <a:latin typeface="Calibri" pitchFamily="34" charset="0"/>
                <a:ea typeface="Calibri" pitchFamily="34" charset="-122"/>
                <a:cs typeface="Calibri" pitchFamily="34" charset="-120"/>
              </a:rPr>
              <a:t>Deterministic rules R1â€“R5 over cited rows: severity + evidence grade + drug class â†’ GREEN / AMBER / RED / NOT IN DB. Reproducible, auditable, works with every model switched off.</a:t>
            </a:r>
            <a:endParaRPr lang="en-US" sz="820" dirty="0"/>
          </a:p>
        </p:txBody>
      </p:sp>
      <p:sp>
        <p:nvSpPr>
          <p:cNvPr id="37" name="Text 35"/>
          <p:cNvSpPr txBox="1"/>
          <p:nvPr/>
        </p:nvSpPr>
        <p:spPr>
          <a:xfrm>
            <a:off x="274320" y="4727448"/>
            <a:ext cx="8595360" cy="201168"/>
          </a:xfrm>
          <a:prstGeom prst="rect">
            <a:avLst/>
          </a:prstGeom>
          <a:noFill/>
          <a:ln/>
        </p:spPr>
        <p:txBody>
          <a:bodyPr wrap="square" lIns="0" tIns="0" rIns="0" bIns="0" rtlCol="0" anchor="t"/>
          <a:lstStyle/>
          <a:p>
            <a:pPr indent="0" marL="0">
              <a:buNone/>
            </a:pPr>
            <a:r>
              <a:rPr lang="en-US" sz="690" i="1" dirty="0">
                <a:solidFill>
                  <a:srgbClr val="5D6166"/>
                </a:solidFill>
                <a:latin typeface="Calibri" pitchFamily="34" charset="0"/>
                <a:ea typeface="Calibri" pitchFamily="34" charset="-122"/>
                <a:cs typeface="Calibri" pitchFamily="34" charset="-120"/>
              </a:rPr>
              <a:t>Why no trained classifier for the verdict: no labelled dataset exists (â‰ˆ1,473 national reports in 7 years), a classifier cannot explain itself to a doctor or regulator, and medical decision support must be reproducible. Future ML once data exists: OCR fine-tuning on Indian labels, a named-entity model for prescriptions, and a model that ranks under-reported pairs for curation priority.</a:t>
            </a:r>
            <a:endParaRPr lang="en-US" sz="6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4213D"/>
          </a:solidFill>
          <a:ln w="12700">
            <a:solidFill>
              <a:srgbClr val="14213D"/>
            </a:solidFill>
            <a:prstDash val="solid"/>
          </a:ln>
        </p:spPr>
      </p:sp>
      <p:sp>
        <p:nvSpPr>
          <p:cNvPr id="3" name="Shape 1"/>
          <p:cNvSpPr/>
          <p:nvPr/>
        </p:nvSpPr>
        <p:spPr>
          <a:xfrm>
            <a:off x="0" y="566928"/>
            <a:ext cx="9144000" cy="36576"/>
          </a:xfrm>
          <a:prstGeom prst="rect">
            <a:avLst/>
          </a:prstGeom>
          <a:solidFill>
            <a:srgbClr val="F4A300"/>
          </a:solidFill>
          <a:ln w="12700">
            <a:solidFill>
              <a:srgbClr val="F4A300"/>
            </a:solidFill>
            <a:prstDash val="solid"/>
          </a:ln>
        </p:spPr>
      </p:sp>
      <p:sp>
        <p:nvSpPr>
          <p:cNvPr id="4" name="Shape 2"/>
          <p:cNvSpPr/>
          <p:nvPr/>
        </p:nvSpPr>
        <p:spPr>
          <a:xfrm>
            <a:off x="228600" y="128016"/>
            <a:ext cx="1234440" cy="310896"/>
          </a:xfrm>
          <a:prstGeom prst="roundRect">
            <a:avLst>
              <a:gd name="adj" fmla="val 50000"/>
            </a:avLst>
          </a:prstGeom>
          <a:solidFill>
            <a:srgbClr val="F4A300"/>
          </a:solidFill>
          <a:ln w="9525">
            <a:solidFill>
              <a:srgbClr val="F4A300"/>
            </a:solidFill>
            <a:prstDash val="solid"/>
          </a:ln>
        </p:spPr>
      </p:sp>
      <p:sp>
        <p:nvSpPr>
          <p:cNvPr id="5" name="Text 3"/>
          <p:cNvSpPr txBox="1"/>
          <p:nvPr/>
        </p:nvSpPr>
        <p:spPr>
          <a:xfrm>
            <a:off x="228600" y="128016"/>
            <a:ext cx="1234440" cy="310896"/>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Bug Hunters</a:t>
            </a:r>
            <a:endParaRPr lang="en-US" sz="1050" dirty="0"/>
          </a:p>
        </p:txBody>
      </p:sp>
      <p:sp>
        <p:nvSpPr>
          <p:cNvPr id="6" name="Text 4"/>
          <p:cNvSpPr txBox="1"/>
          <p:nvPr/>
        </p:nvSpPr>
        <p:spPr>
          <a:xfrm>
            <a:off x="1600200" y="64008"/>
            <a:ext cx="557784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5 Â· PROPOSED TECHNICAL APPROACH</a:t>
            </a:r>
            <a:endParaRPr lang="en-US" sz="1800" dirty="0"/>
          </a:p>
        </p:txBody>
      </p:sp>
      <p:sp>
        <p:nvSpPr>
          <p:cNvPr id="7" name="Text 5"/>
          <p:cNvSpPr txBox="1"/>
          <p:nvPr/>
        </p:nvSpPr>
        <p:spPr>
          <a:xfrm>
            <a:off x="7223760" y="91440"/>
            <a:ext cx="1691640" cy="402336"/>
          </a:xfrm>
          <a:prstGeom prst="rect">
            <a:avLst/>
          </a:prstGeom>
          <a:noFill/>
          <a:ln/>
        </p:spPr>
        <p:txBody>
          <a:bodyPr wrap="square" lIns="0" tIns="0" rIns="0" bIns="0" rtlCol="0" anchor="ctr"/>
          <a:lstStyle/>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KRITICAL HACKS 2026</a:t>
            </a:r>
            <a:endParaRPr lang="en-US" sz="850" dirty="0"/>
          </a:p>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IGDTUW Â· AI/ML Track</a:t>
            </a:r>
            <a:endParaRPr lang="en-US" sz="850" dirty="0"/>
          </a:p>
        </p:txBody>
      </p:sp>
      <p:sp>
        <p:nvSpPr>
          <p:cNvPr id="8" name="Shape 6"/>
          <p:cNvSpPr/>
          <p:nvPr/>
        </p:nvSpPr>
        <p:spPr>
          <a:xfrm>
            <a:off x="0" y="4937760"/>
            <a:ext cx="9144000" cy="205740"/>
          </a:xfrm>
          <a:prstGeom prst="rect">
            <a:avLst/>
          </a:prstGeom>
          <a:solidFill>
            <a:srgbClr val="14213D"/>
          </a:solidFill>
          <a:ln w="12700">
            <a:solidFill>
              <a:srgbClr val="14213D"/>
            </a:solidFill>
            <a:prstDash val="solid"/>
          </a:ln>
        </p:spPr>
      </p:sp>
      <p:sp>
        <p:nvSpPr>
          <p:cNvPr id="9" name="Text 7"/>
          <p:cNvSpPr txBox="1"/>
          <p:nvPr/>
        </p:nvSpPr>
        <p:spPr>
          <a:xfrm>
            <a:off x="228600" y="4937760"/>
            <a:ext cx="6400800" cy="205740"/>
          </a:xfrm>
          <a:prstGeom prst="rect">
            <a:avLst/>
          </a:prstGeom>
          <a:noFill/>
          <a:ln/>
        </p:spPr>
        <p:txBody>
          <a:bodyPr wrap="square" lIns="0" tIns="0" rIns="0" bIns="0" rtlCol="0" anchor="ctr"/>
          <a:lstStyle/>
          <a:p>
            <a:pPr indent="0" marL="0">
              <a:buNone/>
            </a:pPr>
            <a:r>
              <a:rPr lang="en-US" sz="700" dirty="0">
                <a:solidFill>
                  <a:srgbClr val="C9D1E0"/>
                </a:solidFill>
                <a:latin typeface="Calibri" pitchFamily="34" charset="0"/>
                <a:ea typeface="Calibri" pitchFamily="34" charset="-122"/>
                <a:cs typeface="Calibri" pitchFamily="34" charset="-120"/>
              </a:rPr>
              <a:t>TakeSure Â· Confidence before taking something Â· Team Bug Hunters Â· Kritical Hacks 2026</a:t>
            </a:r>
            <a:endParaRPr lang="en-US" sz="700" dirty="0"/>
          </a:p>
        </p:txBody>
      </p:sp>
      <p:sp>
        <p:nvSpPr>
          <p:cNvPr id="10" name="Text 8"/>
          <p:cNvSpPr txBox="1"/>
          <p:nvPr/>
        </p:nvSpPr>
        <p:spPr>
          <a:xfrm>
            <a:off x="5943600" y="4937760"/>
            <a:ext cx="2971800" cy="205740"/>
          </a:xfrm>
          <a:prstGeom prst="rect">
            <a:avLst/>
          </a:prstGeom>
          <a:noFill/>
          <a:ln/>
        </p:spPr>
        <p:txBody>
          <a:bodyPr wrap="square" lIns="0" tIns="0" rIns="0" bIns="0" rtlCol="0" anchor="ctr"/>
          <a:lstStyle/>
          <a:p>
            <a:pPr algn="r" indent="0" marL="0">
              <a:buNone/>
            </a:pPr>
            <a:r>
              <a:rPr lang="en-US" sz="700" dirty="0">
                <a:solidFill>
                  <a:srgbClr val="C9D1E0"/>
                </a:solidFill>
                <a:latin typeface="Calibri" pitchFamily="34" charset="0"/>
                <a:ea typeface="Calibri" pitchFamily="34" charset="-122"/>
                <a:cs typeface="Calibri" pitchFamily="34" charset="-120"/>
              </a:rPr>
              <a:t>Decision support Â· not diagnosis   6</a:t>
            </a:r>
            <a:endParaRPr lang="en-US" sz="700" dirty="0"/>
          </a:p>
        </p:txBody>
      </p:sp>
      <p:sp>
        <p:nvSpPr>
          <p:cNvPr id="11" name="Shape 9"/>
          <p:cNvSpPr/>
          <p:nvPr/>
        </p:nvSpPr>
        <p:spPr>
          <a:xfrm>
            <a:off x="228600" y="731520"/>
            <a:ext cx="2926080" cy="4096512"/>
          </a:xfrm>
          <a:prstGeom prst="roundRect">
            <a:avLst>
              <a:gd name="adj" fmla="val 1563"/>
            </a:avLst>
          </a:prstGeom>
          <a:solidFill>
            <a:srgbClr val="FFFFFF"/>
          </a:solidFill>
          <a:ln w="9525">
            <a:solidFill>
              <a:srgbClr val="C9D0DD"/>
            </a:solidFill>
            <a:prstDash val="solid"/>
          </a:ln>
        </p:spPr>
      </p:sp>
      <p:sp>
        <p:nvSpPr>
          <p:cNvPr id="12" name="Shape 10"/>
          <p:cNvSpPr/>
          <p:nvPr/>
        </p:nvSpPr>
        <p:spPr>
          <a:xfrm>
            <a:off x="228600" y="731520"/>
            <a:ext cx="2926080" cy="237744"/>
          </a:xfrm>
          <a:prstGeom prst="rect">
            <a:avLst/>
          </a:prstGeom>
          <a:solidFill>
            <a:srgbClr val="14213D"/>
          </a:solidFill>
          <a:ln w="12700">
            <a:solidFill>
              <a:srgbClr val="14213D"/>
            </a:solidFill>
            <a:prstDash val="solid"/>
          </a:ln>
        </p:spPr>
      </p:sp>
      <p:sp>
        <p:nvSpPr>
          <p:cNvPr id="13" name="Text 11"/>
          <p:cNvSpPr txBox="1"/>
          <p:nvPr/>
        </p:nvSpPr>
        <p:spPr>
          <a:xfrm>
            <a:off x="320040" y="731520"/>
            <a:ext cx="274320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TECH STACK</a:t>
            </a:r>
            <a:endParaRPr lang="en-US" sz="850" dirty="0"/>
          </a:p>
        </p:txBody>
      </p:sp>
      <p:sp>
        <p:nvSpPr>
          <p:cNvPr id="14" name="Shape 12"/>
          <p:cNvSpPr/>
          <p:nvPr/>
        </p:nvSpPr>
        <p:spPr>
          <a:xfrm>
            <a:off x="320040" y="1033272"/>
            <a:ext cx="2743200" cy="493776"/>
          </a:xfrm>
          <a:prstGeom prst="roundRect">
            <a:avLst>
              <a:gd name="adj" fmla="val 9259"/>
            </a:avLst>
          </a:prstGeom>
          <a:solidFill>
            <a:srgbClr val="F4F6FA"/>
          </a:solidFill>
          <a:ln w="9525">
            <a:solidFill>
              <a:srgbClr val="C9D0DD"/>
            </a:solidFill>
            <a:prstDash val="solid"/>
          </a:ln>
        </p:spPr>
      </p:sp>
      <p:sp>
        <p:nvSpPr>
          <p:cNvPr id="15" name="Shape 13"/>
          <p:cNvSpPr/>
          <p:nvPr/>
        </p:nvSpPr>
        <p:spPr>
          <a:xfrm>
            <a:off x="384048" y="1143000"/>
            <a:ext cx="329184" cy="274320"/>
          </a:xfrm>
          <a:prstGeom prst="roundRect">
            <a:avLst>
              <a:gd name="adj" fmla="val 16667"/>
            </a:avLst>
          </a:prstGeom>
          <a:solidFill>
            <a:srgbClr val="14213D"/>
          </a:solidFill>
          <a:ln w="9525">
            <a:solidFill>
              <a:srgbClr val="14213D"/>
            </a:solidFill>
            <a:prstDash val="solid"/>
          </a:ln>
        </p:spPr>
      </p:sp>
      <p:sp>
        <p:nvSpPr>
          <p:cNvPr id="16" name="Text 14"/>
          <p:cNvSpPr txBox="1"/>
          <p:nvPr/>
        </p:nvSpPr>
        <p:spPr>
          <a:xfrm>
            <a:off x="384048" y="1143000"/>
            <a:ext cx="329184" cy="274320"/>
          </a:xfrm>
          <a:prstGeom prst="rect">
            <a:avLst/>
          </a:prstGeom>
          <a:noFill/>
          <a:ln/>
        </p:spPr>
        <p:txBody>
          <a:bodyPr wrap="square" lIns="0" tIns="0" rIns="0" bIns="0" rtlCol="0" anchor="ctr"/>
          <a:lstStyle/>
          <a:p>
            <a:pPr algn="ctr" indent="0" marL="0">
              <a:buNone/>
            </a:pPr>
            <a:r>
              <a:rPr lang="en-US" sz="700" b="1" dirty="0">
                <a:solidFill>
                  <a:srgbClr val="F4A300"/>
                </a:solidFill>
                <a:latin typeface="Calibri" pitchFamily="34" charset="0"/>
                <a:ea typeface="Calibri" pitchFamily="34" charset="-122"/>
                <a:cs typeface="Calibri" pitchFamily="34" charset="-120"/>
              </a:rPr>
              <a:t>FE</a:t>
            </a:r>
            <a:endParaRPr lang="en-US" sz="700" dirty="0"/>
          </a:p>
        </p:txBody>
      </p:sp>
      <p:sp>
        <p:nvSpPr>
          <p:cNvPr id="17" name="Text 15"/>
          <p:cNvSpPr txBox="1"/>
          <p:nvPr/>
        </p:nvSpPr>
        <p:spPr>
          <a:xfrm>
            <a:off x="786384" y="1060704"/>
            <a:ext cx="2194560" cy="164592"/>
          </a:xfrm>
          <a:prstGeom prst="rect">
            <a:avLst/>
          </a:prstGeom>
          <a:noFill/>
          <a:ln/>
        </p:spPr>
        <p:txBody>
          <a:bodyPr wrap="square" lIns="0" tIns="0" rIns="0" bIns="0" rtlCol="0" anchor="t"/>
          <a:lstStyle/>
          <a:p>
            <a:pPr indent="0" marL="0">
              <a:buNone/>
            </a:pPr>
            <a:r>
              <a:rPr lang="en-US" sz="800" b="1" dirty="0">
                <a:solidFill>
                  <a:srgbClr val="14213D"/>
                </a:solidFill>
                <a:latin typeface="Calibri" pitchFamily="34" charset="0"/>
                <a:ea typeface="Calibri" pitchFamily="34" charset="-122"/>
                <a:cs typeface="Calibri" pitchFamily="34" charset="-120"/>
              </a:rPr>
              <a:t>Frontend</a:t>
            </a:r>
            <a:endParaRPr lang="en-US" sz="800" dirty="0"/>
          </a:p>
        </p:txBody>
      </p:sp>
      <p:sp>
        <p:nvSpPr>
          <p:cNvPr id="18" name="Text 16"/>
          <p:cNvSpPr txBox="1"/>
          <p:nvPr/>
        </p:nvSpPr>
        <p:spPr>
          <a:xfrm>
            <a:off x="786384" y="1216152"/>
            <a:ext cx="2231136" cy="310896"/>
          </a:xfrm>
          <a:prstGeom prst="rect">
            <a:avLst/>
          </a:prstGeom>
          <a:noFill/>
          <a:ln/>
        </p:spPr>
        <p:txBody>
          <a:bodyPr wrap="square" lIns="0" tIns="0" rIns="0" bIns="0" rtlCol="0" anchor="t"/>
          <a:lstStyle/>
          <a:p>
            <a:pPr indent="0" marL="0">
              <a:buNone/>
            </a:pPr>
            <a:r>
              <a:rPr lang="en-US" sz="640" dirty="0">
                <a:solidFill>
                  <a:srgbClr val="333333"/>
                </a:solidFill>
                <a:latin typeface="Calibri" pitchFamily="34" charset="0"/>
                <a:ea typeface="Calibri" pitchFamily="34" charset="-122"/>
                <a:cs typeface="Calibri" pitchFamily="34" charset="-120"/>
              </a:rPr>
              <a:t>Next.js 16 (React 19) + TypeScript, Tailwind 4, Framer Motion Â· PWA Â· Hindi/English UI</a:t>
            </a:r>
            <a:endParaRPr lang="en-US" sz="640" dirty="0"/>
          </a:p>
        </p:txBody>
      </p:sp>
      <p:sp>
        <p:nvSpPr>
          <p:cNvPr id="19" name="Shape 17"/>
          <p:cNvSpPr/>
          <p:nvPr/>
        </p:nvSpPr>
        <p:spPr>
          <a:xfrm>
            <a:off x="320040" y="1568196"/>
            <a:ext cx="2743200" cy="493776"/>
          </a:xfrm>
          <a:prstGeom prst="roundRect">
            <a:avLst>
              <a:gd name="adj" fmla="val 9259"/>
            </a:avLst>
          </a:prstGeom>
          <a:solidFill>
            <a:srgbClr val="F4F6FA"/>
          </a:solidFill>
          <a:ln w="9525">
            <a:solidFill>
              <a:srgbClr val="C9D0DD"/>
            </a:solidFill>
            <a:prstDash val="solid"/>
          </a:ln>
        </p:spPr>
      </p:sp>
      <p:sp>
        <p:nvSpPr>
          <p:cNvPr id="20" name="Shape 18"/>
          <p:cNvSpPr/>
          <p:nvPr/>
        </p:nvSpPr>
        <p:spPr>
          <a:xfrm>
            <a:off x="384048" y="1677924"/>
            <a:ext cx="329184" cy="274320"/>
          </a:xfrm>
          <a:prstGeom prst="roundRect">
            <a:avLst>
              <a:gd name="adj" fmla="val 16667"/>
            </a:avLst>
          </a:prstGeom>
          <a:solidFill>
            <a:srgbClr val="14213D"/>
          </a:solidFill>
          <a:ln w="9525">
            <a:solidFill>
              <a:srgbClr val="14213D"/>
            </a:solidFill>
            <a:prstDash val="solid"/>
          </a:ln>
        </p:spPr>
      </p:sp>
      <p:sp>
        <p:nvSpPr>
          <p:cNvPr id="21" name="Text 19"/>
          <p:cNvSpPr txBox="1"/>
          <p:nvPr/>
        </p:nvSpPr>
        <p:spPr>
          <a:xfrm>
            <a:off x="384048" y="1677924"/>
            <a:ext cx="329184" cy="274320"/>
          </a:xfrm>
          <a:prstGeom prst="rect">
            <a:avLst/>
          </a:prstGeom>
          <a:noFill/>
          <a:ln/>
        </p:spPr>
        <p:txBody>
          <a:bodyPr wrap="square" lIns="0" tIns="0" rIns="0" bIns="0" rtlCol="0" anchor="ctr"/>
          <a:lstStyle/>
          <a:p>
            <a:pPr algn="ctr" indent="0" marL="0">
              <a:buNone/>
            </a:pPr>
            <a:r>
              <a:rPr lang="en-US" sz="700" b="1" dirty="0">
                <a:solidFill>
                  <a:srgbClr val="F4A300"/>
                </a:solidFill>
                <a:latin typeface="Calibri" pitchFamily="34" charset="0"/>
                <a:ea typeface="Calibri" pitchFamily="34" charset="-122"/>
                <a:cs typeface="Calibri" pitchFamily="34" charset="-120"/>
              </a:rPr>
              <a:t>BE</a:t>
            </a:r>
            <a:endParaRPr lang="en-US" sz="700" dirty="0"/>
          </a:p>
        </p:txBody>
      </p:sp>
      <p:sp>
        <p:nvSpPr>
          <p:cNvPr id="22" name="Text 20"/>
          <p:cNvSpPr txBox="1"/>
          <p:nvPr/>
        </p:nvSpPr>
        <p:spPr>
          <a:xfrm>
            <a:off x="786384" y="1595628"/>
            <a:ext cx="2194560" cy="164592"/>
          </a:xfrm>
          <a:prstGeom prst="rect">
            <a:avLst/>
          </a:prstGeom>
          <a:noFill/>
          <a:ln/>
        </p:spPr>
        <p:txBody>
          <a:bodyPr wrap="square" lIns="0" tIns="0" rIns="0" bIns="0" rtlCol="0" anchor="t"/>
          <a:lstStyle/>
          <a:p>
            <a:pPr indent="0" marL="0">
              <a:buNone/>
            </a:pPr>
            <a:r>
              <a:rPr lang="en-US" sz="800" b="1" dirty="0">
                <a:solidFill>
                  <a:srgbClr val="14213D"/>
                </a:solidFill>
                <a:latin typeface="Calibri" pitchFamily="34" charset="0"/>
                <a:ea typeface="Calibri" pitchFamily="34" charset="-122"/>
                <a:cs typeface="Calibri" pitchFamily="34" charset="-120"/>
              </a:rPr>
              <a:t>Backend</a:t>
            </a:r>
            <a:endParaRPr lang="en-US" sz="800" dirty="0"/>
          </a:p>
        </p:txBody>
      </p:sp>
      <p:sp>
        <p:nvSpPr>
          <p:cNvPr id="23" name="Text 21"/>
          <p:cNvSpPr txBox="1"/>
          <p:nvPr/>
        </p:nvSpPr>
        <p:spPr>
          <a:xfrm>
            <a:off x="786384" y="1751076"/>
            <a:ext cx="2231136" cy="310896"/>
          </a:xfrm>
          <a:prstGeom prst="rect">
            <a:avLst/>
          </a:prstGeom>
          <a:noFill/>
          <a:ln/>
        </p:spPr>
        <p:txBody>
          <a:bodyPr wrap="square" lIns="0" tIns="0" rIns="0" bIns="0" rtlCol="0" anchor="t"/>
          <a:lstStyle/>
          <a:p>
            <a:pPr indent="0" marL="0">
              <a:buNone/>
            </a:pPr>
            <a:r>
              <a:rPr lang="en-US" sz="640" dirty="0">
                <a:solidFill>
                  <a:srgbClr val="333333"/>
                </a:solidFill>
                <a:latin typeface="Calibri" pitchFamily="34" charset="0"/>
                <a:ea typeface="Calibri" pitchFamily="34" charset="-122"/>
                <a:cs typeface="Calibri" pitchFamily="34" charset="-120"/>
              </a:rPr>
              <a:t>FastAPI (Python), Pydantic v2, SQLAlchemy Â· 25 REST routes with typed errors Â· 58 tests</a:t>
            </a:r>
            <a:endParaRPr lang="en-US" sz="640" dirty="0"/>
          </a:p>
        </p:txBody>
      </p:sp>
      <p:sp>
        <p:nvSpPr>
          <p:cNvPr id="24" name="Shape 22"/>
          <p:cNvSpPr/>
          <p:nvPr/>
        </p:nvSpPr>
        <p:spPr>
          <a:xfrm>
            <a:off x="320040" y="2103120"/>
            <a:ext cx="2743200" cy="493776"/>
          </a:xfrm>
          <a:prstGeom prst="roundRect">
            <a:avLst>
              <a:gd name="adj" fmla="val 9259"/>
            </a:avLst>
          </a:prstGeom>
          <a:solidFill>
            <a:srgbClr val="F4F6FA"/>
          </a:solidFill>
          <a:ln w="9525">
            <a:solidFill>
              <a:srgbClr val="C9D0DD"/>
            </a:solidFill>
            <a:prstDash val="solid"/>
          </a:ln>
        </p:spPr>
      </p:sp>
      <p:sp>
        <p:nvSpPr>
          <p:cNvPr id="25" name="Shape 23"/>
          <p:cNvSpPr/>
          <p:nvPr/>
        </p:nvSpPr>
        <p:spPr>
          <a:xfrm>
            <a:off x="384048" y="2212848"/>
            <a:ext cx="329184" cy="274320"/>
          </a:xfrm>
          <a:prstGeom prst="roundRect">
            <a:avLst>
              <a:gd name="adj" fmla="val 16667"/>
            </a:avLst>
          </a:prstGeom>
          <a:solidFill>
            <a:srgbClr val="14213D"/>
          </a:solidFill>
          <a:ln w="9525">
            <a:solidFill>
              <a:srgbClr val="14213D"/>
            </a:solidFill>
            <a:prstDash val="solid"/>
          </a:ln>
        </p:spPr>
      </p:sp>
      <p:sp>
        <p:nvSpPr>
          <p:cNvPr id="26" name="Text 24"/>
          <p:cNvSpPr txBox="1"/>
          <p:nvPr/>
        </p:nvSpPr>
        <p:spPr>
          <a:xfrm>
            <a:off x="384048" y="2212848"/>
            <a:ext cx="329184" cy="274320"/>
          </a:xfrm>
          <a:prstGeom prst="rect">
            <a:avLst/>
          </a:prstGeom>
          <a:noFill/>
          <a:ln/>
        </p:spPr>
        <p:txBody>
          <a:bodyPr wrap="square" lIns="0" tIns="0" rIns="0" bIns="0" rtlCol="0" anchor="ctr"/>
          <a:lstStyle/>
          <a:p>
            <a:pPr algn="ctr" indent="0" marL="0">
              <a:buNone/>
            </a:pPr>
            <a:r>
              <a:rPr lang="en-US" sz="700" b="1" dirty="0">
                <a:solidFill>
                  <a:srgbClr val="F4A300"/>
                </a:solidFill>
                <a:latin typeface="Calibri" pitchFamily="34" charset="0"/>
                <a:ea typeface="Calibri" pitchFamily="34" charset="-122"/>
                <a:cs typeface="Calibri" pitchFamily="34" charset="-120"/>
              </a:rPr>
              <a:t>DB</a:t>
            </a:r>
            <a:endParaRPr lang="en-US" sz="700" dirty="0"/>
          </a:p>
        </p:txBody>
      </p:sp>
      <p:sp>
        <p:nvSpPr>
          <p:cNvPr id="27" name="Text 25"/>
          <p:cNvSpPr txBox="1"/>
          <p:nvPr/>
        </p:nvSpPr>
        <p:spPr>
          <a:xfrm>
            <a:off x="786384" y="2130552"/>
            <a:ext cx="2194560" cy="164592"/>
          </a:xfrm>
          <a:prstGeom prst="rect">
            <a:avLst/>
          </a:prstGeom>
          <a:noFill/>
          <a:ln/>
        </p:spPr>
        <p:txBody>
          <a:bodyPr wrap="square" lIns="0" tIns="0" rIns="0" bIns="0" rtlCol="0" anchor="t"/>
          <a:lstStyle/>
          <a:p>
            <a:pPr indent="0" marL="0">
              <a:buNone/>
            </a:pPr>
            <a:r>
              <a:rPr lang="en-US" sz="800" b="1" dirty="0">
                <a:solidFill>
                  <a:srgbClr val="14213D"/>
                </a:solidFill>
                <a:latin typeface="Calibri" pitchFamily="34" charset="0"/>
                <a:ea typeface="Calibri" pitchFamily="34" charset="-122"/>
                <a:cs typeface="Calibri" pitchFamily="34" charset="-120"/>
              </a:rPr>
              <a:t>Database</a:t>
            </a:r>
            <a:endParaRPr lang="en-US" sz="800" dirty="0"/>
          </a:p>
        </p:txBody>
      </p:sp>
      <p:sp>
        <p:nvSpPr>
          <p:cNvPr id="28" name="Text 26"/>
          <p:cNvSpPr txBox="1"/>
          <p:nvPr/>
        </p:nvSpPr>
        <p:spPr>
          <a:xfrm>
            <a:off x="786384" y="2286000"/>
            <a:ext cx="2231136" cy="310896"/>
          </a:xfrm>
          <a:prstGeom prst="rect">
            <a:avLst/>
          </a:prstGeom>
          <a:noFill/>
          <a:ln/>
        </p:spPr>
        <p:txBody>
          <a:bodyPr wrap="square" lIns="0" tIns="0" rIns="0" bIns="0" rtlCol="0" anchor="t"/>
          <a:lstStyle/>
          <a:p>
            <a:pPr indent="0" marL="0">
              <a:buNone/>
            </a:pPr>
            <a:r>
              <a:rPr lang="en-US" sz="640" dirty="0">
                <a:solidFill>
                  <a:srgbClr val="333333"/>
                </a:solidFill>
                <a:latin typeface="Calibri" pitchFamily="34" charset="0"/>
                <a:ea typeface="Calibri" pitchFamily="34" charset="-122"/>
                <a:cs typeface="Calibri" pitchFamily="34" charset="-120"/>
              </a:rPr>
              <a:t>SQLite offline/demo Â· PostgreSQL (Supabase) in production Â· 12 tables incl. curation_drafts</a:t>
            </a:r>
            <a:endParaRPr lang="en-US" sz="640" dirty="0"/>
          </a:p>
        </p:txBody>
      </p:sp>
      <p:sp>
        <p:nvSpPr>
          <p:cNvPr id="29" name="Shape 27"/>
          <p:cNvSpPr/>
          <p:nvPr/>
        </p:nvSpPr>
        <p:spPr>
          <a:xfrm>
            <a:off x="320040" y="2638044"/>
            <a:ext cx="2743200" cy="493776"/>
          </a:xfrm>
          <a:prstGeom prst="roundRect">
            <a:avLst>
              <a:gd name="adj" fmla="val 9259"/>
            </a:avLst>
          </a:prstGeom>
          <a:solidFill>
            <a:srgbClr val="F4F6FA"/>
          </a:solidFill>
          <a:ln w="9525">
            <a:solidFill>
              <a:srgbClr val="C9D0DD"/>
            </a:solidFill>
            <a:prstDash val="solid"/>
          </a:ln>
        </p:spPr>
      </p:sp>
      <p:sp>
        <p:nvSpPr>
          <p:cNvPr id="30" name="Shape 28"/>
          <p:cNvSpPr/>
          <p:nvPr/>
        </p:nvSpPr>
        <p:spPr>
          <a:xfrm>
            <a:off x="384048" y="2747772"/>
            <a:ext cx="329184" cy="274320"/>
          </a:xfrm>
          <a:prstGeom prst="roundRect">
            <a:avLst>
              <a:gd name="adj" fmla="val 16667"/>
            </a:avLst>
          </a:prstGeom>
          <a:solidFill>
            <a:srgbClr val="14213D"/>
          </a:solidFill>
          <a:ln w="9525">
            <a:solidFill>
              <a:srgbClr val="14213D"/>
            </a:solidFill>
            <a:prstDash val="solid"/>
          </a:ln>
        </p:spPr>
      </p:sp>
      <p:sp>
        <p:nvSpPr>
          <p:cNvPr id="31" name="Text 29"/>
          <p:cNvSpPr txBox="1"/>
          <p:nvPr/>
        </p:nvSpPr>
        <p:spPr>
          <a:xfrm>
            <a:off x="384048" y="2747772"/>
            <a:ext cx="329184" cy="274320"/>
          </a:xfrm>
          <a:prstGeom prst="rect">
            <a:avLst/>
          </a:prstGeom>
          <a:noFill/>
          <a:ln/>
        </p:spPr>
        <p:txBody>
          <a:bodyPr wrap="square" lIns="0" tIns="0" rIns="0" bIns="0" rtlCol="0" anchor="ctr"/>
          <a:lstStyle/>
          <a:p>
            <a:pPr algn="ctr" indent="0" marL="0">
              <a:buNone/>
            </a:pPr>
            <a:r>
              <a:rPr lang="en-US" sz="700" b="1" dirty="0">
                <a:solidFill>
                  <a:srgbClr val="F4A300"/>
                </a:solidFill>
                <a:latin typeface="Calibri" pitchFamily="34" charset="0"/>
                <a:ea typeface="Calibri" pitchFamily="34" charset="-122"/>
                <a:cs typeface="Calibri" pitchFamily="34" charset="-120"/>
              </a:rPr>
              <a:t>OCR</a:t>
            </a:r>
            <a:endParaRPr lang="en-US" sz="700" dirty="0"/>
          </a:p>
        </p:txBody>
      </p:sp>
      <p:sp>
        <p:nvSpPr>
          <p:cNvPr id="32" name="Text 30"/>
          <p:cNvSpPr txBox="1"/>
          <p:nvPr/>
        </p:nvSpPr>
        <p:spPr>
          <a:xfrm>
            <a:off x="786384" y="2665476"/>
            <a:ext cx="2194560" cy="164592"/>
          </a:xfrm>
          <a:prstGeom prst="rect">
            <a:avLst/>
          </a:prstGeom>
          <a:noFill/>
          <a:ln/>
        </p:spPr>
        <p:txBody>
          <a:bodyPr wrap="square" lIns="0" tIns="0" rIns="0" bIns="0" rtlCol="0" anchor="t"/>
          <a:lstStyle/>
          <a:p>
            <a:pPr indent="0" marL="0">
              <a:buNone/>
            </a:pPr>
            <a:r>
              <a:rPr lang="en-US" sz="800" b="1" dirty="0">
                <a:solidFill>
                  <a:srgbClr val="14213D"/>
                </a:solidFill>
                <a:latin typeface="Calibri" pitchFamily="34" charset="0"/>
                <a:ea typeface="Calibri" pitchFamily="34" charset="-122"/>
                <a:cs typeface="Calibri" pitchFamily="34" charset="-120"/>
              </a:rPr>
              <a:t>OCR</a:t>
            </a:r>
            <a:endParaRPr lang="en-US" sz="800" dirty="0"/>
          </a:p>
        </p:txBody>
      </p:sp>
      <p:sp>
        <p:nvSpPr>
          <p:cNvPr id="33" name="Text 31"/>
          <p:cNvSpPr txBox="1"/>
          <p:nvPr/>
        </p:nvSpPr>
        <p:spPr>
          <a:xfrm>
            <a:off x="786384" y="2820924"/>
            <a:ext cx="2231136" cy="310896"/>
          </a:xfrm>
          <a:prstGeom prst="rect">
            <a:avLst/>
          </a:prstGeom>
          <a:noFill/>
          <a:ln/>
        </p:spPr>
        <p:txBody>
          <a:bodyPr wrap="square" lIns="0" tIns="0" rIns="0" bIns="0" rtlCol="0" anchor="t"/>
          <a:lstStyle/>
          <a:p>
            <a:pPr indent="0" marL="0">
              <a:buNone/>
            </a:pPr>
            <a:r>
              <a:rPr lang="en-US" sz="640" dirty="0">
                <a:solidFill>
                  <a:srgbClr val="333333"/>
                </a:solidFill>
                <a:latin typeface="Calibri" pitchFamily="34" charset="0"/>
                <a:ea typeface="Calibri" pitchFamily="34" charset="-122"/>
                <a:cs typeface="Calibri" pitchFamily="34" charset="-120"/>
              </a:rPr>
              <a:t>Tesseract eng+hin on the server; vision model optional</a:t>
            </a:r>
            <a:endParaRPr lang="en-US" sz="640" dirty="0"/>
          </a:p>
        </p:txBody>
      </p:sp>
      <p:sp>
        <p:nvSpPr>
          <p:cNvPr id="34" name="Shape 32"/>
          <p:cNvSpPr/>
          <p:nvPr/>
        </p:nvSpPr>
        <p:spPr>
          <a:xfrm>
            <a:off x="320040" y="3172968"/>
            <a:ext cx="2743200" cy="493776"/>
          </a:xfrm>
          <a:prstGeom prst="roundRect">
            <a:avLst>
              <a:gd name="adj" fmla="val 9259"/>
            </a:avLst>
          </a:prstGeom>
          <a:solidFill>
            <a:srgbClr val="F4F6FA"/>
          </a:solidFill>
          <a:ln w="9525">
            <a:solidFill>
              <a:srgbClr val="C9D0DD"/>
            </a:solidFill>
            <a:prstDash val="solid"/>
          </a:ln>
        </p:spPr>
      </p:sp>
      <p:sp>
        <p:nvSpPr>
          <p:cNvPr id="35" name="Shape 33"/>
          <p:cNvSpPr/>
          <p:nvPr/>
        </p:nvSpPr>
        <p:spPr>
          <a:xfrm>
            <a:off x="384048" y="3282696"/>
            <a:ext cx="329184" cy="274320"/>
          </a:xfrm>
          <a:prstGeom prst="roundRect">
            <a:avLst>
              <a:gd name="adj" fmla="val 16667"/>
            </a:avLst>
          </a:prstGeom>
          <a:solidFill>
            <a:srgbClr val="14213D"/>
          </a:solidFill>
          <a:ln w="9525">
            <a:solidFill>
              <a:srgbClr val="14213D"/>
            </a:solidFill>
            <a:prstDash val="solid"/>
          </a:ln>
        </p:spPr>
      </p:sp>
      <p:sp>
        <p:nvSpPr>
          <p:cNvPr id="36" name="Text 34"/>
          <p:cNvSpPr txBox="1"/>
          <p:nvPr/>
        </p:nvSpPr>
        <p:spPr>
          <a:xfrm>
            <a:off x="384048" y="3282696"/>
            <a:ext cx="329184" cy="274320"/>
          </a:xfrm>
          <a:prstGeom prst="rect">
            <a:avLst/>
          </a:prstGeom>
          <a:noFill/>
          <a:ln/>
        </p:spPr>
        <p:txBody>
          <a:bodyPr wrap="square" lIns="0" tIns="0" rIns="0" bIns="0" rtlCol="0" anchor="ctr"/>
          <a:lstStyle/>
          <a:p>
            <a:pPr algn="ctr" indent="0" marL="0">
              <a:buNone/>
            </a:pPr>
            <a:r>
              <a:rPr lang="en-US" sz="700" b="1" dirty="0">
                <a:solidFill>
                  <a:srgbClr val="F4A300"/>
                </a:solidFill>
                <a:latin typeface="Calibri" pitchFamily="34" charset="0"/>
                <a:ea typeface="Calibri" pitchFamily="34" charset="-122"/>
                <a:cs typeface="Calibri" pitchFamily="34" charset="-120"/>
              </a:rPr>
              <a:t>FZ</a:t>
            </a:r>
            <a:endParaRPr lang="en-US" sz="700" dirty="0"/>
          </a:p>
        </p:txBody>
      </p:sp>
      <p:sp>
        <p:nvSpPr>
          <p:cNvPr id="37" name="Text 35"/>
          <p:cNvSpPr txBox="1"/>
          <p:nvPr/>
        </p:nvSpPr>
        <p:spPr>
          <a:xfrm>
            <a:off x="786384" y="3200400"/>
            <a:ext cx="2194560" cy="164592"/>
          </a:xfrm>
          <a:prstGeom prst="rect">
            <a:avLst/>
          </a:prstGeom>
          <a:noFill/>
          <a:ln/>
        </p:spPr>
        <p:txBody>
          <a:bodyPr wrap="square" lIns="0" tIns="0" rIns="0" bIns="0" rtlCol="0" anchor="t"/>
          <a:lstStyle/>
          <a:p>
            <a:pPr indent="0" marL="0">
              <a:buNone/>
            </a:pPr>
            <a:r>
              <a:rPr lang="en-US" sz="800" b="1" dirty="0">
                <a:solidFill>
                  <a:srgbClr val="14213D"/>
                </a:solidFill>
                <a:latin typeface="Calibri" pitchFamily="34" charset="0"/>
                <a:ea typeface="Calibri" pitchFamily="34" charset="-122"/>
                <a:cs typeface="Calibri" pitchFamily="34" charset="-120"/>
              </a:rPr>
              <a:t>Matching</a:t>
            </a:r>
            <a:endParaRPr lang="en-US" sz="800" dirty="0"/>
          </a:p>
        </p:txBody>
      </p:sp>
      <p:sp>
        <p:nvSpPr>
          <p:cNvPr id="38" name="Text 36"/>
          <p:cNvSpPr txBox="1"/>
          <p:nvPr/>
        </p:nvSpPr>
        <p:spPr>
          <a:xfrm>
            <a:off x="786384" y="3355848"/>
            <a:ext cx="2231136" cy="310896"/>
          </a:xfrm>
          <a:prstGeom prst="rect">
            <a:avLst/>
          </a:prstGeom>
          <a:noFill/>
          <a:ln/>
        </p:spPr>
        <p:txBody>
          <a:bodyPr wrap="square" lIns="0" tIns="0" rIns="0" bIns="0" rtlCol="0" anchor="t"/>
          <a:lstStyle/>
          <a:p>
            <a:pPr indent="0" marL="0">
              <a:buNone/>
            </a:pPr>
            <a:r>
              <a:rPr lang="en-US" sz="640" dirty="0">
                <a:solidFill>
                  <a:srgbClr val="333333"/>
                </a:solidFill>
                <a:latin typeface="Calibri" pitchFamily="34" charset="0"/>
                <a:ea typeface="Calibri" pitchFamily="34" charset="-122"/>
                <a:cs typeface="Calibri" pitchFamily="34" charset="-120"/>
              </a:rPr>
              <a:t>RapidFuzz token-set; â‰¥85 / 70â€“85 / &lt;70 thresholds</a:t>
            </a:r>
            <a:endParaRPr lang="en-US" sz="640" dirty="0"/>
          </a:p>
        </p:txBody>
      </p:sp>
      <p:sp>
        <p:nvSpPr>
          <p:cNvPr id="39" name="Shape 37"/>
          <p:cNvSpPr/>
          <p:nvPr/>
        </p:nvSpPr>
        <p:spPr>
          <a:xfrm>
            <a:off x="320040" y="3707892"/>
            <a:ext cx="2743200" cy="493776"/>
          </a:xfrm>
          <a:prstGeom prst="roundRect">
            <a:avLst>
              <a:gd name="adj" fmla="val 9259"/>
            </a:avLst>
          </a:prstGeom>
          <a:solidFill>
            <a:srgbClr val="F4F6FA"/>
          </a:solidFill>
          <a:ln w="9525">
            <a:solidFill>
              <a:srgbClr val="C9D0DD"/>
            </a:solidFill>
            <a:prstDash val="solid"/>
          </a:ln>
        </p:spPr>
      </p:sp>
      <p:sp>
        <p:nvSpPr>
          <p:cNvPr id="40" name="Shape 38"/>
          <p:cNvSpPr/>
          <p:nvPr/>
        </p:nvSpPr>
        <p:spPr>
          <a:xfrm>
            <a:off x="384048" y="3817620"/>
            <a:ext cx="329184" cy="274320"/>
          </a:xfrm>
          <a:prstGeom prst="roundRect">
            <a:avLst>
              <a:gd name="adj" fmla="val 16667"/>
            </a:avLst>
          </a:prstGeom>
          <a:solidFill>
            <a:srgbClr val="14213D"/>
          </a:solidFill>
          <a:ln w="9525">
            <a:solidFill>
              <a:srgbClr val="14213D"/>
            </a:solidFill>
            <a:prstDash val="solid"/>
          </a:ln>
        </p:spPr>
      </p:sp>
      <p:sp>
        <p:nvSpPr>
          <p:cNvPr id="41" name="Text 39"/>
          <p:cNvSpPr txBox="1"/>
          <p:nvPr/>
        </p:nvSpPr>
        <p:spPr>
          <a:xfrm>
            <a:off x="384048" y="3817620"/>
            <a:ext cx="329184" cy="274320"/>
          </a:xfrm>
          <a:prstGeom prst="rect">
            <a:avLst/>
          </a:prstGeom>
          <a:noFill/>
          <a:ln/>
        </p:spPr>
        <p:txBody>
          <a:bodyPr wrap="square" lIns="0" tIns="0" rIns="0" bIns="0" rtlCol="0" anchor="ctr"/>
          <a:lstStyle/>
          <a:p>
            <a:pPr algn="ctr" indent="0" marL="0">
              <a:buNone/>
            </a:pPr>
            <a:r>
              <a:rPr lang="en-US" sz="700" b="1" dirty="0">
                <a:solidFill>
                  <a:srgbClr val="F4A300"/>
                </a:solidFill>
                <a:latin typeface="Calibri" pitchFamily="34" charset="0"/>
                <a:ea typeface="Calibri" pitchFamily="34" charset="-122"/>
                <a:cs typeface="Calibri" pitchFamily="34" charset="-120"/>
              </a:rPr>
              <a:t>AI</a:t>
            </a:r>
            <a:endParaRPr lang="en-US" sz="700" dirty="0"/>
          </a:p>
        </p:txBody>
      </p:sp>
      <p:sp>
        <p:nvSpPr>
          <p:cNvPr id="42" name="Text 40"/>
          <p:cNvSpPr txBox="1"/>
          <p:nvPr/>
        </p:nvSpPr>
        <p:spPr>
          <a:xfrm>
            <a:off x="786384" y="3735324"/>
            <a:ext cx="2194560" cy="164592"/>
          </a:xfrm>
          <a:prstGeom prst="rect">
            <a:avLst/>
          </a:prstGeom>
          <a:noFill/>
          <a:ln/>
        </p:spPr>
        <p:txBody>
          <a:bodyPr wrap="square" lIns="0" tIns="0" rIns="0" bIns="0" rtlCol="0" anchor="t"/>
          <a:lstStyle/>
          <a:p>
            <a:pPr indent="0" marL="0">
              <a:buNone/>
            </a:pPr>
            <a:r>
              <a:rPr lang="en-US" sz="800" b="1" dirty="0">
                <a:solidFill>
                  <a:srgbClr val="14213D"/>
                </a:solidFill>
                <a:latin typeface="Calibri" pitchFamily="34" charset="0"/>
                <a:ea typeface="Calibri" pitchFamily="34" charset="-122"/>
                <a:cs typeface="Calibri" pitchFamily="34" charset="-120"/>
              </a:rPr>
              <a:t>Explainer</a:t>
            </a:r>
            <a:endParaRPr lang="en-US" sz="800" dirty="0"/>
          </a:p>
        </p:txBody>
      </p:sp>
      <p:sp>
        <p:nvSpPr>
          <p:cNvPr id="43" name="Text 41"/>
          <p:cNvSpPr txBox="1"/>
          <p:nvPr/>
        </p:nvSpPr>
        <p:spPr>
          <a:xfrm>
            <a:off x="786384" y="3890772"/>
            <a:ext cx="2231136" cy="310896"/>
          </a:xfrm>
          <a:prstGeom prst="rect">
            <a:avLst/>
          </a:prstGeom>
          <a:noFill/>
          <a:ln/>
        </p:spPr>
        <p:txBody>
          <a:bodyPr wrap="square" lIns="0" tIns="0" rIns="0" bIns="0" rtlCol="0" anchor="t"/>
          <a:lstStyle/>
          <a:p>
            <a:pPr indent="0" marL="0">
              <a:buNone/>
            </a:pPr>
            <a:r>
              <a:rPr lang="en-US" sz="640" dirty="0">
                <a:solidFill>
                  <a:srgbClr val="333333"/>
                </a:solidFill>
                <a:latin typeface="Calibri" pitchFamily="34" charset="0"/>
                <a:ea typeface="Calibri" pitchFamily="34" charset="-122"/>
                <a:cs typeface="Calibri" pitchFamily="34" charset="-120"/>
              </a:rPr>
              <a:t>Groq gpt-oss-120b Â· JSON schema Â· guardrails Â· fallback</a:t>
            </a:r>
            <a:endParaRPr lang="en-US" sz="640" dirty="0"/>
          </a:p>
        </p:txBody>
      </p:sp>
      <p:sp>
        <p:nvSpPr>
          <p:cNvPr id="44" name="Shape 42"/>
          <p:cNvSpPr/>
          <p:nvPr/>
        </p:nvSpPr>
        <p:spPr>
          <a:xfrm>
            <a:off x="320040" y="4242816"/>
            <a:ext cx="2743200" cy="493776"/>
          </a:xfrm>
          <a:prstGeom prst="roundRect">
            <a:avLst>
              <a:gd name="adj" fmla="val 9259"/>
            </a:avLst>
          </a:prstGeom>
          <a:solidFill>
            <a:srgbClr val="F4F6FA"/>
          </a:solidFill>
          <a:ln w="9525">
            <a:solidFill>
              <a:srgbClr val="C9D0DD"/>
            </a:solidFill>
            <a:prstDash val="solid"/>
          </a:ln>
        </p:spPr>
      </p:sp>
      <p:sp>
        <p:nvSpPr>
          <p:cNvPr id="45" name="Shape 43"/>
          <p:cNvSpPr/>
          <p:nvPr/>
        </p:nvSpPr>
        <p:spPr>
          <a:xfrm>
            <a:off x="384048" y="4352544"/>
            <a:ext cx="329184" cy="274320"/>
          </a:xfrm>
          <a:prstGeom prst="roundRect">
            <a:avLst>
              <a:gd name="adj" fmla="val 16667"/>
            </a:avLst>
          </a:prstGeom>
          <a:solidFill>
            <a:srgbClr val="6D28D9"/>
          </a:solidFill>
          <a:ln w="9525">
            <a:solidFill>
              <a:srgbClr val="6D28D9"/>
            </a:solidFill>
            <a:prstDash val="solid"/>
          </a:ln>
        </p:spPr>
      </p:sp>
      <p:sp>
        <p:nvSpPr>
          <p:cNvPr id="46" name="Text 44"/>
          <p:cNvSpPr txBox="1"/>
          <p:nvPr/>
        </p:nvSpPr>
        <p:spPr>
          <a:xfrm>
            <a:off x="384048" y="4352544"/>
            <a:ext cx="329184"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TF</a:t>
            </a:r>
            <a:endParaRPr lang="en-US" sz="700" dirty="0"/>
          </a:p>
        </p:txBody>
      </p:sp>
      <p:sp>
        <p:nvSpPr>
          <p:cNvPr id="47" name="Text 45"/>
          <p:cNvSpPr txBox="1"/>
          <p:nvPr/>
        </p:nvSpPr>
        <p:spPr>
          <a:xfrm>
            <a:off x="786384" y="4270248"/>
            <a:ext cx="2194560" cy="164592"/>
          </a:xfrm>
          <a:prstGeom prst="rect">
            <a:avLst/>
          </a:prstGeom>
          <a:noFill/>
          <a:ln/>
        </p:spPr>
        <p:txBody>
          <a:bodyPr wrap="square" lIns="0" tIns="0" rIns="0" bIns="0" rtlCol="0" anchor="t"/>
          <a:lstStyle/>
          <a:p>
            <a:pPr indent="0" marL="0">
              <a:buNone/>
            </a:pPr>
            <a:r>
              <a:rPr lang="en-US" sz="800" b="1" dirty="0">
                <a:solidFill>
                  <a:srgbClr val="14213D"/>
                </a:solidFill>
                <a:latin typeface="Calibri" pitchFamily="34" charset="0"/>
                <a:ea typeface="Calibri" pitchFamily="34" charset="-122"/>
                <a:cs typeface="Calibri" pitchFamily="34" charset="-120"/>
              </a:rPr>
              <a:t>TinyFish</a:t>
            </a:r>
            <a:endParaRPr lang="en-US" sz="800" dirty="0"/>
          </a:p>
        </p:txBody>
      </p:sp>
      <p:sp>
        <p:nvSpPr>
          <p:cNvPr id="48" name="Text 46"/>
          <p:cNvSpPr txBox="1"/>
          <p:nvPr/>
        </p:nvSpPr>
        <p:spPr>
          <a:xfrm>
            <a:off x="786384" y="4425696"/>
            <a:ext cx="2231136" cy="310896"/>
          </a:xfrm>
          <a:prstGeom prst="rect">
            <a:avLst/>
          </a:prstGeom>
          <a:noFill/>
          <a:ln/>
        </p:spPr>
        <p:txBody>
          <a:bodyPr wrap="square" lIns="0" tIns="0" rIns="0" bIns="0" rtlCol="0" anchor="t"/>
          <a:lstStyle/>
          <a:p>
            <a:pPr indent="0" marL="0">
              <a:buNone/>
            </a:pPr>
            <a:r>
              <a:rPr lang="en-US" sz="640" dirty="0">
                <a:solidFill>
                  <a:srgbClr val="333333"/>
                </a:solidFill>
                <a:latin typeface="Calibri" pitchFamily="34" charset="0"/>
                <a:ea typeface="Calibri" pitchFamily="34" charset="-122"/>
                <a:cs typeface="Calibri" pitchFamily="34" charset="-120"/>
              </a:rPr>
              <a:t>Fetch Â· Search Â· Web Agent â†’ curation drafts, human-approved</a:t>
            </a:r>
            <a:endParaRPr lang="en-US" sz="640" dirty="0"/>
          </a:p>
        </p:txBody>
      </p:sp>
      <p:sp>
        <p:nvSpPr>
          <p:cNvPr id="49" name="Shape 47"/>
          <p:cNvSpPr/>
          <p:nvPr/>
        </p:nvSpPr>
        <p:spPr>
          <a:xfrm>
            <a:off x="3291840" y="731520"/>
            <a:ext cx="5623560" cy="4096512"/>
          </a:xfrm>
          <a:prstGeom prst="roundRect">
            <a:avLst>
              <a:gd name="adj" fmla="val 1116"/>
            </a:avLst>
          </a:prstGeom>
          <a:solidFill>
            <a:srgbClr val="FFFFFF"/>
          </a:solidFill>
          <a:ln w="9525">
            <a:solidFill>
              <a:srgbClr val="C9D0DD"/>
            </a:solidFill>
            <a:prstDash val="solid"/>
          </a:ln>
        </p:spPr>
      </p:sp>
      <p:sp>
        <p:nvSpPr>
          <p:cNvPr id="50" name="Shape 48"/>
          <p:cNvSpPr/>
          <p:nvPr/>
        </p:nvSpPr>
        <p:spPr>
          <a:xfrm>
            <a:off x="3291840" y="731520"/>
            <a:ext cx="5623560" cy="237744"/>
          </a:xfrm>
          <a:prstGeom prst="rect">
            <a:avLst/>
          </a:prstGeom>
          <a:solidFill>
            <a:srgbClr val="14213D"/>
          </a:solidFill>
          <a:ln w="12700">
            <a:solidFill>
              <a:srgbClr val="14213D"/>
            </a:solidFill>
            <a:prstDash val="solid"/>
          </a:ln>
        </p:spPr>
      </p:sp>
      <p:sp>
        <p:nvSpPr>
          <p:cNvPr id="51" name="Text 49"/>
          <p:cNvSpPr txBox="1"/>
          <p:nvPr/>
        </p:nvSpPr>
        <p:spPr>
          <a:xfrm>
            <a:off x="3383280" y="731520"/>
            <a:ext cx="544068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ARCHITECTURE Â· TWO LOOPS</a:t>
            </a:r>
            <a:endParaRPr lang="en-US" sz="850" dirty="0"/>
          </a:p>
        </p:txBody>
      </p:sp>
      <p:sp>
        <p:nvSpPr>
          <p:cNvPr id="52" name="Text 50"/>
          <p:cNvSpPr txBox="1"/>
          <p:nvPr/>
        </p:nvSpPr>
        <p:spPr>
          <a:xfrm>
            <a:off x="3401568" y="1024128"/>
            <a:ext cx="5486400" cy="182880"/>
          </a:xfrm>
          <a:prstGeom prst="rect">
            <a:avLst/>
          </a:prstGeom>
          <a:noFill/>
          <a:ln/>
        </p:spPr>
        <p:txBody>
          <a:bodyPr wrap="square" lIns="0" tIns="0" rIns="0" bIns="0" rtlCol="0" anchor="t"/>
          <a:lstStyle/>
          <a:p>
            <a:pPr indent="0" marL="0">
              <a:buNone/>
            </a:pPr>
            <a:r>
              <a:rPr lang="en-US" sz="750" b="1" spc="100" kern="0" dirty="0">
                <a:solidFill>
                  <a:srgbClr val="14213D"/>
                </a:solidFill>
                <a:latin typeface="Calibri" pitchFamily="34" charset="0"/>
                <a:ea typeface="Calibri" pitchFamily="34" charset="-122"/>
                <a:cs typeface="Calibri" pitchFamily="34" charset="-120"/>
              </a:rPr>
              <a:t>CHECK LOOP (patient, online or offline)</a:t>
            </a:r>
            <a:endParaRPr lang="en-US" sz="750" dirty="0"/>
          </a:p>
        </p:txBody>
      </p:sp>
      <p:sp>
        <p:nvSpPr>
          <p:cNvPr id="53" name="Shape 51"/>
          <p:cNvSpPr/>
          <p:nvPr/>
        </p:nvSpPr>
        <p:spPr>
          <a:xfrm>
            <a:off x="3401568" y="1234440"/>
            <a:ext cx="841248" cy="713232"/>
          </a:xfrm>
          <a:prstGeom prst="roundRect">
            <a:avLst>
              <a:gd name="adj" fmla="val 6410"/>
            </a:avLst>
          </a:prstGeom>
          <a:solidFill>
            <a:srgbClr val="F4F6FA"/>
          </a:solidFill>
          <a:ln w="9525">
            <a:solidFill>
              <a:srgbClr val="C9D0DD"/>
            </a:solidFill>
            <a:prstDash val="solid"/>
          </a:ln>
        </p:spPr>
      </p:sp>
      <p:sp>
        <p:nvSpPr>
          <p:cNvPr id="54" name="Shape 52"/>
          <p:cNvSpPr/>
          <p:nvPr/>
        </p:nvSpPr>
        <p:spPr>
          <a:xfrm>
            <a:off x="3456432" y="1289304"/>
            <a:ext cx="182880" cy="182880"/>
          </a:xfrm>
          <a:prstGeom prst="ellipse">
            <a:avLst/>
          </a:prstGeom>
          <a:solidFill>
            <a:srgbClr val="14213D"/>
          </a:solidFill>
          <a:ln w="12700">
            <a:solidFill>
              <a:srgbClr val="14213D"/>
            </a:solidFill>
            <a:prstDash val="solid"/>
          </a:ln>
        </p:spPr>
      </p:sp>
      <p:sp>
        <p:nvSpPr>
          <p:cNvPr id="55" name="Text 53"/>
          <p:cNvSpPr txBox="1"/>
          <p:nvPr/>
        </p:nvSpPr>
        <p:spPr>
          <a:xfrm>
            <a:off x="3456432" y="1289304"/>
            <a:ext cx="182880" cy="182880"/>
          </a:xfrm>
          <a:prstGeom prst="rect">
            <a:avLst/>
          </a:prstGeom>
          <a:noFill/>
          <a:ln/>
        </p:spPr>
        <p:txBody>
          <a:bodyPr wrap="square" lIns="0" tIns="0" rIns="0" bIns="0" rtlCol="0" anchor="ctr"/>
          <a:lstStyle/>
          <a:p>
            <a:pPr algn="ctr" indent="0" marL="0">
              <a:buNone/>
            </a:pPr>
            <a:r>
              <a:rPr lang="en-US" sz="680" b="1" dirty="0">
                <a:solidFill>
                  <a:srgbClr val="F4A300"/>
                </a:solidFill>
                <a:latin typeface="Calibri" pitchFamily="34" charset="0"/>
                <a:ea typeface="Calibri" pitchFamily="34" charset="-122"/>
                <a:cs typeface="Calibri" pitchFamily="34" charset="-120"/>
              </a:rPr>
              <a:t>1</a:t>
            </a:r>
            <a:endParaRPr lang="en-US" sz="680" dirty="0"/>
          </a:p>
        </p:txBody>
      </p:sp>
      <p:sp>
        <p:nvSpPr>
          <p:cNvPr id="56" name="Text 54"/>
          <p:cNvSpPr txBox="1"/>
          <p:nvPr/>
        </p:nvSpPr>
        <p:spPr>
          <a:xfrm>
            <a:off x="3675888" y="1261872"/>
            <a:ext cx="548640" cy="237744"/>
          </a:xfrm>
          <a:prstGeom prst="rect">
            <a:avLst/>
          </a:prstGeom>
          <a:noFill/>
          <a:ln/>
        </p:spPr>
        <p:txBody>
          <a:bodyPr wrap="square" lIns="0" tIns="0" rIns="0" bIns="0" rtlCol="0" anchor="ctr"/>
          <a:lstStyle/>
          <a:p>
            <a:pPr indent="0" marL="0">
              <a:buNone/>
            </a:pPr>
            <a:r>
              <a:rPr lang="en-US" sz="700" b="1" dirty="0">
                <a:solidFill>
                  <a:srgbClr val="14213D"/>
                </a:solidFill>
                <a:latin typeface="Calibri" pitchFamily="34" charset="0"/>
                <a:ea typeface="Calibri" pitchFamily="34" charset="-122"/>
                <a:cs typeface="Calibri" pitchFamily="34" charset="-120"/>
              </a:rPr>
              <a:t>Inputs</a:t>
            </a:r>
            <a:endParaRPr lang="en-US" sz="700" dirty="0"/>
          </a:p>
        </p:txBody>
      </p:sp>
      <p:sp>
        <p:nvSpPr>
          <p:cNvPr id="57" name="Text 55"/>
          <p:cNvSpPr txBox="1"/>
          <p:nvPr/>
        </p:nvSpPr>
        <p:spPr>
          <a:xfrm>
            <a:off x="3456432" y="1536192"/>
            <a:ext cx="749808" cy="384048"/>
          </a:xfrm>
          <a:prstGeom prst="rect">
            <a:avLst/>
          </a:prstGeom>
          <a:noFill/>
          <a:ln/>
        </p:spPr>
        <p:txBody>
          <a:bodyPr wrap="square" lIns="0" tIns="0" rIns="0" bIns="0" rtlCol="0" anchor="t"/>
          <a:lstStyle/>
          <a:p>
            <a:pPr indent="0" marL="0">
              <a:buNone/>
            </a:pPr>
            <a:r>
              <a:rPr lang="en-US" sz="580" dirty="0">
                <a:solidFill>
                  <a:srgbClr val="333333"/>
                </a:solidFill>
                <a:latin typeface="Calibri" pitchFamily="34" charset="0"/>
                <a:ea typeface="Calibri" pitchFamily="34" charset="-122"/>
                <a:cs typeface="Calibri" pitchFamily="34" charset="-120"/>
              </a:rPr>
              <a:t>photos or typed names</a:t>
            </a:r>
            <a:endParaRPr lang="en-US" sz="580" dirty="0"/>
          </a:p>
        </p:txBody>
      </p:sp>
      <p:sp>
        <p:nvSpPr>
          <p:cNvPr id="58" name="Shape 56"/>
          <p:cNvSpPr/>
          <p:nvPr/>
        </p:nvSpPr>
        <p:spPr>
          <a:xfrm>
            <a:off x="4315968" y="1234440"/>
            <a:ext cx="841248" cy="713232"/>
          </a:xfrm>
          <a:prstGeom prst="roundRect">
            <a:avLst>
              <a:gd name="adj" fmla="val 6410"/>
            </a:avLst>
          </a:prstGeom>
          <a:solidFill>
            <a:srgbClr val="F4F6FA"/>
          </a:solidFill>
          <a:ln w="9525">
            <a:solidFill>
              <a:srgbClr val="C9D0DD"/>
            </a:solidFill>
            <a:prstDash val="solid"/>
          </a:ln>
        </p:spPr>
      </p:sp>
      <p:sp>
        <p:nvSpPr>
          <p:cNvPr id="59" name="Shape 57"/>
          <p:cNvSpPr/>
          <p:nvPr/>
        </p:nvSpPr>
        <p:spPr>
          <a:xfrm>
            <a:off x="4370832" y="1289304"/>
            <a:ext cx="182880" cy="182880"/>
          </a:xfrm>
          <a:prstGeom prst="ellipse">
            <a:avLst/>
          </a:prstGeom>
          <a:solidFill>
            <a:srgbClr val="14213D"/>
          </a:solidFill>
          <a:ln w="12700">
            <a:solidFill>
              <a:srgbClr val="14213D"/>
            </a:solidFill>
            <a:prstDash val="solid"/>
          </a:ln>
        </p:spPr>
      </p:sp>
      <p:sp>
        <p:nvSpPr>
          <p:cNvPr id="60" name="Text 58"/>
          <p:cNvSpPr txBox="1"/>
          <p:nvPr/>
        </p:nvSpPr>
        <p:spPr>
          <a:xfrm>
            <a:off x="4370832" y="1289304"/>
            <a:ext cx="182880" cy="182880"/>
          </a:xfrm>
          <a:prstGeom prst="rect">
            <a:avLst/>
          </a:prstGeom>
          <a:noFill/>
          <a:ln/>
        </p:spPr>
        <p:txBody>
          <a:bodyPr wrap="square" lIns="0" tIns="0" rIns="0" bIns="0" rtlCol="0" anchor="ctr"/>
          <a:lstStyle/>
          <a:p>
            <a:pPr algn="ctr" indent="0" marL="0">
              <a:buNone/>
            </a:pPr>
            <a:r>
              <a:rPr lang="en-US" sz="680" b="1" dirty="0">
                <a:solidFill>
                  <a:srgbClr val="F4A300"/>
                </a:solidFill>
                <a:latin typeface="Calibri" pitchFamily="34" charset="0"/>
                <a:ea typeface="Calibri" pitchFamily="34" charset="-122"/>
                <a:cs typeface="Calibri" pitchFamily="34" charset="-120"/>
              </a:rPr>
              <a:t>2</a:t>
            </a:r>
            <a:endParaRPr lang="en-US" sz="680" dirty="0"/>
          </a:p>
        </p:txBody>
      </p:sp>
      <p:sp>
        <p:nvSpPr>
          <p:cNvPr id="61" name="Text 59"/>
          <p:cNvSpPr txBox="1"/>
          <p:nvPr/>
        </p:nvSpPr>
        <p:spPr>
          <a:xfrm>
            <a:off x="4590288" y="1261872"/>
            <a:ext cx="548640" cy="237744"/>
          </a:xfrm>
          <a:prstGeom prst="rect">
            <a:avLst/>
          </a:prstGeom>
          <a:noFill/>
          <a:ln/>
        </p:spPr>
        <p:txBody>
          <a:bodyPr wrap="square" lIns="0" tIns="0" rIns="0" bIns="0" rtlCol="0" anchor="ctr"/>
          <a:lstStyle/>
          <a:p>
            <a:pPr indent="0" marL="0">
              <a:buNone/>
            </a:pPr>
            <a:r>
              <a:rPr lang="en-US" sz="700" b="1" dirty="0">
                <a:solidFill>
                  <a:srgbClr val="14213D"/>
                </a:solidFill>
                <a:latin typeface="Calibri" pitchFamily="34" charset="0"/>
                <a:ea typeface="Calibri" pitchFamily="34" charset="-122"/>
                <a:cs typeface="Calibri" pitchFamily="34" charset="-120"/>
              </a:rPr>
              <a:t>OCR</a:t>
            </a:r>
            <a:endParaRPr lang="en-US" sz="700" dirty="0"/>
          </a:p>
        </p:txBody>
      </p:sp>
      <p:sp>
        <p:nvSpPr>
          <p:cNvPr id="62" name="Text 60"/>
          <p:cNvSpPr txBox="1"/>
          <p:nvPr/>
        </p:nvSpPr>
        <p:spPr>
          <a:xfrm>
            <a:off x="4370832" y="1536192"/>
            <a:ext cx="749808" cy="384048"/>
          </a:xfrm>
          <a:prstGeom prst="rect">
            <a:avLst/>
          </a:prstGeom>
          <a:noFill/>
          <a:ln/>
        </p:spPr>
        <p:txBody>
          <a:bodyPr wrap="square" lIns="0" tIns="0" rIns="0" bIns="0" rtlCol="0" anchor="t"/>
          <a:lstStyle/>
          <a:p>
            <a:pPr indent="0" marL="0">
              <a:buNone/>
            </a:pPr>
            <a:r>
              <a:rPr lang="en-US" sz="580" dirty="0">
                <a:solidFill>
                  <a:srgbClr val="333333"/>
                </a:solidFill>
                <a:latin typeface="Calibri" pitchFamily="34" charset="0"/>
                <a:ea typeface="Calibri" pitchFamily="34" charset="-122"/>
                <a:cs typeface="Calibri" pitchFamily="34" charset="-120"/>
              </a:rPr>
              <a:t>Tesseract Â· file deleted</a:t>
            </a:r>
            <a:endParaRPr lang="en-US" sz="580" dirty="0"/>
          </a:p>
        </p:txBody>
      </p:sp>
      <p:sp>
        <p:nvSpPr>
          <p:cNvPr id="63" name="Shape 61"/>
          <p:cNvSpPr/>
          <p:nvPr/>
        </p:nvSpPr>
        <p:spPr>
          <a:xfrm>
            <a:off x="5230368" y="1234440"/>
            <a:ext cx="841248" cy="713232"/>
          </a:xfrm>
          <a:prstGeom prst="roundRect">
            <a:avLst>
              <a:gd name="adj" fmla="val 6410"/>
            </a:avLst>
          </a:prstGeom>
          <a:solidFill>
            <a:srgbClr val="F4F6FA"/>
          </a:solidFill>
          <a:ln w="9525">
            <a:solidFill>
              <a:srgbClr val="C9D0DD"/>
            </a:solidFill>
            <a:prstDash val="solid"/>
          </a:ln>
        </p:spPr>
      </p:sp>
      <p:sp>
        <p:nvSpPr>
          <p:cNvPr id="64" name="Shape 62"/>
          <p:cNvSpPr/>
          <p:nvPr/>
        </p:nvSpPr>
        <p:spPr>
          <a:xfrm>
            <a:off x="5285232" y="1289304"/>
            <a:ext cx="182880" cy="182880"/>
          </a:xfrm>
          <a:prstGeom prst="ellipse">
            <a:avLst/>
          </a:prstGeom>
          <a:solidFill>
            <a:srgbClr val="14213D"/>
          </a:solidFill>
          <a:ln w="12700">
            <a:solidFill>
              <a:srgbClr val="14213D"/>
            </a:solidFill>
            <a:prstDash val="solid"/>
          </a:ln>
        </p:spPr>
      </p:sp>
      <p:sp>
        <p:nvSpPr>
          <p:cNvPr id="65" name="Text 63"/>
          <p:cNvSpPr txBox="1"/>
          <p:nvPr/>
        </p:nvSpPr>
        <p:spPr>
          <a:xfrm>
            <a:off x="5285232" y="1289304"/>
            <a:ext cx="182880" cy="182880"/>
          </a:xfrm>
          <a:prstGeom prst="rect">
            <a:avLst/>
          </a:prstGeom>
          <a:noFill/>
          <a:ln/>
        </p:spPr>
        <p:txBody>
          <a:bodyPr wrap="square" lIns="0" tIns="0" rIns="0" bIns="0" rtlCol="0" anchor="ctr"/>
          <a:lstStyle/>
          <a:p>
            <a:pPr algn="ctr" indent="0" marL="0">
              <a:buNone/>
            </a:pPr>
            <a:r>
              <a:rPr lang="en-US" sz="680" b="1" dirty="0">
                <a:solidFill>
                  <a:srgbClr val="F4A300"/>
                </a:solidFill>
                <a:latin typeface="Calibri" pitchFamily="34" charset="0"/>
                <a:ea typeface="Calibri" pitchFamily="34" charset="-122"/>
                <a:cs typeface="Calibri" pitchFamily="34" charset="-120"/>
              </a:rPr>
              <a:t>3</a:t>
            </a:r>
            <a:endParaRPr lang="en-US" sz="680" dirty="0"/>
          </a:p>
        </p:txBody>
      </p:sp>
      <p:sp>
        <p:nvSpPr>
          <p:cNvPr id="66" name="Text 64"/>
          <p:cNvSpPr txBox="1"/>
          <p:nvPr/>
        </p:nvSpPr>
        <p:spPr>
          <a:xfrm>
            <a:off x="5504688" y="1261872"/>
            <a:ext cx="548640" cy="237744"/>
          </a:xfrm>
          <a:prstGeom prst="rect">
            <a:avLst/>
          </a:prstGeom>
          <a:noFill/>
          <a:ln/>
        </p:spPr>
        <p:txBody>
          <a:bodyPr wrap="square" lIns="0" tIns="0" rIns="0" bIns="0" rtlCol="0" anchor="ctr"/>
          <a:lstStyle/>
          <a:p>
            <a:pPr indent="0" marL="0">
              <a:buNone/>
            </a:pPr>
            <a:r>
              <a:rPr lang="en-US" sz="700" b="1" dirty="0">
                <a:solidFill>
                  <a:srgbClr val="14213D"/>
                </a:solidFill>
                <a:latin typeface="Calibri" pitchFamily="34" charset="0"/>
                <a:ea typeface="Calibri" pitchFamily="34" charset="-122"/>
                <a:cs typeface="Calibri" pitchFamily="34" charset="-120"/>
              </a:rPr>
              <a:t>Matcher</a:t>
            </a:r>
            <a:endParaRPr lang="en-US" sz="700" dirty="0"/>
          </a:p>
        </p:txBody>
      </p:sp>
      <p:sp>
        <p:nvSpPr>
          <p:cNvPr id="67" name="Text 65"/>
          <p:cNvSpPr txBox="1"/>
          <p:nvPr/>
        </p:nvSpPr>
        <p:spPr>
          <a:xfrm>
            <a:off x="5285232" y="1536192"/>
            <a:ext cx="749808" cy="384048"/>
          </a:xfrm>
          <a:prstGeom prst="rect">
            <a:avLst/>
          </a:prstGeom>
          <a:noFill/>
          <a:ln/>
        </p:spPr>
        <p:txBody>
          <a:bodyPr wrap="square" lIns="0" tIns="0" rIns="0" bIns="0" rtlCol="0" anchor="t"/>
          <a:lstStyle/>
          <a:p>
            <a:pPr indent="0" marL="0">
              <a:buNone/>
            </a:pPr>
            <a:r>
              <a:rPr lang="en-US" sz="580" dirty="0">
                <a:solidFill>
                  <a:srgbClr val="333333"/>
                </a:solidFill>
                <a:latin typeface="Calibri" pitchFamily="34" charset="0"/>
                <a:ea typeface="Calibri" pitchFamily="34" charset="-122"/>
                <a:cs typeface="Calibri" pitchFamily="34" charset="-120"/>
              </a:rPr>
              <a:t>brandâ†’generic Â· user confirms</a:t>
            </a:r>
            <a:endParaRPr lang="en-US" sz="580" dirty="0"/>
          </a:p>
        </p:txBody>
      </p:sp>
      <p:sp>
        <p:nvSpPr>
          <p:cNvPr id="68" name="Shape 66"/>
          <p:cNvSpPr/>
          <p:nvPr/>
        </p:nvSpPr>
        <p:spPr>
          <a:xfrm>
            <a:off x="6144768" y="1234440"/>
            <a:ext cx="841248" cy="713232"/>
          </a:xfrm>
          <a:prstGeom prst="roundRect">
            <a:avLst>
              <a:gd name="adj" fmla="val 6410"/>
            </a:avLst>
          </a:prstGeom>
          <a:solidFill>
            <a:srgbClr val="14213D"/>
          </a:solidFill>
          <a:ln w="9525">
            <a:solidFill>
              <a:srgbClr val="14213D"/>
            </a:solidFill>
            <a:prstDash val="solid"/>
          </a:ln>
        </p:spPr>
      </p:sp>
      <p:sp>
        <p:nvSpPr>
          <p:cNvPr id="69" name="Shape 67"/>
          <p:cNvSpPr/>
          <p:nvPr/>
        </p:nvSpPr>
        <p:spPr>
          <a:xfrm>
            <a:off x="6199632" y="1289304"/>
            <a:ext cx="182880" cy="182880"/>
          </a:xfrm>
          <a:prstGeom prst="ellipse">
            <a:avLst/>
          </a:prstGeom>
          <a:solidFill>
            <a:srgbClr val="F4A300"/>
          </a:solidFill>
          <a:ln w="12700">
            <a:solidFill>
              <a:srgbClr val="F4A300"/>
            </a:solidFill>
            <a:prstDash val="solid"/>
          </a:ln>
        </p:spPr>
      </p:sp>
      <p:sp>
        <p:nvSpPr>
          <p:cNvPr id="70" name="Text 68"/>
          <p:cNvSpPr txBox="1"/>
          <p:nvPr/>
        </p:nvSpPr>
        <p:spPr>
          <a:xfrm>
            <a:off x="6199632" y="1289304"/>
            <a:ext cx="182880" cy="182880"/>
          </a:xfrm>
          <a:prstGeom prst="rect">
            <a:avLst/>
          </a:prstGeom>
          <a:noFill/>
          <a:ln/>
        </p:spPr>
        <p:txBody>
          <a:bodyPr wrap="square" lIns="0" tIns="0" rIns="0" bIns="0" rtlCol="0" anchor="ctr"/>
          <a:lstStyle/>
          <a:p>
            <a:pPr algn="ctr" indent="0" marL="0">
              <a:buNone/>
            </a:pPr>
            <a:r>
              <a:rPr lang="en-US" sz="680" b="1" dirty="0">
                <a:solidFill>
                  <a:srgbClr val="14213D"/>
                </a:solidFill>
                <a:latin typeface="Calibri" pitchFamily="34" charset="0"/>
                <a:ea typeface="Calibri" pitchFamily="34" charset="-122"/>
                <a:cs typeface="Calibri" pitchFamily="34" charset="-120"/>
              </a:rPr>
              <a:t>4</a:t>
            </a:r>
            <a:endParaRPr lang="en-US" sz="680" dirty="0"/>
          </a:p>
        </p:txBody>
      </p:sp>
      <p:sp>
        <p:nvSpPr>
          <p:cNvPr id="71" name="Text 69"/>
          <p:cNvSpPr txBox="1"/>
          <p:nvPr/>
        </p:nvSpPr>
        <p:spPr>
          <a:xfrm>
            <a:off x="6419088" y="1261872"/>
            <a:ext cx="548640" cy="237744"/>
          </a:xfrm>
          <a:prstGeom prst="rect">
            <a:avLst/>
          </a:prstGeom>
          <a:noFill/>
          <a:ln/>
        </p:spPr>
        <p:txBody>
          <a:bodyPr wrap="square" lIns="0" tIns="0" rIns="0" bIns="0" rtlCol="0" anchor="ctr"/>
          <a:lstStyle/>
          <a:p>
            <a:pPr indent="0" marL="0">
              <a:buNone/>
            </a:pPr>
            <a:r>
              <a:rPr lang="en-US" sz="700" b="1" dirty="0">
                <a:solidFill>
                  <a:srgbClr val="FFFFFF"/>
                </a:solidFill>
                <a:latin typeface="Calibri" pitchFamily="34" charset="0"/>
                <a:ea typeface="Calibri" pitchFamily="34" charset="-122"/>
                <a:cs typeface="Calibri" pitchFamily="34" charset="-120"/>
              </a:rPr>
              <a:t>Rule engine</a:t>
            </a:r>
            <a:endParaRPr lang="en-US" sz="700" dirty="0"/>
          </a:p>
        </p:txBody>
      </p:sp>
      <p:sp>
        <p:nvSpPr>
          <p:cNvPr id="72" name="Text 70"/>
          <p:cNvSpPr txBox="1"/>
          <p:nvPr/>
        </p:nvSpPr>
        <p:spPr>
          <a:xfrm>
            <a:off x="6199632" y="1536192"/>
            <a:ext cx="749808" cy="384048"/>
          </a:xfrm>
          <a:prstGeom prst="rect">
            <a:avLst/>
          </a:prstGeom>
          <a:noFill/>
          <a:ln/>
        </p:spPr>
        <p:txBody>
          <a:bodyPr wrap="square" lIns="0" tIns="0" rIns="0" bIns="0" rtlCol="0" anchor="t"/>
          <a:lstStyle/>
          <a:p>
            <a:pPr indent="0" marL="0">
              <a:buNone/>
            </a:pPr>
            <a:r>
              <a:rPr lang="en-US" sz="580" dirty="0">
                <a:solidFill>
                  <a:srgbClr val="DCE2F0"/>
                </a:solidFill>
                <a:latin typeface="Calibri" pitchFamily="34" charset="0"/>
                <a:ea typeface="Calibri" pitchFamily="34" charset="-122"/>
                <a:cs typeface="Calibri" pitchFamily="34" charset="-120"/>
              </a:rPr>
              <a:t>R1â€“R5 â†’ verdict</a:t>
            </a:r>
            <a:endParaRPr lang="en-US" sz="580" dirty="0"/>
          </a:p>
        </p:txBody>
      </p:sp>
      <p:sp>
        <p:nvSpPr>
          <p:cNvPr id="73" name="Shape 71"/>
          <p:cNvSpPr/>
          <p:nvPr/>
        </p:nvSpPr>
        <p:spPr>
          <a:xfrm>
            <a:off x="7059168" y="1234440"/>
            <a:ext cx="841248" cy="713232"/>
          </a:xfrm>
          <a:prstGeom prst="roundRect">
            <a:avLst>
              <a:gd name="adj" fmla="val 6410"/>
            </a:avLst>
          </a:prstGeom>
          <a:solidFill>
            <a:srgbClr val="F4F6FA"/>
          </a:solidFill>
          <a:ln w="9525">
            <a:solidFill>
              <a:srgbClr val="C9D0DD"/>
            </a:solidFill>
            <a:prstDash val="solid"/>
          </a:ln>
        </p:spPr>
      </p:sp>
      <p:sp>
        <p:nvSpPr>
          <p:cNvPr id="74" name="Shape 72"/>
          <p:cNvSpPr/>
          <p:nvPr/>
        </p:nvSpPr>
        <p:spPr>
          <a:xfrm>
            <a:off x="7114032" y="1289304"/>
            <a:ext cx="182880" cy="182880"/>
          </a:xfrm>
          <a:prstGeom prst="ellipse">
            <a:avLst/>
          </a:prstGeom>
          <a:solidFill>
            <a:srgbClr val="14213D"/>
          </a:solidFill>
          <a:ln w="12700">
            <a:solidFill>
              <a:srgbClr val="14213D"/>
            </a:solidFill>
            <a:prstDash val="solid"/>
          </a:ln>
        </p:spPr>
      </p:sp>
      <p:sp>
        <p:nvSpPr>
          <p:cNvPr id="75" name="Text 73"/>
          <p:cNvSpPr txBox="1"/>
          <p:nvPr/>
        </p:nvSpPr>
        <p:spPr>
          <a:xfrm>
            <a:off x="7114032" y="1289304"/>
            <a:ext cx="182880" cy="182880"/>
          </a:xfrm>
          <a:prstGeom prst="rect">
            <a:avLst/>
          </a:prstGeom>
          <a:noFill/>
          <a:ln/>
        </p:spPr>
        <p:txBody>
          <a:bodyPr wrap="square" lIns="0" tIns="0" rIns="0" bIns="0" rtlCol="0" anchor="ctr"/>
          <a:lstStyle/>
          <a:p>
            <a:pPr algn="ctr" indent="0" marL="0">
              <a:buNone/>
            </a:pPr>
            <a:r>
              <a:rPr lang="en-US" sz="680" b="1" dirty="0">
                <a:solidFill>
                  <a:srgbClr val="F4A300"/>
                </a:solidFill>
                <a:latin typeface="Calibri" pitchFamily="34" charset="0"/>
                <a:ea typeface="Calibri" pitchFamily="34" charset="-122"/>
                <a:cs typeface="Calibri" pitchFamily="34" charset="-120"/>
              </a:rPr>
              <a:t>5</a:t>
            </a:r>
            <a:endParaRPr lang="en-US" sz="680" dirty="0"/>
          </a:p>
        </p:txBody>
      </p:sp>
      <p:sp>
        <p:nvSpPr>
          <p:cNvPr id="76" name="Text 74"/>
          <p:cNvSpPr txBox="1"/>
          <p:nvPr/>
        </p:nvSpPr>
        <p:spPr>
          <a:xfrm>
            <a:off x="7333488" y="1261872"/>
            <a:ext cx="548640" cy="237744"/>
          </a:xfrm>
          <a:prstGeom prst="rect">
            <a:avLst/>
          </a:prstGeom>
          <a:noFill/>
          <a:ln/>
        </p:spPr>
        <p:txBody>
          <a:bodyPr wrap="square" lIns="0" tIns="0" rIns="0" bIns="0" rtlCol="0" anchor="ctr"/>
          <a:lstStyle/>
          <a:p>
            <a:pPr indent="0" marL="0">
              <a:buNone/>
            </a:pPr>
            <a:r>
              <a:rPr lang="en-US" sz="700" b="1" dirty="0">
                <a:solidFill>
                  <a:srgbClr val="14213D"/>
                </a:solidFill>
                <a:latin typeface="Calibri" pitchFamily="34" charset="0"/>
                <a:ea typeface="Calibri" pitchFamily="34" charset="-122"/>
                <a:cs typeface="Calibri" pitchFamily="34" charset="-120"/>
              </a:rPr>
              <a:t>Explainer</a:t>
            </a:r>
            <a:endParaRPr lang="en-US" sz="700" dirty="0"/>
          </a:p>
        </p:txBody>
      </p:sp>
      <p:sp>
        <p:nvSpPr>
          <p:cNvPr id="77" name="Text 75"/>
          <p:cNvSpPr txBox="1"/>
          <p:nvPr/>
        </p:nvSpPr>
        <p:spPr>
          <a:xfrm>
            <a:off x="7114032" y="1536192"/>
            <a:ext cx="749808" cy="384048"/>
          </a:xfrm>
          <a:prstGeom prst="rect">
            <a:avLst/>
          </a:prstGeom>
          <a:noFill/>
          <a:ln/>
        </p:spPr>
        <p:txBody>
          <a:bodyPr wrap="square" lIns="0" tIns="0" rIns="0" bIns="0" rtlCol="0" anchor="t"/>
          <a:lstStyle/>
          <a:p>
            <a:pPr indent="0" marL="0">
              <a:buNone/>
            </a:pPr>
            <a:r>
              <a:rPr lang="en-US" sz="580" dirty="0">
                <a:solidFill>
                  <a:srgbClr val="333333"/>
                </a:solidFill>
                <a:latin typeface="Calibri" pitchFamily="34" charset="0"/>
                <a:ea typeface="Calibri" pitchFamily="34" charset="-122"/>
                <a:cs typeface="Calibri" pitchFamily="34" charset="-120"/>
              </a:rPr>
              <a:t>LLM Â· matched rows only</a:t>
            </a:r>
            <a:endParaRPr lang="en-US" sz="580" dirty="0"/>
          </a:p>
        </p:txBody>
      </p:sp>
      <p:sp>
        <p:nvSpPr>
          <p:cNvPr id="78" name="Shape 76"/>
          <p:cNvSpPr/>
          <p:nvPr/>
        </p:nvSpPr>
        <p:spPr>
          <a:xfrm>
            <a:off x="7973568" y="1234440"/>
            <a:ext cx="841248" cy="713232"/>
          </a:xfrm>
          <a:prstGeom prst="roundRect">
            <a:avLst>
              <a:gd name="adj" fmla="val 6410"/>
            </a:avLst>
          </a:prstGeom>
          <a:solidFill>
            <a:srgbClr val="F4F6FA"/>
          </a:solidFill>
          <a:ln w="9525">
            <a:solidFill>
              <a:srgbClr val="C9D0DD"/>
            </a:solidFill>
            <a:prstDash val="solid"/>
          </a:ln>
        </p:spPr>
      </p:sp>
      <p:sp>
        <p:nvSpPr>
          <p:cNvPr id="79" name="Shape 77"/>
          <p:cNvSpPr/>
          <p:nvPr/>
        </p:nvSpPr>
        <p:spPr>
          <a:xfrm>
            <a:off x="8028432" y="1289304"/>
            <a:ext cx="182880" cy="182880"/>
          </a:xfrm>
          <a:prstGeom prst="ellipse">
            <a:avLst/>
          </a:prstGeom>
          <a:solidFill>
            <a:srgbClr val="14213D"/>
          </a:solidFill>
          <a:ln w="12700">
            <a:solidFill>
              <a:srgbClr val="14213D"/>
            </a:solidFill>
            <a:prstDash val="solid"/>
          </a:ln>
        </p:spPr>
      </p:sp>
      <p:sp>
        <p:nvSpPr>
          <p:cNvPr id="80" name="Text 78"/>
          <p:cNvSpPr txBox="1"/>
          <p:nvPr/>
        </p:nvSpPr>
        <p:spPr>
          <a:xfrm>
            <a:off x="8028432" y="1289304"/>
            <a:ext cx="182880" cy="182880"/>
          </a:xfrm>
          <a:prstGeom prst="rect">
            <a:avLst/>
          </a:prstGeom>
          <a:noFill/>
          <a:ln/>
        </p:spPr>
        <p:txBody>
          <a:bodyPr wrap="square" lIns="0" tIns="0" rIns="0" bIns="0" rtlCol="0" anchor="ctr"/>
          <a:lstStyle/>
          <a:p>
            <a:pPr algn="ctr" indent="0" marL="0">
              <a:buNone/>
            </a:pPr>
            <a:r>
              <a:rPr lang="en-US" sz="680" b="1" dirty="0">
                <a:solidFill>
                  <a:srgbClr val="F4A300"/>
                </a:solidFill>
                <a:latin typeface="Calibri" pitchFamily="34" charset="0"/>
                <a:ea typeface="Calibri" pitchFamily="34" charset="-122"/>
                <a:cs typeface="Calibri" pitchFamily="34" charset="-120"/>
              </a:rPr>
              <a:t>6</a:t>
            </a:r>
            <a:endParaRPr lang="en-US" sz="680" dirty="0"/>
          </a:p>
        </p:txBody>
      </p:sp>
      <p:sp>
        <p:nvSpPr>
          <p:cNvPr id="81" name="Text 79"/>
          <p:cNvSpPr txBox="1"/>
          <p:nvPr/>
        </p:nvSpPr>
        <p:spPr>
          <a:xfrm>
            <a:off x="8247888" y="1261872"/>
            <a:ext cx="548640" cy="237744"/>
          </a:xfrm>
          <a:prstGeom prst="rect">
            <a:avLst/>
          </a:prstGeom>
          <a:noFill/>
          <a:ln/>
        </p:spPr>
        <p:txBody>
          <a:bodyPr wrap="square" lIns="0" tIns="0" rIns="0" bIns="0" rtlCol="0" anchor="ctr"/>
          <a:lstStyle/>
          <a:p>
            <a:pPr indent="0" marL="0">
              <a:buNone/>
            </a:pPr>
            <a:r>
              <a:rPr lang="en-US" sz="700" b="1" dirty="0">
                <a:solidFill>
                  <a:srgbClr val="14213D"/>
                </a:solidFill>
                <a:latin typeface="Calibri" pitchFamily="34" charset="0"/>
                <a:ea typeface="Calibri" pitchFamily="34" charset="-122"/>
                <a:cs typeface="Calibri" pitchFamily="34" charset="-120"/>
              </a:rPr>
              <a:t>Outputs</a:t>
            </a:r>
            <a:endParaRPr lang="en-US" sz="700" dirty="0"/>
          </a:p>
        </p:txBody>
      </p:sp>
      <p:sp>
        <p:nvSpPr>
          <p:cNvPr id="82" name="Text 80"/>
          <p:cNvSpPr txBox="1"/>
          <p:nvPr/>
        </p:nvSpPr>
        <p:spPr>
          <a:xfrm>
            <a:off x="8028432" y="1536192"/>
            <a:ext cx="749808" cy="384048"/>
          </a:xfrm>
          <a:prstGeom prst="rect">
            <a:avLst/>
          </a:prstGeom>
          <a:noFill/>
          <a:ln/>
        </p:spPr>
        <p:txBody>
          <a:bodyPr wrap="square" lIns="0" tIns="0" rIns="0" bIns="0" rtlCol="0" anchor="t"/>
          <a:lstStyle/>
          <a:p>
            <a:pPr indent="0" marL="0">
              <a:buNone/>
            </a:pPr>
            <a:r>
              <a:rPr lang="en-US" sz="580" dirty="0">
                <a:solidFill>
                  <a:srgbClr val="333333"/>
                </a:solidFill>
                <a:latin typeface="Calibri" pitchFamily="34" charset="0"/>
                <a:ea typeface="Calibri" pitchFamily="34" charset="-122"/>
                <a:cs typeface="Calibri" pitchFamily="34" charset="-120"/>
              </a:rPr>
              <a:t>card Â· PDF Â· ADR Â· log</a:t>
            </a:r>
            <a:endParaRPr lang="en-US" sz="580" dirty="0"/>
          </a:p>
        </p:txBody>
      </p:sp>
      <p:sp>
        <p:nvSpPr>
          <p:cNvPr id="83" name="Text 81"/>
          <p:cNvSpPr txBox="1"/>
          <p:nvPr/>
        </p:nvSpPr>
        <p:spPr>
          <a:xfrm>
            <a:off x="3401568" y="2103120"/>
            <a:ext cx="5486400" cy="182880"/>
          </a:xfrm>
          <a:prstGeom prst="rect">
            <a:avLst/>
          </a:prstGeom>
          <a:noFill/>
          <a:ln/>
        </p:spPr>
        <p:txBody>
          <a:bodyPr wrap="square" lIns="0" tIns="0" rIns="0" bIns="0" rtlCol="0" anchor="t"/>
          <a:lstStyle/>
          <a:p>
            <a:pPr indent="0" marL="0">
              <a:buNone/>
            </a:pPr>
            <a:r>
              <a:rPr lang="en-US" sz="750" b="1" spc="100" kern="0" dirty="0">
                <a:solidFill>
                  <a:srgbClr val="6D28D9"/>
                </a:solidFill>
                <a:latin typeface="Calibri" pitchFamily="34" charset="0"/>
                <a:ea typeface="Calibri" pitchFamily="34" charset="-122"/>
                <a:cs typeface="Calibri" pitchFamily="34" charset="-120"/>
              </a:rPr>
              <a:t>CURATION LOOP (team, offline from verdicts) Â· TinyFish</a:t>
            </a:r>
            <a:endParaRPr lang="en-US" sz="750" dirty="0"/>
          </a:p>
        </p:txBody>
      </p:sp>
      <p:sp>
        <p:nvSpPr>
          <p:cNvPr id="84" name="Shape 82"/>
          <p:cNvSpPr/>
          <p:nvPr/>
        </p:nvSpPr>
        <p:spPr>
          <a:xfrm>
            <a:off x="3401568" y="2313432"/>
            <a:ext cx="841248" cy="713232"/>
          </a:xfrm>
          <a:prstGeom prst="roundRect">
            <a:avLst>
              <a:gd name="adj" fmla="val 6410"/>
            </a:avLst>
          </a:prstGeom>
          <a:solidFill>
            <a:srgbClr val="F4F6FA"/>
          </a:solidFill>
          <a:ln w="9525">
            <a:solidFill>
              <a:srgbClr val="C9D0DD"/>
            </a:solidFill>
            <a:prstDash val="solid"/>
          </a:ln>
        </p:spPr>
      </p:sp>
      <p:sp>
        <p:nvSpPr>
          <p:cNvPr id="85" name="Shape 83"/>
          <p:cNvSpPr/>
          <p:nvPr/>
        </p:nvSpPr>
        <p:spPr>
          <a:xfrm>
            <a:off x="3456432" y="2368296"/>
            <a:ext cx="182880" cy="182880"/>
          </a:xfrm>
          <a:prstGeom prst="ellipse">
            <a:avLst/>
          </a:prstGeom>
          <a:solidFill>
            <a:srgbClr val="6D28D9"/>
          </a:solidFill>
          <a:ln w="12700">
            <a:solidFill>
              <a:srgbClr val="6D28D9"/>
            </a:solidFill>
            <a:prstDash val="solid"/>
          </a:ln>
        </p:spPr>
      </p:sp>
      <p:sp>
        <p:nvSpPr>
          <p:cNvPr id="86" name="Text 84"/>
          <p:cNvSpPr txBox="1"/>
          <p:nvPr/>
        </p:nvSpPr>
        <p:spPr>
          <a:xfrm>
            <a:off x="3456432" y="2368296"/>
            <a:ext cx="182880" cy="182880"/>
          </a:xfrm>
          <a:prstGeom prst="rect">
            <a:avLst/>
          </a:prstGeom>
          <a:noFill/>
          <a:ln/>
        </p:spPr>
        <p:txBody>
          <a:bodyPr wrap="square" lIns="0" tIns="0" rIns="0" bIns="0" rtlCol="0" anchor="ctr"/>
          <a:lstStyle/>
          <a:p>
            <a:pPr algn="ctr" indent="0" marL="0">
              <a:buNone/>
            </a:pPr>
            <a:r>
              <a:rPr lang="en-US" sz="680" b="1" dirty="0">
                <a:solidFill>
                  <a:srgbClr val="FFFFFF"/>
                </a:solidFill>
                <a:latin typeface="Calibri" pitchFamily="34" charset="0"/>
                <a:ea typeface="Calibri" pitchFamily="34" charset="-122"/>
                <a:cs typeface="Calibri" pitchFamily="34" charset="-120"/>
              </a:rPr>
              <a:t>a</a:t>
            </a:r>
            <a:endParaRPr lang="en-US" sz="680" dirty="0"/>
          </a:p>
        </p:txBody>
      </p:sp>
      <p:sp>
        <p:nvSpPr>
          <p:cNvPr id="87" name="Text 85"/>
          <p:cNvSpPr txBox="1"/>
          <p:nvPr/>
        </p:nvSpPr>
        <p:spPr>
          <a:xfrm>
            <a:off x="3675888" y="2340864"/>
            <a:ext cx="548640" cy="237744"/>
          </a:xfrm>
          <a:prstGeom prst="rect">
            <a:avLst/>
          </a:prstGeom>
          <a:noFill/>
          <a:ln/>
        </p:spPr>
        <p:txBody>
          <a:bodyPr wrap="square" lIns="0" tIns="0" rIns="0" bIns="0" rtlCol="0" anchor="ctr"/>
          <a:lstStyle/>
          <a:p>
            <a:pPr indent="0" marL="0">
              <a:buNone/>
            </a:pPr>
            <a:r>
              <a:rPr lang="en-US" sz="700" b="1" dirty="0">
                <a:solidFill>
                  <a:srgbClr val="14213D"/>
                </a:solidFill>
                <a:latin typeface="Calibri" pitchFamily="34" charset="0"/>
                <a:ea typeface="Calibri" pitchFamily="34" charset="-122"/>
                <a:cs typeface="Calibri" pitchFamily="34" charset="-120"/>
              </a:rPr>
              <a:t>Citations</a:t>
            </a:r>
            <a:endParaRPr lang="en-US" sz="700" dirty="0"/>
          </a:p>
        </p:txBody>
      </p:sp>
      <p:sp>
        <p:nvSpPr>
          <p:cNvPr id="88" name="Text 86"/>
          <p:cNvSpPr txBox="1"/>
          <p:nvPr/>
        </p:nvSpPr>
        <p:spPr>
          <a:xfrm>
            <a:off x="3456432" y="2615184"/>
            <a:ext cx="749808" cy="384048"/>
          </a:xfrm>
          <a:prstGeom prst="rect">
            <a:avLst/>
          </a:prstGeom>
          <a:noFill/>
          <a:ln/>
        </p:spPr>
        <p:txBody>
          <a:bodyPr wrap="square" lIns="0" tIns="0" rIns="0" bIns="0" rtlCol="0" anchor="t"/>
          <a:lstStyle/>
          <a:p>
            <a:pPr indent="0" marL="0">
              <a:buNone/>
            </a:pPr>
            <a:r>
              <a:rPr lang="en-US" sz="580" dirty="0">
                <a:solidFill>
                  <a:srgbClr val="333333"/>
                </a:solidFill>
                <a:latin typeface="Calibri" pitchFamily="34" charset="0"/>
                <a:ea typeface="Calibri" pitchFamily="34" charset="-122"/>
                <a:cs typeface="Calibri" pitchFamily="34" charset="-120"/>
              </a:rPr>
              <a:t>DOI / PubMed / URL in KB</a:t>
            </a:r>
            <a:endParaRPr lang="en-US" sz="580" dirty="0"/>
          </a:p>
        </p:txBody>
      </p:sp>
      <p:sp>
        <p:nvSpPr>
          <p:cNvPr id="89" name="Shape 87"/>
          <p:cNvSpPr/>
          <p:nvPr/>
        </p:nvSpPr>
        <p:spPr>
          <a:xfrm>
            <a:off x="4315968" y="2313432"/>
            <a:ext cx="841248" cy="713232"/>
          </a:xfrm>
          <a:prstGeom prst="roundRect">
            <a:avLst>
              <a:gd name="adj" fmla="val 6410"/>
            </a:avLst>
          </a:prstGeom>
          <a:solidFill>
            <a:srgbClr val="EDE9FE"/>
          </a:solidFill>
          <a:ln w="9525">
            <a:solidFill>
              <a:srgbClr val="C4B5FD"/>
            </a:solidFill>
            <a:prstDash val="solid"/>
          </a:ln>
        </p:spPr>
      </p:sp>
      <p:sp>
        <p:nvSpPr>
          <p:cNvPr id="90" name="Shape 88"/>
          <p:cNvSpPr/>
          <p:nvPr/>
        </p:nvSpPr>
        <p:spPr>
          <a:xfrm>
            <a:off x="4370832" y="2368296"/>
            <a:ext cx="182880" cy="182880"/>
          </a:xfrm>
          <a:prstGeom prst="ellipse">
            <a:avLst/>
          </a:prstGeom>
          <a:solidFill>
            <a:srgbClr val="6D28D9"/>
          </a:solidFill>
          <a:ln w="12700">
            <a:solidFill>
              <a:srgbClr val="6D28D9"/>
            </a:solidFill>
            <a:prstDash val="solid"/>
          </a:ln>
        </p:spPr>
      </p:sp>
      <p:sp>
        <p:nvSpPr>
          <p:cNvPr id="91" name="Text 89"/>
          <p:cNvSpPr txBox="1"/>
          <p:nvPr/>
        </p:nvSpPr>
        <p:spPr>
          <a:xfrm>
            <a:off x="4370832" y="2368296"/>
            <a:ext cx="182880" cy="182880"/>
          </a:xfrm>
          <a:prstGeom prst="rect">
            <a:avLst/>
          </a:prstGeom>
          <a:noFill/>
          <a:ln/>
        </p:spPr>
        <p:txBody>
          <a:bodyPr wrap="square" lIns="0" tIns="0" rIns="0" bIns="0" rtlCol="0" anchor="ctr"/>
          <a:lstStyle/>
          <a:p>
            <a:pPr algn="ctr" indent="0" marL="0">
              <a:buNone/>
            </a:pPr>
            <a:r>
              <a:rPr lang="en-US" sz="680" b="1" dirty="0">
                <a:solidFill>
                  <a:srgbClr val="FFFFFF"/>
                </a:solidFill>
                <a:latin typeface="Calibri" pitchFamily="34" charset="0"/>
                <a:ea typeface="Calibri" pitchFamily="34" charset="-122"/>
                <a:cs typeface="Calibri" pitchFamily="34" charset="-120"/>
              </a:rPr>
              <a:t>b</a:t>
            </a:r>
            <a:endParaRPr lang="en-US" sz="680" dirty="0"/>
          </a:p>
        </p:txBody>
      </p:sp>
      <p:sp>
        <p:nvSpPr>
          <p:cNvPr id="92" name="Text 90"/>
          <p:cNvSpPr txBox="1"/>
          <p:nvPr/>
        </p:nvSpPr>
        <p:spPr>
          <a:xfrm>
            <a:off x="4590288" y="2340864"/>
            <a:ext cx="548640" cy="237744"/>
          </a:xfrm>
          <a:prstGeom prst="rect">
            <a:avLst/>
          </a:prstGeom>
          <a:noFill/>
          <a:ln/>
        </p:spPr>
        <p:txBody>
          <a:bodyPr wrap="square" lIns="0" tIns="0" rIns="0" bIns="0" rtlCol="0" anchor="ctr"/>
          <a:lstStyle/>
          <a:p>
            <a:pPr indent="0" marL="0">
              <a:buNone/>
            </a:pPr>
            <a:r>
              <a:rPr lang="en-US" sz="700" b="1" dirty="0">
                <a:solidFill>
                  <a:srgbClr val="14213D"/>
                </a:solidFill>
                <a:latin typeface="Calibri" pitchFamily="34" charset="0"/>
                <a:ea typeface="Calibri" pitchFamily="34" charset="-122"/>
                <a:cs typeface="Calibri" pitchFamily="34" charset="-120"/>
              </a:rPr>
              <a:t>Fetch API</a:t>
            </a:r>
            <a:endParaRPr lang="en-US" sz="700" dirty="0"/>
          </a:p>
        </p:txBody>
      </p:sp>
      <p:sp>
        <p:nvSpPr>
          <p:cNvPr id="93" name="Text 91"/>
          <p:cNvSpPr txBox="1"/>
          <p:nvPr/>
        </p:nvSpPr>
        <p:spPr>
          <a:xfrm>
            <a:off x="4370832" y="2615184"/>
            <a:ext cx="749808" cy="384048"/>
          </a:xfrm>
          <a:prstGeom prst="rect">
            <a:avLst/>
          </a:prstGeom>
          <a:noFill/>
          <a:ln/>
        </p:spPr>
        <p:txBody>
          <a:bodyPr wrap="square" lIns="0" tIns="0" rIns="0" bIns="0" rtlCol="0" anchor="t"/>
          <a:lstStyle/>
          <a:p>
            <a:pPr indent="0" marL="0">
              <a:buNone/>
            </a:pPr>
            <a:r>
              <a:rPr lang="en-US" sz="580" dirty="0">
                <a:solidFill>
                  <a:srgbClr val="333333"/>
                </a:solidFill>
                <a:latin typeface="Calibri" pitchFamily="34" charset="0"/>
                <a:ea typeface="Calibri" pitchFamily="34" charset="-122"/>
                <a:cs typeface="Calibri" pitchFamily="34" charset="-120"/>
              </a:rPr>
              <a:t>page text + title</a:t>
            </a:r>
            <a:endParaRPr lang="en-US" sz="580" dirty="0"/>
          </a:p>
        </p:txBody>
      </p:sp>
      <p:sp>
        <p:nvSpPr>
          <p:cNvPr id="94" name="Shape 92"/>
          <p:cNvSpPr/>
          <p:nvPr/>
        </p:nvSpPr>
        <p:spPr>
          <a:xfrm>
            <a:off x="5230368" y="2313432"/>
            <a:ext cx="841248" cy="713232"/>
          </a:xfrm>
          <a:prstGeom prst="roundRect">
            <a:avLst>
              <a:gd name="adj" fmla="val 6410"/>
            </a:avLst>
          </a:prstGeom>
          <a:solidFill>
            <a:srgbClr val="EDE9FE"/>
          </a:solidFill>
          <a:ln w="9525">
            <a:solidFill>
              <a:srgbClr val="C4B5FD"/>
            </a:solidFill>
            <a:prstDash val="solid"/>
          </a:ln>
        </p:spPr>
      </p:sp>
      <p:sp>
        <p:nvSpPr>
          <p:cNvPr id="95" name="Shape 93"/>
          <p:cNvSpPr/>
          <p:nvPr/>
        </p:nvSpPr>
        <p:spPr>
          <a:xfrm>
            <a:off x="5285232" y="2368296"/>
            <a:ext cx="182880" cy="182880"/>
          </a:xfrm>
          <a:prstGeom prst="ellipse">
            <a:avLst/>
          </a:prstGeom>
          <a:solidFill>
            <a:srgbClr val="6D28D9"/>
          </a:solidFill>
          <a:ln w="12700">
            <a:solidFill>
              <a:srgbClr val="6D28D9"/>
            </a:solidFill>
            <a:prstDash val="solid"/>
          </a:ln>
        </p:spPr>
      </p:sp>
      <p:sp>
        <p:nvSpPr>
          <p:cNvPr id="96" name="Text 94"/>
          <p:cNvSpPr txBox="1"/>
          <p:nvPr/>
        </p:nvSpPr>
        <p:spPr>
          <a:xfrm>
            <a:off x="5285232" y="2368296"/>
            <a:ext cx="182880" cy="182880"/>
          </a:xfrm>
          <a:prstGeom prst="rect">
            <a:avLst/>
          </a:prstGeom>
          <a:noFill/>
          <a:ln/>
        </p:spPr>
        <p:txBody>
          <a:bodyPr wrap="square" lIns="0" tIns="0" rIns="0" bIns="0" rtlCol="0" anchor="ctr"/>
          <a:lstStyle/>
          <a:p>
            <a:pPr algn="ctr" indent="0" marL="0">
              <a:buNone/>
            </a:pPr>
            <a:r>
              <a:rPr lang="en-US" sz="680" b="1" dirty="0">
                <a:solidFill>
                  <a:srgbClr val="FFFFFF"/>
                </a:solidFill>
                <a:latin typeface="Calibri" pitchFamily="34" charset="0"/>
                <a:ea typeface="Calibri" pitchFamily="34" charset="-122"/>
                <a:cs typeface="Calibri" pitchFamily="34" charset="-120"/>
              </a:rPr>
              <a:t>c</a:t>
            </a:r>
            <a:endParaRPr lang="en-US" sz="680" dirty="0"/>
          </a:p>
        </p:txBody>
      </p:sp>
      <p:sp>
        <p:nvSpPr>
          <p:cNvPr id="97" name="Text 95"/>
          <p:cNvSpPr txBox="1"/>
          <p:nvPr/>
        </p:nvSpPr>
        <p:spPr>
          <a:xfrm>
            <a:off x="5504688" y="2340864"/>
            <a:ext cx="548640" cy="237744"/>
          </a:xfrm>
          <a:prstGeom prst="rect">
            <a:avLst/>
          </a:prstGeom>
          <a:noFill/>
          <a:ln/>
        </p:spPr>
        <p:txBody>
          <a:bodyPr wrap="square" lIns="0" tIns="0" rIns="0" bIns="0" rtlCol="0" anchor="ctr"/>
          <a:lstStyle/>
          <a:p>
            <a:pPr indent="0" marL="0">
              <a:buNone/>
            </a:pPr>
            <a:r>
              <a:rPr lang="en-US" sz="700" b="1" dirty="0">
                <a:solidFill>
                  <a:srgbClr val="14213D"/>
                </a:solidFill>
                <a:latin typeface="Calibri" pitchFamily="34" charset="0"/>
                <a:ea typeface="Calibri" pitchFamily="34" charset="-122"/>
                <a:cs typeface="Calibri" pitchFamily="34" charset="-120"/>
              </a:rPr>
              <a:t>Verify</a:t>
            </a:r>
            <a:endParaRPr lang="en-US" sz="700" dirty="0"/>
          </a:p>
        </p:txBody>
      </p:sp>
      <p:sp>
        <p:nvSpPr>
          <p:cNvPr id="98" name="Text 96"/>
          <p:cNvSpPr txBox="1"/>
          <p:nvPr/>
        </p:nvSpPr>
        <p:spPr>
          <a:xfrm>
            <a:off x="5285232" y="2615184"/>
            <a:ext cx="749808" cy="384048"/>
          </a:xfrm>
          <a:prstGeom prst="rect">
            <a:avLst/>
          </a:prstGeom>
          <a:noFill/>
          <a:ln/>
        </p:spPr>
        <p:txBody>
          <a:bodyPr wrap="square" lIns="0" tIns="0" rIns="0" bIns="0" rtlCol="0" anchor="t"/>
          <a:lstStyle/>
          <a:p>
            <a:pPr indent="0" marL="0">
              <a:buNone/>
            </a:pPr>
            <a:r>
              <a:rPr lang="en-US" sz="580" dirty="0">
                <a:solidFill>
                  <a:srgbClr val="333333"/>
                </a:solidFill>
                <a:latin typeface="Calibri" pitchFamily="34" charset="0"/>
                <a:ea typeface="Calibri" pitchFamily="34" charset="-122"/>
                <a:cs typeface="Calibri" pitchFamily="34" charset="-120"/>
              </a:rPr>
              <a:t>title-match â‰¥ 60% â†’ verified; else draft</a:t>
            </a:r>
            <a:endParaRPr lang="en-US" sz="580" dirty="0"/>
          </a:p>
        </p:txBody>
      </p:sp>
      <p:sp>
        <p:nvSpPr>
          <p:cNvPr id="99" name="Shape 97"/>
          <p:cNvSpPr/>
          <p:nvPr/>
        </p:nvSpPr>
        <p:spPr>
          <a:xfrm>
            <a:off x="6144768" y="2313432"/>
            <a:ext cx="841248" cy="713232"/>
          </a:xfrm>
          <a:prstGeom prst="roundRect">
            <a:avLst>
              <a:gd name="adj" fmla="val 6410"/>
            </a:avLst>
          </a:prstGeom>
          <a:solidFill>
            <a:srgbClr val="EDE9FE"/>
          </a:solidFill>
          <a:ln w="9525">
            <a:solidFill>
              <a:srgbClr val="C4B5FD"/>
            </a:solidFill>
            <a:prstDash val="solid"/>
          </a:ln>
        </p:spPr>
      </p:sp>
      <p:sp>
        <p:nvSpPr>
          <p:cNvPr id="100" name="Shape 98"/>
          <p:cNvSpPr/>
          <p:nvPr/>
        </p:nvSpPr>
        <p:spPr>
          <a:xfrm>
            <a:off x="6199632" y="2368296"/>
            <a:ext cx="182880" cy="182880"/>
          </a:xfrm>
          <a:prstGeom prst="ellipse">
            <a:avLst/>
          </a:prstGeom>
          <a:solidFill>
            <a:srgbClr val="6D28D9"/>
          </a:solidFill>
          <a:ln w="12700">
            <a:solidFill>
              <a:srgbClr val="6D28D9"/>
            </a:solidFill>
            <a:prstDash val="solid"/>
          </a:ln>
        </p:spPr>
      </p:sp>
      <p:sp>
        <p:nvSpPr>
          <p:cNvPr id="101" name="Text 99"/>
          <p:cNvSpPr txBox="1"/>
          <p:nvPr/>
        </p:nvSpPr>
        <p:spPr>
          <a:xfrm>
            <a:off x="6199632" y="2368296"/>
            <a:ext cx="182880" cy="182880"/>
          </a:xfrm>
          <a:prstGeom prst="rect">
            <a:avLst/>
          </a:prstGeom>
          <a:noFill/>
          <a:ln/>
        </p:spPr>
        <p:txBody>
          <a:bodyPr wrap="square" lIns="0" tIns="0" rIns="0" bIns="0" rtlCol="0" anchor="ctr"/>
          <a:lstStyle/>
          <a:p>
            <a:pPr algn="ctr" indent="0" marL="0">
              <a:buNone/>
            </a:pPr>
            <a:r>
              <a:rPr lang="en-US" sz="680" b="1" dirty="0">
                <a:solidFill>
                  <a:srgbClr val="FFFFFF"/>
                </a:solidFill>
                <a:latin typeface="Calibri" pitchFamily="34" charset="0"/>
                <a:ea typeface="Calibri" pitchFamily="34" charset="-122"/>
                <a:cs typeface="Calibri" pitchFamily="34" charset="-120"/>
              </a:rPr>
              <a:t>d</a:t>
            </a:r>
            <a:endParaRPr lang="en-US" sz="680" dirty="0"/>
          </a:p>
        </p:txBody>
      </p:sp>
      <p:sp>
        <p:nvSpPr>
          <p:cNvPr id="102" name="Text 100"/>
          <p:cNvSpPr txBox="1"/>
          <p:nvPr/>
        </p:nvSpPr>
        <p:spPr>
          <a:xfrm>
            <a:off x="6419088" y="2340864"/>
            <a:ext cx="548640" cy="237744"/>
          </a:xfrm>
          <a:prstGeom prst="rect">
            <a:avLst/>
          </a:prstGeom>
          <a:noFill/>
          <a:ln/>
        </p:spPr>
        <p:txBody>
          <a:bodyPr wrap="square" lIns="0" tIns="0" rIns="0" bIns="0" rtlCol="0" anchor="ctr"/>
          <a:lstStyle/>
          <a:p>
            <a:pPr indent="0" marL="0">
              <a:buNone/>
            </a:pPr>
            <a:r>
              <a:rPr lang="en-US" sz="700" b="1" dirty="0">
                <a:solidFill>
                  <a:srgbClr val="14213D"/>
                </a:solidFill>
                <a:latin typeface="Calibri" pitchFamily="34" charset="0"/>
                <a:ea typeface="Calibri" pitchFamily="34" charset="-122"/>
                <a:cs typeface="Calibri" pitchFamily="34" charset="-120"/>
              </a:rPr>
              <a:t>Web Agent</a:t>
            </a:r>
            <a:endParaRPr lang="en-US" sz="700" dirty="0"/>
          </a:p>
        </p:txBody>
      </p:sp>
      <p:sp>
        <p:nvSpPr>
          <p:cNvPr id="103" name="Text 101"/>
          <p:cNvSpPr txBox="1"/>
          <p:nvPr/>
        </p:nvSpPr>
        <p:spPr>
          <a:xfrm>
            <a:off x="6199632" y="2615184"/>
            <a:ext cx="749808" cy="384048"/>
          </a:xfrm>
          <a:prstGeom prst="rect">
            <a:avLst/>
          </a:prstGeom>
          <a:noFill/>
          <a:ln/>
        </p:spPr>
        <p:txBody>
          <a:bodyPr wrap="square" lIns="0" tIns="0" rIns="0" bIns="0" rtlCol="0" anchor="t"/>
          <a:lstStyle/>
          <a:p>
            <a:pPr indent="0" marL="0">
              <a:buNone/>
            </a:pPr>
            <a:r>
              <a:rPr lang="en-US" sz="580" dirty="0">
                <a:solidFill>
                  <a:srgbClr val="333333"/>
                </a:solidFill>
                <a:latin typeface="Calibri" pitchFamily="34" charset="0"/>
                <a:ea typeface="Calibri" pitchFamily="34" charset="-122"/>
                <a:cs typeface="Calibri" pitchFamily="34" charset="-120"/>
              </a:rPr>
              <a:t>monograph â†’ candidate rows (JSON)</a:t>
            </a:r>
            <a:endParaRPr lang="en-US" sz="580" dirty="0"/>
          </a:p>
        </p:txBody>
      </p:sp>
      <p:sp>
        <p:nvSpPr>
          <p:cNvPr id="104" name="Shape 102"/>
          <p:cNvSpPr/>
          <p:nvPr/>
        </p:nvSpPr>
        <p:spPr>
          <a:xfrm>
            <a:off x="7059168" y="2313432"/>
            <a:ext cx="841248" cy="713232"/>
          </a:xfrm>
          <a:prstGeom prst="roundRect">
            <a:avLst>
              <a:gd name="adj" fmla="val 6410"/>
            </a:avLst>
          </a:prstGeom>
          <a:solidFill>
            <a:srgbClr val="EDE9FE"/>
          </a:solidFill>
          <a:ln w="9525">
            <a:solidFill>
              <a:srgbClr val="C4B5FD"/>
            </a:solidFill>
            <a:prstDash val="solid"/>
          </a:ln>
        </p:spPr>
      </p:sp>
      <p:sp>
        <p:nvSpPr>
          <p:cNvPr id="105" name="Shape 103"/>
          <p:cNvSpPr/>
          <p:nvPr/>
        </p:nvSpPr>
        <p:spPr>
          <a:xfrm>
            <a:off x="7114032" y="2368296"/>
            <a:ext cx="182880" cy="182880"/>
          </a:xfrm>
          <a:prstGeom prst="ellipse">
            <a:avLst/>
          </a:prstGeom>
          <a:solidFill>
            <a:srgbClr val="6D28D9"/>
          </a:solidFill>
          <a:ln w="12700">
            <a:solidFill>
              <a:srgbClr val="6D28D9"/>
            </a:solidFill>
            <a:prstDash val="solid"/>
          </a:ln>
        </p:spPr>
      </p:sp>
      <p:sp>
        <p:nvSpPr>
          <p:cNvPr id="106" name="Text 104"/>
          <p:cNvSpPr txBox="1"/>
          <p:nvPr/>
        </p:nvSpPr>
        <p:spPr>
          <a:xfrm>
            <a:off x="7114032" y="2368296"/>
            <a:ext cx="182880" cy="182880"/>
          </a:xfrm>
          <a:prstGeom prst="rect">
            <a:avLst/>
          </a:prstGeom>
          <a:noFill/>
          <a:ln/>
        </p:spPr>
        <p:txBody>
          <a:bodyPr wrap="square" lIns="0" tIns="0" rIns="0" bIns="0" rtlCol="0" anchor="ctr"/>
          <a:lstStyle/>
          <a:p>
            <a:pPr algn="ctr" indent="0" marL="0">
              <a:buNone/>
            </a:pPr>
            <a:r>
              <a:rPr lang="en-US" sz="680" b="1" dirty="0">
                <a:solidFill>
                  <a:srgbClr val="FFFFFF"/>
                </a:solidFill>
                <a:latin typeface="Calibri" pitchFamily="34" charset="0"/>
                <a:ea typeface="Calibri" pitchFamily="34" charset="-122"/>
                <a:cs typeface="Calibri" pitchFamily="34" charset="-120"/>
              </a:rPr>
              <a:t>e</a:t>
            </a:r>
            <a:endParaRPr lang="en-US" sz="680" dirty="0"/>
          </a:p>
        </p:txBody>
      </p:sp>
      <p:sp>
        <p:nvSpPr>
          <p:cNvPr id="107" name="Text 105"/>
          <p:cNvSpPr txBox="1"/>
          <p:nvPr/>
        </p:nvSpPr>
        <p:spPr>
          <a:xfrm>
            <a:off x="7333488" y="2340864"/>
            <a:ext cx="548640" cy="237744"/>
          </a:xfrm>
          <a:prstGeom prst="rect">
            <a:avLst/>
          </a:prstGeom>
          <a:noFill/>
          <a:ln/>
        </p:spPr>
        <p:txBody>
          <a:bodyPr wrap="square" lIns="0" tIns="0" rIns="0" bIns="0" rtlCol="0" anchor="ctr"/>
          <a:lstStyle/>
          <a:p>
            <a:pPr indent="0" marL="0">
              <a:buNone/>
            </a:pPr>
            <a:r>
              <a:rPr lang="en-US" sz="700" b="1" dirty="0">
                <a:solidFill>
                  <a:srgbClr val="14213D"/>
                </a:solidFill>
                <a:latin typeface="Calibri" pitchFamily="34" charset="0"/>
                <a:ea typeface="Calibri" pitchFamily="34" charset="-122"/>
                <a:cs typeface="Calibri" pitchFamily="34" charset="-120"/>
              </a:rPr>
              <a:t>Search+Agent</a:t>
            </a:r>
            <a:endParaRPr lang="en-US" sz="700" dirty="0"/>
          </a:p>
        </p:txBody>
      </p:sp>
      <p:sp>
        <p:nvSpPr>
          <p:cNvPr id="108" name="Text 106"/>
          <p:cNvSpPr txBox="1"/>
          <p:nvPr/>
        </p:nvSpPr>
        <p:spPr>
          <a:xfrm>
            <a:off x="7114032" y="2615184"/>
            <a:ext cx="749808" cy="384048"/>
          </a:xfrm>
          <a:prstGeom prst="rect">
            <a:avLst/>
          </a:prstGeom>
          <a:noFill/>
          <a:ln/>
        </p:spPr>
        <p:txBody>
          <a:bodyPr wrap="square" lIns="0" tIns="0" rIns="0" bIns="0" rtlCol="0" anchor="t"/>
          <a:lstStyle/>
          <a:p>
            <a:pPr indent="0" marL="0">
              <a:buNone/>
            </a:pPr>
            <a:r>
              <a:rPr lang="en-US" sz="580" dirty="0">
                <a:solidFill>
                  <a:srgbClr val="333333"/>
                </a:solidFill>
                <a:latin typeface="Calibri" pitchFamily="34" charset="0"/>
                <a:ea typeface="Calibri" pitchFamily="34" charset="-122"/>
                <a:cs typeface="Calibri" pitchFamily="34" charset="-120"/>
              </a:rPr>
              <a:t>product page â†’ ingredients</a:t>
            </a:r>
            <a:endParaRPr lang="en-US" sz="580" dirty="0"/>
          </a:p>
        </p:txBody>
      </p:sp>
      <p:sp>
        <p:nvSpPr>
          <p:cNvPr id="109" name="Shape 107"/>
          <p:cNvSpPr/>
          <p:nvPr/>
        </p:nvSpPr>
        <p:spPr>
          <a:xfrm>
            <a:off x="7973568" y="2313432"/>
            <a:ext cx="841248" cy="713232"/>
          </a:xfrm>
          <a:prstGeom prst="roundRect">
            <a:avLst>
              <a:gd name="adj" fmla="val 6410"/>
            </a:avLst>
          </a:prstGeom>
          <a:solidFill>
            <a:srgbClr val="F4F6FA"/>
          </a:solidFill>
          <a:ln w="9525">
            <a:solidFill>
              <a:srgbClr val="C9D0DD"/>
            </a:solidFill>
            <a:prstDash val="solid"/>
          </a:ln>
        </p:spPr>
      </p:sp>
      <p:sp>
        <p:nvSpPr>
          <p:cNvPr id="110" name="Shape 108"/>
          <p:cNvSpPr/>
          <p:nvPr/>
        </p:nvSpPr>
        <p:spPr>
          <a:xfrm>
            <a:off x="8028432" y="2368296"/>
            <a:ext cx="182880" cy="182880"/>
          </a:xfrm>
          <a:prstGeom prst="ellipse">
            <a:avLst/>
          </a:prstGeom>
          <a:solidFill>
            <a:srgbClr val="6D28D9"/>
          </a:solidFill>
          <a:ln w="12700">
            <a:solidFill>
              <a:srgbClr val="6D28D9"/>
            </a:solidFill>
            <a:prstDash val="solid"/>
          </a:ln>
        </p:spPr>
      </p:sp>
      <p:sp>
        <p:nvSpPr>
          <p:cNvPr id="111" name="Text 109"/>
          <p:cNvSpPr txBox="1"/>
          <p:nvPr/>
        </p:nvSpPr>
        <p:spPr>
          <a:xfrm>
            <a:off x="8028432" y="2368296"/>
            <a:ext cx="182880" cy="182880"/>
          </a:xfrm>
          <a:prstGeom prst="rect">
            <a:avLst/>
          </a:prstGeom>
          <a:noFill/>
          <a:ln/>
        </p:spPr>
        <p:txBody>
          <a:bodyPr wrap="square" lIns="0" tIns="0" rIns="0" bIns="0" rtlCol="0" anchor="ctr"/>
          <a:lstStyle/>
          <a:p>
            <a:pPr algn="ctr" indent="0" marL="0">
              <a:buNone/>
            </a:pPr>
            <a:r>
              <a:rPr lang="en-US" sz="680" b="1" dirty="0">
                <a:solidFill>
                  <a:srgbClr val="FFFFFF"/>
                </a:solidFill>
                <a:latin typeface="Calibri" pitchFamily="34" charset="0"/>
                <a:ea typeface="Calibri" pitchFamily="34" charset="-122"/>
                <a:cs typeface="Calibri" pitchFamily="34" charset="-120"/>
              </a:rPr>
              <a:t>f</a:t>
            </a:r>
            <a:endParaRPr lang="en-US" sz="680" dirty="0"/>
          </a:p>
        </p:txBody>
      </p:sp>
      <p:sp>
        <p:nvSpPr>
          <p:cNvPr id="112" name="Text 110"/>
          <p:cNvSpPr txBox="1"/>
          <p:nvPr/>
        </p:nvSpPr>
        <p:spPr>
          <a:xfrm>
            <a:off x="8247888" y="2340864"/>
            <a:ext cx="548640" cy="237744"/>
          </a:xfrm>
          <a:prstGeom prst="rect">
            <a:avLst/>
          </a:prstGeom>
          <a:noFill/>
          <a:ln/>
        </p:spPr>
        <p:txBody>
          <a:bodyPr wrap="square" lIns="0" tIns="0" rIns="0" bIns="0" rtlCol="0" anchor="ctr"/>
          <a:lstStyle/>
          <a:p>
            <a:pPr indent="0" marL="0">
              <a:buNone/>
            </a:pPr>
            <a:r>
              <a:rPr lang="en-US" sz="700" b="1" dirty="0">
                <a:solidFill>
                  <a:srgbClr val="14213D"/>
                </a:solidFill>
                <a:latin typeface="Calibri" pitchFamily="34" charset="0"/>
                <a:ea typeface="Calibri" pitchFamily="34" charset="-122"/>
                <a:cs typeface="Calibri" pitchFamily="34" charset="-120"/>
              </a:rPr>
              <a:t>Reviewer</a:t>
            </a:r>
            <a:endParaRPr lang="en-US" sz="700" dirty="0"/>
          </a:p>
        </p:txBody>
      </p:sp>
      <p:sp>
        <p:nvSpPr>
          <p:cNvPr id="113" name="Text 111"/>
          <p:cNvSpPr txBox="1"/>
          <p:nvPr/>
        </p:nvSpPr>
        <p:spPr>
          <a:xfrm>
            <a:off x="8028432" y="2615184"/>
            <a:ext cx="749808" cy="384048"/>
          </a:xfrm>
          <a:prstGeom prst="rect">
            <a:avLst/>
          </a:prstGeom>
          <a:noFill/>
          <a:ln/>
        </p:spPr>
        <p:txBody>
          <a:bodyPr wrap="square" lIns="0" tIns="0" rIns="0" bIns="0" rtlCol="0" anchor="t"/>
          <a:lstStyle/>
          <a:p>
            <a:pPr indent="0" marL="0">
              <a:buNone/>
            </a:pPr>
            <a:r>
              <a:rPr lang="en-US" sz="580" dirty="0">
                <a:solidFill>
                  <a:srgbClr val="333333"/>
                </a:solidFill>
                <a:latin typeface="Calibri" pitchFamily="34" charset="0"/>
                <a:ea typeface="Calibri" pitchFamily="34" charset="-122"/>
                <a:cs typeface="Calibri" pitchFamily="34" charset="-120"/>
              </a:rPr>
              <a:t>approve / reject â†’ re-seed KB</a:t>
            </a:r>
            <a:endParaRPr lang="en-US" sz="580" dirty="0"/>
          </a:p>
        </p:txBody>
      </p:sp>
      <p:sp>
        <p:nvSpPr>
          <p:cNvPr id="114" name="Text 112"/>
          <p:cNvSpPr txBox="1"/>
          <p:nvPr/>
        </p:nvSpPr>
        <p:spPr>
          <a:xfrm>
            <a:off x="3401568" y="3154680"/>
            <a:ext cx="1828800" cy="182880"/>
          </a:xfrm>
          <a:prstGeom prst="rect">
            <a:avLst/>
          </a:prstGeom>
          <a:noFill/>
          <a:ln/>
        </p:spPr>
        <p:txBody>
          <a:bodyPr wrap="square" lIns="0" tIns="0" rIns="0" bIns="0" rtlCol="0" anchor="t"/>
          <a:lstStyle/>
          <a:p>
            <a:pPr indent="0" marL="0">
              <a:buNone/>
            </a:pPr>
            <a:r>
              <a:rPr lang="en-US" sz="750" b="1" spc="100" kern="0" dirty="0">
                <a:solidFill>
                  <a:srgbClr val="14213D"/>
                </a:solidFill>
                <a:latin typeface="Calibri" pitchFamily="34" charset="0"/>
                <a:ea typeface="Calibri" pitchFamily="34" charset="-122"/>
                <a:cs typeface="Calibri" pitchFamily="34" charset="-120"/>
              </a:rPr>
              <a:t>GUARDRAILS</a:t>
            </a:r>
            <a:endParaRPr lang="en-US" sz="750" dirty="0"/>
          </a:p>
        </p:txBody>
      </p:sp>
      <p:sp>
        <p:nvSpPr>
          <p:cNvPr id="115" name="Shape 113"/>
          <p:cNvSpPr/>
          <p:nvPr/>
        </p:nvSpPr>
        <p:spPr>
          <a:xfrm>
            <a:off x="3401568" y="3364992"/>
            <a:ext cx="1737360" cy="1371600"/>
          </a:xfrm>
          <a:prstGeom prst="roundRect">
            <a:avLst>
              <a:gd name="adj" fmla="val 3333"/>
            </a:avLst>
          </a:prstGeom>
          <a:solidFill>
            <a:srgbClr val="F4F6FA"/>
          </a:solidFill>
          <a:ln w="9525">
            <a:solidFill>
              <a:srgbClr val="C9D0DD"/>
            </a:solidFill>
            <a:prstDash val="solid"/>
          </a:ln>
        </p:spPr>
      </p:sp>
      <p:sp>
        <p:nvSpPr>
          <p:cNvPr id="116" name="Text 114"/>
          <p:cNvSpPr txBox="1"/>
          <p:nvPr/>
        </p:nvSpPr>
        <p:spPr>
          <a:xfrm>
            <a:off x="3474720" y="3401568"/>
            <a:ext cx="1600200" cy="237744"/>
          </a:xfrm>
          <a:prstGeom prst="rect">
            <a:avLst/>
          </a:prstGeom>
          <a:noFill/>
          <a:ln/>
        </p:spPr>
        <p:txBody>
          <a:bodyPr wrap="square" lIns="0" tIns="0" rIns="0" bIns="0" rtlCol="0" anchor="ctr"/>
          <a:lstStyle/>
          <a:p>
            <a:pPr indent="0" marL="0">
              <a:buNone/>
            </a:pPr>
            <a:r>
              <a:rPr lang="en-US" sz="780" b="1" dirty="0">
                <a:solidFill>
                  <a:srgbClr val="14213D"/>
                </a:solidFill>
                <a:latin typeface="Calibri" pitchFamily="34" charset="0"/>
                <a:ea typeface="Calibri" pitchFamily="34" charset="-122"/>
                <a:cs typeface="Calibri" pitchFamily="34" charset="-120"/>
              </a:rPr>
              <a:t>Verdict path</a:t>
            </a:r>
            <a:endParaRPr lang="en-US" sz="780" dirty="0"/>
          </a:p>
        </p:txBody>
      </p:sp>
      <p:sp>
        <p:nvSpPr>
          <p:cNvPr id="117" name="Text 115"/>
          <p:cNvSpPr txBox="1"/>
          <p:nvPr/>
        </p:nvSpPr>
        <p:spPr>
          <a:xfrm>
            <a:off x="3474720" y="3657600"/>
            <a:ext cx="1600200" cy="1051560"/>
          </a:xfrm>
          <a:prstGeom prst="rect">
            <a:avLst/>
          </a:prstGeom>
          <a:noFill/>
          <a:ln/>
        </p:spPr>
        <p:txBody>
          <a:bodyPr wrap="square" lIns="0" tIns="0" rIns="0" bIns="0" rtlCol="0" anchor="t"/>
          <a:lstStyle/>
          <a:p>
            <a:pPr indent="0" marL="0">
              <a:buNone/>
            </a:pPr>
            <a:r>
              <a:rPr lang="en-US" sz="650" dirty="0">
                <a:solidFill>
                  <a:srgbClr val="333333"/>
                </a:solidFill>
                <a:latin typeface="Calibri" pitchFamily="34" charset="0"/>
                <a:ea typeface="Calibri" pitchFamily="34" charset="-122"/>
                <a:cs typeface="Calibri" pitchFamily="34" charset="-120"/>
              </a:rPr>
              <a:t>Worst row wins (RED &gt; AMBER &gt; GREEN); unknown is GREY, never GREEN; grade-C evidence caps at AMBER; identical with AI off.</a:t>
            </a:r>
            <a:endParaRPr lang="en-US" sz="650" dirty="0"/>
          </a:p>
        </p:txBody>
      </p:sp>
      <p:sp>
        <p:nvSpPr>
          <p:cNvPr id="118" name="Shape 116"/>
          <p:cNvSpPr/>
          <p:nvPr/>
        </p:nvSpPr>
        <p:spPr>
          <a:xfrm>
            <a:off x="5230368" y="3364992"/>
            <a:ext cx="1737360" cy="1371600"/>
          </a:xfrm>
          <a:prstGeom prst="roundRect">
            <a:avLst>
              <a:gd name="adj" fmla="val 3333"/>
            </a:avLst>
          </a:prstGeom>
          <a:solidFill>
            <a:srgbClr val="F4F6FA"/>
          </a:solidFill>
          <a:ln w="9525">
            <a:solidFill>
              <a:srgbClr val="C9D0DD"/>
            </a:solidFill>
            <a:prstDash val="solid"/>
          </a:ln>
        </p:spPr>
      </p:sp>
      <p:sp>
        <p:nvSpPr>
          <p:cNvPr id="119" name="Text 117"/>
          <p:cNvSpPr txBox="1"/>
          <p:nvPr/>
        </p:nvSpPr>
        <p:spPr>
          <a:xfrm>
            <a:off x="5303520" y="3401568"/>
            <a:ext cx="1600200" cy="237744"/>
          </a:xfrm>
          <a:prstGeom prst="rect">
            <a:avLst/>
          </a:prstGeom>
          <a:noFill/>
          <a:ln/>
        </p:spPr>
        <p:txBody>
          <a:bodyPr wrap="square" lIns="0" tIns="0" rIns="0" bIns="0" rtlCol="0" anchor="ctr"/>
          <a:lstStyle/>
          <a:p>
            <a:pPr indent="0" marL="0">
              <a:buNone/>
            </a:pPr>
            <a:r>
              <a:rPr lang="en-US" sz="780" b="1" dirty="0">
                <a:solidFill>
                  <a:srgbClr val="14213D"/>
                </a:solidFill>
                <a:latin typeface="Calibri" pitchFamily="34" charset="0"/>
                <a:ea typeface="Calibri" pitchFamily="34" charset="-122"/>
                <a:cs typeface="Calibri" pitchFamily="34" charset="-120"/>
              </a:rPr>
              <a:t>AI guardrail</a:t>
            </a:r>
            <a:endParaRPr lang="en-US" sz="780" dirty="0"/>
          </a:p>
        </p:txBody>
      </p:sp>
      <p:sp>
        <p:nvSpPr>
          <p:cNvPr id="120" name="Text 118"/>
          <p:cNvSpPr txBox="1"/>
          <p:nvPr/>
        </p:nvSpPr>
        <p:spPr>
          <a:xfrm>
            <a:off x="5303520" y="3657600"/>
            <a:ext cx="1600200" cy="1051560"/>
          </a:xfrm>
          <a:prstGeom prst="rect">
            <a:avLst/>
          </a:prstGeom>
          <a:noFill/>
          <a:ln/>
        </p:spPr>
        <p:txBody>
          <a:bodyPr wrap="square" lIns="0" tIns="0" rIns="0" bIns="0" rtlCol="0" anchor="t"/>
          <a:lstStyle/>
          <a:p>
            <a:pPr indent="0" marL="0">
              <a:buNone/>
            </a:pPr>
            <a:r>
              <a:rPr lang="en-US" sz="650" dirty="0">
                <a:solidFill>
                  <a:srgbClr val="333333"/>
                </a:solidFill>
                <a:latin typeface="Calibri" pitchFamily="34" charset="0"/>
                <a:ea typeface="Calibri" pitchFamily="34" charset="-122"/>
                <a:cs typeface="Calibri" pitchFamily="34" charset="-120"/>
              </a:rPr>
              <a:t>LLM receives matched rows only; strict JSON schema; â€œstop / start / dose / mgâ€ rejected in English and Hindi; KB text fallback.</a:t>
            </a:r>
            <a:endParaRPr lang="en-US" sz="650" dirty="0"/>
          </a:p>
        </p:txBody>
      </p:sp>
      <p:sp>
        <p:nvSpPr>
          <p:cNvPr id="121" name="Shape 119"/>
          <p:cNvSpPr/>
          <p:nvPr/>
        </p:nvSpPr>
        <p:spPr>
          <a:xfrm>
            <a:off x="7059168" y="3364992"/>
            <a:ext cx="1737360" cy="1371600"/>
          </a:xfrm>
          <a:prstGeom prst="roundRect">
            <a:avLst>
              <a:gd name="adj" fmla="val 3333"/>
            </a:avLst>
          </a:prstGeom>
          <a:solidFill>
            <a:srgbClr val="F4F6FA"/>
          </a:solidFill>
          <a:ln w="9525">
            <a:solidFill>
              <a:srgbClr val="C9D0DD"/>
            </a:solidFill>
            <a:prstDash val="solid"/>
          </a:ln>
        </p:spPr>
      </p:sp>
      <p:sp>
        <p:nvSpPr>
          <p:cNvPr id="122" name="Text 120"/>
          <p:cNvSpPr txBox="1"/>
          <p:nvPr/>
        </p:nvSpPr>
        <p:spPr>
          <a:xfrm>
            <a:off x="7132320" y="3401568"/>
            <a:ext cx="1600200" cy="237744"/>
          </a:xfrm>
          <a:prstGeom prst="rect">
            <a:avLst/>
          </a:prstGeom>
          <a:noFill/>
          <a:ln/>
        </p:spPr>
        <p:txBody>
          <a:bodyPr wrap="square" lIns="0" tIns="0" rIns="0" bIns="0" rtlCol="0" anchor="ctr"/>
          <a:lstStyle/>
          <a:p>
            <a:pPr indent="0" marL="0">
              <a:buNone/>
            </a:pPr>
            <a:r>
              <a:rPr lang="en-US" sz="780" b="1" dirty="0">
                <a:solidFill>
                  <a:srgbClr val="6D28D9"/>
                </a:solidFill>
                <a:latin typeface="Calibri" pitchFamily="34" charset="0"/>
                <a:ea typeface="Calibri" pitchFamily="34" charset="-122"/>
                <a:cs typeface="Calibri" pitchFamily="34" charset="-120"/>
              </a:rPr>
              <a:t>Curation guardrail</a:t>
            </a:r>
            <a:endParaRPr lang="en-US" sz="780" dirty="0"/>
          </a:p>
        </p:txBody>
      </p:sp>
      <p:sp>
        <p:nvSpPr>
          <p:cNvPr id="123" name="Text 121"/>
          <p:cNvSpPr txBox="1"/>
          <p:nvPr/>
        </p:nvSpPr>
        <p:spPr>
          <a:xfrm>
            <a:off x="7132320" y="3657600"/>
            <a:ext cx="1600200" cy="1051560"/>
          </a:xfrm>
          <a:prstGeom prst="rect">
            <a:avLst/>
          </a:prstGeom>
          <a:noFill/>
          <a:ln/>
        </p:spPr>
        <p:txBody>
          <a:bodyPr wrap="square" lIns="0" tIns="0" rIns="0" bIns="0" rtlCol="0" anchor="t"/>
          <a:lstStyle/>
          <a:p>
            <a:pPr indent="0" marL="0">
              <a:buNone/>
            </a:pPr>
            <a:r>
              <a:rPr lang="en-US" sz="650" dirty="0">
                <a:solidFill>
                  <a:srgbClr val="333333"/>
                </a:solidFill>
                <a:latin typeface="Calibri" pitchFamily="34" charset="0"/>
                <a:ea typeface="Calibri" pitchFamily="34" charset="-122"/>
                <a:cs typeface="Calibri" pitchFamily="34" charset="-120"/>
              </a:rPr>
              <a:t>TinyFish output lands as a draft with its source URL and run id; nothing changes the knowledge base until a reviewer approves it.</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4213D"/>
          </a:solidFill>
          <a:ln w="12700">
            <a:solidFill>
              <a:srgbClr val="14213D"/>
            </a:solidFill>
            <a:prstDash val="solid"/>
          </a:ln>
        </p:spPr>
      </p:sp>
      <p:sp>
        <p:nvSpPr>
          <p:cNvPr id="3" name="Shape 1"/>
          <p:cNvSpPr/>
          <p:nvPr/>
        </p:nvSpPr>
        <p:spPr>
          <a:xfrm>
            <a:off x="0" y="566928"/>
            <a:ext cx="9144000" cy="36576"/>
          </a:xfrm>
          <a:prstGeom prst="rect">
            <a:avLst/>
          </a:prstGeom>
          <a:solidFill>
            <a:srgbClr val="F4A300"/>
          </a:solidFill>
          <a:ln w="12700">
            <a:solidFill>
              <a:srgbClr val="F4A300"/>
            </a:solidFill>
            <a:prstDash val="solid"/>
          </a:ln>
        </p:spPr>
      </p:sp>
      <p:sp>
        <p:nvSpPr>
          <p:cNvPr id="4" name="Shape 2"/>
          <p:cNvSpPr/>
          <p:nvPr/>
        </p:nvSpPr>
        <p:spPr>
          <a:xfrm>
            <a:off x="228600" y="128016"/>
            <a:ext cx="1234440" cy="310896"/>
          </a:xfrm>
          <a:prstGeom prst="roundRect">
            <a:avLst>
              <a:gd name="adj" fmla="val 50000"/>
            </a:avLst>
          </a:prstGeom>
          <a:solidFill>
            <a:srgbClr val="F4A300"/>
          </a:solidFill>
          <a:ln w="9525">
            <a:solidFill>
              <a:srgbClr val="F4A300"/>
            </a:solidFill>
            <a:prstDash val="solid"/>
          </a:ln>
        </p:spPr>
      </p:sp>
      <p:sp>
        <p:nvSpPr>
          <p:cNvPr id="5" name="Text 3"/>
          <p:cNvSpPr txBox="1"/>
          <p:nvPr/>
        </p:nvSpPr>
        <p:spPr>
          <a:xfrm>
            <a:off x="228600" y="128016"/>
            <a:ext cx="1234440" cy="310896"/>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Bug Hunters</a:t>
            </a:r>
            <a:endParaRPr lang="en-US" sz="1050" dirty="0"/>
          </a:p>
        </p:txBody>
      </p:sp>
      <p:sp>
        <p:nvSpPr>
          <p:cNvPr id="6" name="Text 4"/>
          <p:cNvSpPr txBox="1"/>
          <p:nvPr/>
        </p:nvSpPr>
        <p:spPr>
          <a:xfrm>
            <a:off x="1600200" y="64008"/>
            <a:ext cx="557784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6 Â· PROPOSED TINYFISH INTEGRATION</a:t>
            </a:r>
            <a:endParaRPr lang="en-US" sz="1800" dirty="0"/>
          </a:p>
        </p:txBody>
      </p:sp>
      <p:sp>
        <p:nvSpPr>
          <p:cNvPr id="7" name="Text 5"/>
          <p:cNvSpPr txBox="1"/>
          <p:nvPr/>
        </p:nvSpPr>
        <p:spPr>
          <a:xfrm>
            <a:off x="7223760" y="91440"/>
            <a:ext cx="1691640" cy="402336"/>
          </a:xfrm>
          <a:prstGeom prst="rect">
            <a:avLst/>
          </a:prstGeom>
          <a:noFill/>
          <a:ln/>
        </p:spPr>
        <p:txBody>
          <a:bodyPr wrap="square" lIns="0" tIns="0" rIns="0" bIns="0" rtlCol="0" anchor="ctr"/>
          <a:lstStyle/>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KRITICAL HACKS 2026</a:t>
            </a:r>
            <a:endParaRPr lang="en-US" sz="850" dirty="0"/>
          </a:p>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IGDTUW Â· AI/ML Track</a:t>
            </a:r>
            <a:endParaRPr lang="en-US" sz="850" dirty="0"/>
          </a:p>
        </p:txBody>
      </p:sp>
      <p:sp>
        <p:nvSpPr>
          <p:cNvPr id="8" name="Shape 6"/>
          <p:cNvSpPr/>
          <p:nvPr/>
        </p:nvSpPr>
        <p:spPr>
          <a:xfrm>
            <a:off x="0" y="4937760"/>
            <a:ext cx="9144000" cy="205740"/>
          </a:xfrm>
          <a:prstGeom prst="rect">
            <a:avLst/>
          </a:prstGeom>
          <a:solidFill>
            <a:srgbClr val="14213D"/>
          </a:solidFill>
          <a:ln w="12700">
            <a:solidFill>
              <a:srgbClr val="14213D"/>
            </a:solidFill>
            <a:prstDash val="solid"/>
          </a:ln>
        </p:spPr>
      </p:sp>
      <p:sp>
        <p:nvSpPr>
          <p:cNvPr id="9" name="Text 7"/>
          <p:cNvSpPr txBox="1"/>
          <p:nvPr/>
        </p:nvSpPr>
        <p:spPr>
          <a:xfrm>
            <a:off x="228600" y="4937760"/>
            <a:ext cx="6400800" cy="205740"/>
          </a:xfrm>
          <a:prstGeom prst="rect">
            <a:avLst/>
          </a:prstGeom>
          <a:noFill/>
          <a:ln/>
        </p:spPr>
        <p:txBody>
          <a:bodyPr wrap="square" lIns="0" tIns="0" rIns="0" bIns="0" rtlCol="0" anchor="ctr"/>
          <a:lstStyle/>
          <a:p>
            <a:pPr indent="0" marL="0">
              <a:buNone/>
            </a:pPr>
            <a:r>
              <a:rPr lang="en-US" sz="700" dirty="0">
                <a:solidFill>
                  <a:srgbClr val="C9D1E0"/>
                </a:solidFill>
                <a:latin typeface="Calibri" pitchFamily="34" charset="0"/>
                <a:ea typeface="Calibri" pitchFamily="34" charset="-122"/>
                <a:cs typeface="Calibri" pitchFamily="34" charset="-120"/>
              </a:rPr>
              <a:t>TakeSure Â· Confidence before taking something Â· Team Bug Hunters Â· Kritical Hacks 2026</a:t>
            </a:r>
            <a:endParaRPr lang="en-US" sz="700" dirty="0"/>
          </a:p>
        </p:txBody>
      </p:sp>
      <p:sp>
        <p:nvSpPr>
          <p:cNvPr id="10" name="Text 8"/>
          <p:cNvSpPr txBox="1"/>
          <p:nvPr/>
        </p:nvSpPr>
        <p:spPr>
          <a:xfrm>
            <a:off x="5943600" y="4937760"/>
            <a:ext cx="2971800" cy="205740"/>
          </a:xfrm>
          <a:prstGeom prst="rect">
            <a:avLst/>
          </a:prstGeom>
          <a:noFill/>
          <a:ln/>
        </p:spPr>
        <p:txBody>
          <a:bodyPr wrap="square" lIns="0" tIns="0" rIns="0" bIns="0" rtlCol="0" anchor="ctr"/>
          <a:lstStyle/>
          <a:p>
            <a:pPr algn="r" indent="0" marL="0">
              <a:buNone/>
            </a:pPr>
            <a:r>
              <a:rPr lang="en-US" sz="700" dirty="0">
                <a:solidFill>
                  <a:srgbClr val="C9D1E0"/>
                </a:solidFill>
                <a:latin typeface="Calibri" pitchFamily="34" charset="0"/>
                <a:ea typeface="Calibri" pitchFamily="34" charset="-122"/>
                <a:cs typeface="Calibri" pitchFamily="34" charset="-120"/>
              </a:rPr>
              <a:t>Functional in the prototype   7</a:t>
            </a:r>
            <a:endParaRPr lang="en-US" sz="700" dirty="0"/>
          </a:p>
        </p:txBody>
      </p:sp>
      <p:sp>
        <p:nvSpPr>
          <p:cNvPr id="11" name="Shape 9"/>
          <p:cNvSpPr/>
          <p:nvPr/>
        </p:nvSpPr>
        <p:spPr>
          <a:xfrm>
            <a:off x="228600" y="731520"/>
            <a:ext cx="8686800" cy="502920"/>
          </a:xfrm>
          <a:prstGeom prst="roundRect">
            <a:avLst>
              <a:gd name="adj" fmla="val 9091"/>
            </a:avLst>
          </a:prstGeom>
          <a:solidFill>
            <a:srgbClr val="EDE9FE"/>
          </a:solidFill>
          <a:ln w="9525">
            <a:solidFill>
              <a:srgbClr val="C4B5FD"/>
            </a:solidFill>
            <a:prstDash val="solid"/>
          </a:ln>
        </p:spPr>
      </p:sp>
      <p:sp>
        <p:nvSpPr>
          <p:cNvPr id="12" name="Text 10"/>
          <p:cNvSpPr txBox="1"/>
          <p:nvPr/>
        </p:nvSpPr>
        <p:spPr>
          <a:xfrm>
            <a:off x="365760" y="768096"/>
            <a:ext cx="8412480" cy="438912"/>
          </a:xfrm>
          <a:prstGeom prst="rect">
            <a:avLst/>
          </a:prstGeom>
          <a:noFill/>
          <a:ln/>
        </p:spPr>
        <p:txBody>
          <a:bodyPr wrap="square" lIns="0" tIns="0" rIns="0" bIns="0" rtlCol="0" anchor="ctr"/>
          <a:lstStyle/>
          <a:p>
            <a:pPr indent="0" marL="0">
              <a:buNone/>
            </a:pPr>
            <a:r>
              <a:rPr lang="en-US" sz="880" b="1" dirty="0">
                <a:solidFill>
                  <a:srgbClr val="6D28D9"/>
                </a:solidFill>
                <a:latin typeface="Calibri" pitchFamily="34" charset="0"/>
                <a:ea typeface="Calibri" pitchFamily="34" charset="-122"/>
                <a:cs typeface="Calibri" pitchFamily="34" charset="-120"/>
              </a:rPr>
              <a:t>TinyFish is TakeSure's research assistant. </a:t>
            </a:r>
            <a:pPr indent="0" marL="0">
              <a:buNone/>
            </a:pPr>
            <a:r>
              <a:rPr lang="en-US" sz="880" dirty="0">
                <a:solidFill>
                  <a:srgbClr val="333333"/>
                </a:solidFill>
                <a:latin typeface="Calibri" pitchFamily="34" charset="0"/>
                <a:ea typeface="Calibri" pitchFamily="34" charset="-122"/>
                <a:cs typeface="Calibri" pitchFamily="34" charset="-120"/>
              </a:rPr>
              <a:t>It opens the references, reads monographs and product pages, and drafts knowledge-base rows with the source attached. Reviewers approve every row. The verdict path never touches the live web â€” that is a safety rule, not a limitation.</a:t>
            </a:r>
            <a:endParaRPr lang="en-US" sz="880" dirty="0"/>
          </a:p>
        </p:txBody>
      </p:sp>
      <p:sp>
        <p:nvSpPr>
          <p:cNvPr id="13" name="Shape 11"/>
          <p:cNvSpPr/>
          <p:nvPr/>
        </p:nvSpPr>
        <p:spPr>
          <a:xfrm>
            <a:off x="228600" y="1371600"/>
            <a:ext cx="5669280" cy="859536"/>
          </a:xfrm>
          <a:prstGeom prst="roundRect">
            <a:avLst>
              <a:gd name="adj" fmla="val 5319"/>
            </a:avLst>
          </a:prstGeom>
          <a:solidFill>
            <a:srgbClr val="FFFFFF"/>
          </a:solidFill>
          <a:ln w="9525">
            <a:solidFill>
              <a:srgbClr val="C9D0DD"/>
            </a:solidFill>
            <a:prstDash val="solid"/>
          </a:ln>
        </p:spPr>
      </p:sp>
      <p:sp>
        <p:nvSpPr>
          <p:cNvPr id="14" name="Shape 12"/>
          <p:cNvSpPr/>
          <p:nvPr/>
        </p:nvSpPr>
        <p:spPr>
          <a:xfrm>
            <a:off x="320040" y="1463040"/>
            <a:ext cx="1051560" cy="274320"/>
          </a:xfrm>
          <a:prstGeom prst="roundRect">
            <a:avLst>
              <a:gd name="adj" fmla="val 16667"/>
            </a:avLst>
          </a:prstGeom>
          <a:solidFill>
            <a:srgbClr val="6D28D9"/>
          </a:solidFill>
          <a:ln w="9525">
            <a:solidFill>
              <a:srgbClr val="6D28D9"/>
            </a:solidFill>
            <a:prstDash val="solid"/>
          </a:ln>
        </p:spPr>
      </p:sp>
      <p:sp>
        <p:nvSpPr>
          <p:cNvPr id="15" name="Text 13"/>
          <p:cNvSpPr txBox="1"/>
          <p:nvPr/>
        </p:nvSpPr>
        <p:spPr>
          <a:xfrm>
            <a:off x="320040" y="1463040"/>
            <a:ext cx="10515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Fetch API</a:t>
            </a:r>
            <a:endParaRPr lang="en-US" sz="800" dirty="0"/>
          </a:p>
        </p:txBody>
      </p:sp>
      <p:sp>
        <p:nvSpPr>
          <p:cNvPr id="16" name="Text 14"/>
          <p:cNvSpPr txBox="1"/>
          <p:nvPr/>
        </p:nvSpPr>
        <p:spPr>
          <a:xfrm>
            <a:off x="1463040" y="1444752"/>
            <a:ext cx="4297680" cy="27432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Verify citations</a:t>
            </a:r>
            <a:endParaRPr lang="en-US" sz="1000" dirty="0"/>
          </a:p>
        </p:txBody>
      </p:sp>
      <p:sp>
        <p:nvSpPr>
          <p:cNvPr id="17" name="Text 15"/>
          <p:cNvSpPr txBox="1"/>
          <p:nvPr/>
        </p:nvSpPr>
        <p:spPr>
          <a:xfrm>
            <a:off x="320040" y="1755648"/>
            <a:ext cx="5486400" cy="457200"/>
          </a:xfrm>
          <a:prstGeom prst="rect">
            <a:avLst/>
          </a:prstGeom>
          <a:noFill/>
          <a:ln/>
        </p:spPr>
        <p:txBody>
          <a:bodyPr wrap="square" lIns="0" tIns="0" rIns="0" bIns="0" rtlCol="0" anchor="t"/>
          <a:lstStyle/>
          <a:p>
            <a:pPr indent="0" marL="0">
              <a:buNone/>
            </a:pPr>
            <a:r>
              <a:rPr lang="en-US" sz="720" dirty="0">
                <a:solidFill>
                  <a:srgbClr val="333333"/>
                </a:solidFill>
                <a:latin typeface="Calibri" pitchFamily="34" charset="0"/>
                <a:ea typeface="Calibri" pitchFamily="34" charset="-122"/>
                <a:cs typeface="Calibri" pitchFamily="34" charset="-120"/>
              </a:rPr>
              <a:t>Three stages: Fetch the resolved DOI / PubMed / monograph page; for bot-blocked publishers Fetch the Crossref record; for sources without a locator, Search the title. â‰¥60% of distinctive title terms matched â†’ verification_status = verified; otherwise a â€œmismatchâ€ draft with the best candidate.</a:t>
            </a:r>
            <a:endParaRPr lang="en-US" sz="720" dirty="0"/>
          </a:p>
        </p:txBody>
      </p:sp>
      <p:sp>
        <p:nvSpPr>
          <p:cNvPr id="18" name="Shape 16"/>
          <p:cNvSpPr/>
          <p:nvPr/>
        </p:nvSpPr>
        <p:spPr>
          <a:xfrm>
            <a:off x="6035040" y="1371600"/>
            <a:ext cx="2880360" cy="859536"/>
          </a:xfrm>
          <a:prstGeom prst="roundRect">
            <a:avLst>
              <a:gd name="adj" fmla="val 5319"/>
            </a:avLst>
          </a:prstGeom>
          <a:solidFill>
            <a:srgbClr val="F4F6FA"/>
          </a:solidFill>
          <a:ln w="9525">
            <a:solidFill>
              <a:srgbClr val="C9D0DD"/>
            </a:solidFill>
            <a:prstDash val="solid"/>
          </a:ln>
        </p:spPr>
      </p:sp>
      <p:sp>
        <p:nvSpPr>
          <p:cNvPr id="19" name="Text 17"/>
          <p:cNvSpPr txBox="1"/>
          <p:nvPr/>
        </p:nvSpPr>
        <p:spPr>
          <a:xfrm>
            <a:off x="6126480" y="1426464"/>
            <a:ext cx="2743200" cy="182880"/>
          </a:xfrm>
          <a:prstGeom prst="rect">
            <a:avLst/>
          </a:prstGeom>
          <a:noFill/>
          <a:ln/>
        </p:spPr>
        <p:txBody>
          <a:bodyPr wrap="square" lIns="0" tIns="0" rIns="0" bIns="0" rtlCol="0" anchor="t"/>
          <a:lstStyle/>
          <a:p>
            <a:pPr indent="0" marL="0">
              <a:buNone/>
            </a:pPr>
            <a:r>
              <a:rPr lang="en-US" sz="700" b="1" dirty="0">
                <a:solidFill>
                  <a:srgbClr val="6D28D9"/>
                </a:solidFill>
                <a:latin typeface="Calibri" pitchFamily="34" charset="0"/>
                <a:ea typeface="Calibri" pitchFamily="34" charset="-122"/>
                <a:cs typeface="Calibri" pitchFamily="34" charset="-120"/>
              </a:rPr>
              <a:t>Why it matters</a:t>
            </a:r>
            <a:endParaRPr lang="en-US" sz="700" dirty="0"/>
          </a:p>
        </p:txBody>
      </p:sp>
      <p:sp>
        <p:nvSpPr>
          <p:cNvPr id="20" name="Text 18"/>
          <p:cNvSpPr txBox="1"/>
          <p:nvPr/>
        </p:nvSpPr>
        <p:spPr>
          <a:xfrm>
            <a:off x="6126480" y="1627632"/>
            <a:ext cx="2697480" cy="566928"/>
          </a:xfrm>
          <a:prstGeom prst="rect">
            <a:avLst/>
          </a:prstGeom>
          <a:noFill/>
          <a:ln/>
        </p:spPr>
        <p:txBody>
          <a:bodyPr wrap="square" lIns="0" tIns="0" rIns="0" bIns="0" rtlCol="0" anchor="t"/>
          <a:lstStyle/>
          <a:p>
            <a:pPr indent="0" marL="0">
              <a:buNone/>
            </a:pPr>
            <a:r>
              <a:rPr lang="en-US" sz="760" dirty="0">
                <a:solidFill>
                  <a:srgbClr val="333333"/>
                </a:solidFill>
                <a:latin typeface="Calibri" pitchFamily="34" charset="0"/>
                <a:ea typeface="Calibri" pitchFamily="34" charset="-122"/>
                <a:cs typeface="Calibri" pitchFamily="34" charset="-120"/>
              </a:rPr>
              <a:t>Live run 19 Oct: 55 of 78 citations verified automatically; 23 listed for review (3 broken links found). Free tier.</a:t>
            </a:r>
            <a:endParaRPr lang="en-US" sz="760" dirty="0"/>
          </a:p>
        </p:txBody>
      </p:sp>
      <p:sp>
        <p:nvSpPr>
          <p:cNvPr id="21" name="Shape 19"/>
          <p:cNvSpPr/>
          <p:nvPr/>
        </p:nvSpPr>
        <p:spPr>
          <a:xfrm>
            <a:off x="228600" y="2304288"/>
            <a:ext cx="5669280" cy="859536"/>
          </a:xfrm>
          <a:prstGeom prst="roundRect">
            <a:avLst>
              <a:gd name="adj" fmla="val 5319"/>
            </a:avLst>
          </a:prstGeom>
          <a:solidFill>
            <a:srgbClr val="FFFFFF"/>
          </a:solidFill>
          <a:ln w="9525">
            <a:solidFill>
              <a:srgbClr val="C9D0DD"/>
            </a:solidFill>
            <a:prstDash val="solid"/>
          </a:ln>
        </p:spPr>
      </p:sp>
      <p:sp>
        <p:nvSpPr>
          <p:cNvPr id="22" name="Shape 20"/>
          <p:cNvSpPr/>
          <p:nvPr/>
        </p:nvSpPr>
        <p:spPr>
          <a:xfrm>
            <a:off x="320040" y="2395728"/>
            <a:ext cx="1051560" cy="274320"/>
          </a:xfrm>
          <a:prstGeom prst="roundRect">
            <a:avLst>
              <a:gd name="adj" fmla="val 16667"/>
            </a:avLst>
          </a:prstGeom>
          <a:solidFill>
            <a:srgbClr val="6D28D9"/>
          </a:solidFill>
          <a:ln w="9525">
            <a:solidFill>
              <a:srgbClr val="6D28D9"/>
            </a:solidFill>
            <a:prstDash val="solid"/>
          </a:ln>
        </p:spPr>
      </p:sp>
      <p:sp>
        <p:nvSpPr>
          <p:cNvPr id="23" name="Text 21"/>
          <p:cNvSpPr txBox="1"/>
          <p:nvPr/>
        </p:nvSpPr>
        <p:spPr>
          <a:xfrm>
            <a:off x="320040" y="2395728"/>
            <a:ext cx="10515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Web Agent</a:t>
            </a:r>
            <a:endParaRPr lang="en-US" sz="800" dirty="0"/>
          </a:p>
        </p:txBody>
      </p:sp>
      <p:sp>
        <p:nvSpPr>
          <p:cNvPr id="24" name="Text 22"/>
          <p:cNvSpPr txBox="1"/>
          <p:nvPr/>
        </p:nvSpPr>
        <p:spPr>
          <a:xfrm>
            <a:off x="1463040" y="2377440"/>
            <a:ext cx="4297680" cy="27432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Discover interaction rows</a:t>
            </a:r>
            <a:endParaRPr lang="en-US" sz="1000" dirty="0"/>
          </a:p>
        </p:txBody>
      </p:sp>
      <p:sp>
        <p:nvSpPr>
          <p:cNvPr id="25" name="Text 23"/>
          <p:cNvSpPr txBox="1"/>
          <p:nvPr/>
        </p:nvSpPr>
        <p:spPr>
          <a:xfrm>
            <a:off x="320040" y="2688336"/>
            <a:ext cx="5486400" cy="457200"/>
          </a:xfrm>
          <a:prstGeom prst="rect">
            <a:avLst/>
          </a:prstGeom>
          <a:noFill/>
          <a:ln/>
        </p:spPr>
        <p:txBody>
          <a:bodyPr wrap="square" lIns="0" tIns="0" rIns="0" bIns="0" rtlCol="0" anchor="t"/>
          <a:lstStyle/>
          <a:p>
            <a:pPr indent="0" marL="0">
              <a:buNone/>
            </a:pPr>
            <a:r>
              <a:rPr lang="en-US" sz="720" dirty="0">
                <a:solidFill>
                  <a:srgbClr val="333333"/>
                </a:solidFill>
                <a:latin typeface="Calibri" pitchFamily="34" charset="0"/>
                <a:ea typeface="Calibri" pitchFamily="34" charset="-122"/>
                <a:cs typeface="Calibri" pitchFamily="34" charset="-120"/>
              </a:rPr>
              <a:t>Fetch the MSKCC About Herbs page (free, 2 s) and extract every clinical bullet naming a drug, class or interaction verb from our drug dictionary; if the static page yields nothing, POST /v1/automation/run-async with a JSON output_schema and poll the run.</a:t>
            </a:r>
            <a:endParaRPr lang="en-US" sz="720" dirty="0"/>
          </a:p>
        </p:txBody>
      </p:sp>
      <p:sp>
        <p:nvSpPr>
          <p:cNvPr id="26" name="Shape 24"/>
          <p:cNvSpPr/>
          <p:nvPr/>
        </p:nvSpPr>
        <p:spPr>
          <a:xfrm>
            <a:off x="6035040" y="2304288"/>
            <a:ext cx="2880360" cy="859536"/>
          </a:xfrm>
          <a:prstGeom prst="roundRect">
            <a:avLst>
              <a:gd name="adj" fmla="val 5319"/>
            </a:avLst>
          </a:prstGeom>
          <a:solidFill>
            <a:srgbClr val="F4F6FA"/>
          </a:solidFill>
          <a:ln w="9525">
            <a:solidFill>
              <a:srgbClr val="C9D0DD"/>
            </a:solidFill>
            <a:prstDash val="solid"/>
          </a:ln>
        </p:spPr>
      </p:sp>
      <p:sp>
        <p:nvSpPr>
          <p:cNvPr id="27" name="Text 25"/>
          <p:cNvSpPr txBox="1"/>
          <p:nvPr/>
        </p:nvSpPr>
        <p:spPr>
          <a:xfrm>
            <a:off x="6126480" y="2359152"/>
            <a:ext cx="2743200" cy="182880"/>
          </a:xfrm>
          <a:prstGeom prst="rect">
            <a:avLst/>
          </a:prstGeom>
          <a:noFill/>
          <a:ln/>
        </p:spPr>
        <p:txBody>
          <a:bodyPr wrap="square" lIns="0" tIns="0" rIns="0" bIns="0" rtlCol="0" anchor="t"/>
          <a:lstStyle/>
          <a:p>
            <a:pPr indent="0" marL="0">
              <a:buNone/>
            </a:pPr>
            <a:r>
              <a:rPr lang="en-US" sz="700" b="1" dirty="0">
                <a:solidFill>
                  <a:srgbClr val="6D28D9"/>
                </a:solidFill>
                <a:latin typeface="Calibri" pitchFamily="34" charset="0"/>
                <a:ea typeface="Calibri" pitchFamily="34" charset="-122"/>
                <a:cs typeface="Calibri" pitchFamily="34" charset="-120"/>
              </a:rPr>
              <a:t>Why it matters</a:t>
            </a:r>
            <a:endParaRPr lang="en-US" sz="700" dirty="0"/>
          </a:p>
        </p:txBody>
      </p:sp>
      <p:sp>
        <p:nvSpPr>
          <p:cNvPr id="28" name="Text 26"/>
          <p:cNvSpPr txBox="1"/>
          <p:nvPr/>
        </p:nvSpPr>
        <p:spPr>
          <a:xfrm>
            <a:off x="6126480" y="2560320"/>
            <a:ext cx="2697480" cy="566928"/>
          </a:xfrm>
          <a:prstGeom prst="rect">
            <a:avLst/>
          </a:prstGeom>
          <a:noFill/>
          <a:ln/>
        </p:spPr>
        <p:txBody>
          <a:bodyPr wrap="square" lIns="0" tIns="0" rIns="0" bIns="0" rtlCol="0" anchor="t"/>
          <a:lstStyle/>
          <a:p>
            <a:pPr indent="0" marL="0">
              <a:buNone/>
            </a:pPr>
            <a:r>
              <a:rPr lang="en-US" sz="760" dirty="0">
                <a:solidFill>
                  <a:srgbClr val="333333"/>
                </a:solidFill>
                <a:latin typeface="Calibri" pitchFamily="34" charset="0"/>
                <a:ea typeface="Calibri" pitchFamily="34" charset="-122"/>
                <a:cs typeface="Calibri" pitchFamily="34" charset="-120"/>
              </a:rPr>
              <a:t>Live: 7 candidates for ashwagandha and 4 for turmeric in seconds (Fetch + rules); Web Agent fallback used for guggul.</a:t>
            </a:r>
            <a:endParaRPr lang="en-US" sz="760" dirty="0"/>
          </a:p>
        </p:txBody>
      </p:sp>
      <p:sp>
        <p:nvSpPr>
          <p:cNvPr id="29" name="Shape 27"/>
          <p:cNvSpPr/>
          <p:nvPr/>
        </p:nvSpPr>
        <p:spPr>
          <a:xfrm>
            <a:off x="228600" y="3236976"/>
            <a:ext cx="5669280" cy="859536"/>
          </a:xfrm>
          <a:prstGeom prst="roundRect">
            <a:avLst>
              <a:gd name="adj" fmla="val 5319"/>
            </a:avLst>
          </a:prstGeom>
          <a:solidFill>
            <a:srgbClr val="FFFFFF"/>
          </a:solidFill>
          <a:ln w="9525">
            <a:solidFill>
              <a:srgbClr val="C9D0DD"/>
            </a:solidFill>
            <a:prstDash val="solid"/>
          </a:ln>
        </p:spPr>
      </p:sp>
      <p:sp>
        <p:nvSpPr>
          <p:cNvPr id="30" name="Shape 28"/>
          <p:cNvSpPr/>
          <p:nvPr/>
        </p:nvSpPr>
        <p:spPr>
          <a:xfrm>
            <a:off x="320040" y="3328416"/>
            <a:ext cx="1051560" cy="274320"/>
          </a:xfrm>
          <a:prstGeom prst="roundRect">
            <a:avLst>
              <a:gd name="adj" fmla="val 16667"/>
            </a:avLst>
          </a:prstGeom>
          <a:solidFill>
            <a:srgbClr val="6D28D9"/>
          </a:solidFill>
          <a:ln w="9525">
            <a:solidFill>
              <a:srgbClr val="6D28D9"/>
            </a:solidFill>
            <a:prstDash val="solid"/>
          </a:ln>
        </p:spPr>
      </p:sp>
      <p:sp>
        <p:nvSpPr>
          <p:cNvPr id="31" name="Text 29"/>
          <p:cNvSpPr txBox="1"/>
          <p:nvPr/>
        </p:nvSpPr>
        <p:spPr>
          <a:xfrm>
            <a:off x="320040" y="3328416"/>
            <a:ext cx="10515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Search + Agent</a:t>
            </a:r>
            <a:endParaRPr lang="en-US" sz="800" dirty="0"/>
          </a:p>
        </p:txBody>
      </p:sp>
      <p:sp>
        <p:nvSpPr>
          <p:cNvPr id="32" name="Text 30"/>
          <p:cNvSpPr txBox="1"/>
          <p:nvPr/>
        </p:nvSpPr>
        <p:spPr>
          <a:xfrm>
            <a:off x="1463040" y="3310128"/>
            <a:ext cx="4297680" cy="274320"/>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Map Indian products</a:t>
            </a:r>
            <a:endParaRPr lang="en-US" sz="1000" dirty="0"/>
          </a:p>
        </p:txBody>
      </p:sp>
      <p:sp>
        <p:nvSpPr>
          <p:cNvPr id="33" name="Text 31"/>
          <p:cNvSpPr txBox="1"/>
          <p:nvPr/>
        </p:nvSpPr>
        <p:spPr>
          <a:xfrm>
            <a:off x="320040" y="3621024"/>
            <a:ext cx="5486400" cy="457200"/>
          </a:xfrm>
          <a:prstGeom prst="rect">
            <a:avLst/>
          </a:prstGeom>
          <a:noFill/>
          <a:ln/>
        </p:spPr>
        <p:txBody>
          <a:bodyPr wrap="square" lIns="0" tIns="0" rIns="0" bIns="0" rtlCol="0" anchor="t"/>
          <a:lstStyle/>
          <a:p>
            <a:pPr indent="0" marL="0">
              <a:buNone/>
            </a:pPr>
            <a:r>
              <a:rPr lang="en-US" sz="720" dirty="0">
                <a:solidFill>
                  <a:srgbClr val="333333"/>
                </a:solidFill>
                <a:latin typeface="Calibri" pitchFamily="34" charset="0"/>
                <a:ea typeface="Calibri" pitchFamily="34" charset="-122"/>
                <a:cs typeface="Calibri" pitchFamily="34" charset="-120"/>
              </a:rPr>
              <a:t>GET api.search.tinyfish.ai for the product page, then an Agent run extracts the ingredient list with Latin/Sanskrit names; we match them to known herbs.</a:t>
            </a:r>
            <a:endParaRPr lang="en-US" sz="720" dirty="0"/>
          </a:p>
        </p:txBody>
      </p:sp>
      <p:sp>
        <p:nvSpPr>
          <p:cNvPr id="34" name="Shape 32"/>
          <p:cNvSpPr/>
          <p:nvPr/>
        </p:nvSpPr>
        <p:spPr>
          <a:xfrm>
            <a:off x="6035040" y="3236976"/>
            <a:ext cx="2880360" cy="859536"/>
          </a:xfrm>
          <a:prstGeom prst="roundRect">
            <a:avLst>
              <a:gd name="adj" fmla="val 5319"/>
            </a:avLst>
          </a:prstGeom>
          <a:solidFill>
            <a:srgbClr val="F4F6FA"/>
          </a:solidFill>
          <a:ln w="9525">
            <a:solidFill>
              <a:srgbClr val="C9D0DD"/>
            </a:solidFill>
            <a:prstDash val="solid"/>
          </a:ln>
        </p:spPr>
      </p:sp>
      <p:sp>
        <p:nvSpPr>
          <p:cNvPr id="35" name="Text 33"/>
          <p:cNvSpPr txBox="1"/>
          <p:nvPr/>
        </p:nvSpPr>
        <p:spPr>
          <a:xfrm>
            <a:off x="6126480" y="3291840"/>
            <a:ext cx="2743200" cy="182880"/>
          </a:xfrm>
          <a:prstGeom prst="rect">
            <a:avLst/>
          </a:prstGeom>
          <a:noFill/>
          <a:ln/>
        </p:spPr>
        <p:txBody>
          <a:bodyPr wrap="square" lIns="0" tIns="0" rIns="0" bIns="0" rtlCol="0" anchor="t"/>
          <a:lstStyle/>
          <a:p>
            <a:pPr indent="0" marL="0">
              <a:buNone/>
            </a:pPr>
            <a:r>
              <a:rPr lang="en-US" sz="700" b="1" dirty="0">
                <a:solidFill>
                  <a:srgbClr val="6D28D9"/>
                </a:solidFill>
                <a:latin typeface="Calibri" pitchFamily="34" charset="0"/>
                <a:ea typeface="Calibri" pitchFamily="34" charset="-122"/>
                <a:cs typeface="Calibri" pitchFamily="34" charset="-120"/>
              </a:rPr>
              <a:t>Why it matters</a:t>
            </a:r>
            <a:endParaRPr lang="en-US" sz="700" dirty="0"/>
          </a:p>
        </p:txBody>
      </p:sp>
      <p:sp>
        <p:nvSpPr>
          <p:cNvPr id="36" name="Text 34"/>
          <p:cNvSpPr txBox="1"/>
          <p:nvPr/>
        </p:nvSpPr>
        <p:spPr>
          <a:xfrm>
            <a:off x="6126480" y="3493008"/>
            <a:ext cx="2697480" cy="566928"/>
          </a:xfrm>
          <a:prstGeom prst="rect">
            <a:avLst/>
          </a:prstGeom>
          <a:noFill/>
          <a:ln/>
        </p:spPr>
        <p:txBody>
          <a:bodyPr wrap="square" lIns="0" tIns="0" rIns="0" bIns="0" rtlCol="0" anchor="t"/>
          <a:lstStyle/>
          <a:p>
            <a:pPr indent="0" marL="0">
              <a:buNone/>
            </a:pPr>
            <a:r>
              <a:rPr lang="en-US" sz="760" dirty="0">
                <a:solidFill>
                  <a:srgbClr val="333333"/>
                </a:solidFill>
                <a:latin typeface="Calibri" pitchFamily="34" charset="0"/>
                <a:ea typeface="Calibri" pitchFamily="34" charset="-122"/>
                <a:cs typeface="Calibri" pitchFamily="34" charset="-120"/>
              </a:rPr>
              <a:t>Live: Dabur Giloy Ghanvati mapped to giloy (1 g/tablet) in one Agent run (28 steps).</a:t>
            </a:r>
            <a:endParaRPr lang="en-US" sz="760" dirty="0"/>
          </a:p>
        </p:txBody>
      </p:sp>
      <p:sp>
        <p:nvSpPr>
          <p:cNvPr id="37" name="Shape 35"/>
          <p:cNvSpPr/>
          <p:nvPr/>
        </p:nvSpPr>
        <p:spPr>
          <a:xfrm>
            <a:off x="228600" y="4224528"/>
            <a:ext cx="8686800" cy="621792"/>
          </a:xfrm>
          <a:prstGeom prst="roundRect">
            <a:avLst>
              <a:gd name="adj" fmla="val 7353"/>
            </a:avLst>
          </a:prstGeom>
          <a:solidFill>
            <a:srgbClr val="FFFFFF"/>
          </a:solidFill>
          <a:ln w="9525">
            <a:solidFill>
              <a:srgbClr val="C9D0DD"/>
            </a:solidFill>
            <a:prstDash val="solid"/>
          </a:ln>
        </p:spPr>
      </p:sp>
      <p:sp>
        <p:nvSpPr>
          <p:cNvPr id="38" name="Shape 36"/>
          <p:cNvSpPr/>
          <p:nvPr/>
        </p:nvSpPr>
        <p:spPr>
          <a:xfrm>
            <a:off x="228600" y="4224528"/>
            <a:ext cx="8686800" cy="237744"/>
          </a:xfrm>
          <a:prstGeom prst="rect">
            <a:avLst/>
          </a:prstGeom>
          <a:solidFill>
            <a:srgbClr val="6D28D9"/>
          </a:solidFill>
          <a:ln w="12700">
            <a:solidFill>
              <a:srgbClr val="6D28D9"/>
            </a:solidFill>
            <a:prstDash val="solid"/>
          </a:ln>
        </p:spPr>
      </p:sp>
      <p:sp>
        <p:nvSpPr>
          <p:cNvPr id="39" name="Text 37"/>
          <p:cNvSpPr txBox="1"/>
          <p:nvPr/>
        </p:nvSpPr>
        <p:spPr>
          <a:xfrm>
            <a:off x="320040" y="4224528"/>
            <a:ext cx="850392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IMPLEMENTATION STATUS Â· DEMONSTRABLE</a:t>
            </a:r>
            <a:endParaRPr lang="en-US" sz="850" dirty="0"/>
          </a:p>
        </p:txBody>
      </p:sp>
      <p:sp>
        <p:nvSpPr>
          <p:cNvPr id="40" name="Text 38"/>
          <p:cNvSpPr txBox="1"/>
          <p:nvPr/>
        </p:nvSpPr>
        <p:spPr>
          <a:xfrm>
            <a:off x="365760" y="4480560"/>
            <a:ext cx="8412480" cy="365760"/>
          </a:xfrm>
          <a:prstGeom prst="rect">
            <a:avLst/>
          </a:prstGeom>
          <a:noFill/>
          <a:ln/>
        </p:spPr>
        <p:txBody>
          <a:bodyPr wrap="square" lIns="0" tIns="0" rIns="0" bIns="0" rtlCol="0" anchor="t"/>
          <a:lstStyle/>
          <a:p>
            <a:pPr indent="0" marL="0">
              <a:buNone/>
            </a:pPr>
            <a:r>
              <a:rPr lang="en-US" sz="740" dirty="0">
                <a:solidFill>
                  <a:srgbClr val="333333"/>
                </a:solidFill>
                <a:latin typeface="Calibri" pitchFamily="34" charset="0"/>
                <a:ea typeface="Calibri" pitchFamily="34" charset="-122"/>
                <a:cs typeface="Calibri" pitchFamily="34" charset="-120"/>
              </a:rPr>
              <a:t>Backend: app/services/tinyfish_service.py (Fetch, Search, Agent clients), curation_drafts table, 7 API routes under /api/curation, 7 offline tests with a mocked TinyFish transport. Frontend: â€œEvidence curationâ€ panel on the dashboard with Verify / Discover / Map actions and an approve-reject draft queue. Config: TINYFISH_API_KEY only on the server. Live demo: verify 10 citations â†’ sources-verified counter rises.</a:t>
            </a:r>
            <a:endParaRPr lang="en-US" sz="7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4213D"/>
          </a:solidFill>
          <a:ln w="12700">
            <a:solidFill>
              <a:srgbClr val="14213D"/>
            </a:solidFill>
            <a:prstDash val="solid"/>
          </a:ln>
        </p:spPr>
      </p:sp>
      <p:sp>
        <p:nvSpPr>
          <p:cNvPr id="3" name="Shape 1"/>
          <p:cNvSpPr/>
          <p:nvPr/>
        </p:nvSpPr>
        <p:spPr>
          <a:xfrm>
            <a:off x="0" y="566928"/>
            <a:ext cx="9144000" cy="36576"/>
          </a:xfrm>
          <a:prstGeom prst="rect">
            <a:avLst/>
          </a:prstGeom>
          <a:solidFill>
            <a:srgbClr val="F4A300"/>
          </a:solidFill>
          <a:ln w="12700">
            <a:solidFill>
              <a:srgbClr val="F4A300"/>
            </a:solidFill>
            <a:prstDash val="solid"/>
          </a:ln>
        </p:spPr>
      </p:sp>
      <p:sp>
        <p:nvSpPr>
          <p:cNvPr id="4" name="Shape 2"/>
          <p:cNvSpPr/>
          <p:nvPr/>
        </p:nvSpPr>
        <p:spPr>
          <a:xfrm>
            <a:off x="228600" y="128016"/>
            <a:ext cx="1234440" cy="310896"/>
          </a:xfrm>
          <a:prstGeom prst="roundRect">
            <a:avLst>
              <a:gd name="adj" fmla="val 50000"/>
            </a:avLst>
          </a:prstGeom>
          <a:solidFill>
            <a:srgbClr val="F4A300"/>
          </a:solidFill>
          <a:ln w="9525">
            <a:solidFill>
              <a:srgbClr val="F4A300"/>
            </a:solidFill>
            <a:prstDash val="solid"/>
          </a:ln>
        </p:spPr>
      </p:sp>
      <p:sp>
        <p:nvSpPr>
          <p:cNvPr id="5" name="Text 3"/>
          <p:cNvSpPr txBox="1"/>
          <p:nvPr/>
        </p:nvSpPr>
        <p:spPr>
          <a:xfrm>
            <a:off x="228600" y="128016"/>
            <a:ext cx="1234440" cy="310896"/>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Bug Hunters</a:t>
            </a:r>
            <a:endParaRPr lang="en-US" sz="1050" dirty="0"/>
          </a:p>
        </p:txBody>
      </p:sp>
      <p:sp>
        <p:nvSpPr>
          <p:cNvPr id="6" name="Text 4"/>
          <p:cNvSpPr txBox="1"/>
          <p:nvPr/>
        </p:nvSpPr>
        <p:spPr>
          <a:xfrm>
            <a:off x="1600200" y="64008"/>
            <a:ext cx="557784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7 Â· WORKING PROTOTYPE</a:t>
            </a:r>
            <a:endParaRPr lang="en-US" sz="1800" dirty="0"/>
          </a:p>
        </p:txBody>
      </p:sp>
      <p:sp>
        <p:nvSpPr>
          <p:cNvPr id="7" name="Text 5"/>
          <p:cNvSpPr txBox="1"/>
          <p:nvPr/>
        </p:nvSpPr>
        <p:spPr>
          <a:xfrm>
            <a:off x="7223760" y="91440"/>
            <a:ext cx="1691640" cy="402336"/>
          </a:xfrm>
          <a:prstGeom prst="rect">
            <a:avLst/>
          </a:prstGeom>
          <a:noFill/>
          <a:ln/>
        </p:spPr>
        <p:txBody>
          <a:bodyPr wrap="square" lIns="0" tIns="0" rIns="0" bIns="0" rtlCol="0" anchor="ctr"/>
          <a:lstStyle/>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KRITICAL HACKS 2026</a:t>
            </a:r>
            <a:endParaRPr lang="en-US" sz="850" dirty="0"/>
          </a:p>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IGDTUW Â· AI/ML Track</a:t>
            </a:r>
            <a:endParaRPr lang="en-US" sz="850" dirty="0"/>
          </a:p>
        </p:txBody>
      </p:sp>
      <p:sp>
        <p:nvSpPr>
          <p:cNvPr id="8" name="Shape 6"/>
          <p:cNvSpPr/>
          <p:nvPr/>
        </p:nvSpPr>
        <p:spPr>
          <a:xfrm>
            <a:off x="0" y="4937760"/>
            <a:ext cx="9144000" cy="205740"/>
          </a:xfrm>
          <a:prstGeom prst="rect">
            <a:avLst/>
          </a:prstGeom>
          <a:solidFill>
            <a:srgbClr val="14213D"/>
          </a:solidFill>
          <a:ln w="12700">
            <a:solidFill>
              <a:srgbClr val="14213D"/>
            </a:solidFill>
            <a:prstDash val="solid"/>
          </a:ln>
        </p:spPr>
      </p:sp>
      <p:sp>
        <p:nvSpPr>
          <p:cNvPr id="9" name="Text 7"/>
          <p:cNvSpPr txBox="1"/>
          <p:nvPr/>
        </p:nvSpPr>
        <p:spPr>
          <a:xfrm>
            <a:off x="228600" y="4937760"/>
            <a:ext cx="6400800" cy="205740"/>
          </a:xfrm>
          <a:prstGeom prst="rect">
            <a:avLst/>
          </a:prstGeom>
          <a:noFill/>
          <a:ln/>
        </p:spPr>
        <p:txBody>
          <a:bodyPr wrap="square" lIns="0" tIns="0" rIns="0" bIns="0" rtlCol="0" anchor="ctr"/>
          <a:lstStyle/>
          <a:p>
            <a:pPr indent="0" marL="0">
              <a:buNone/>
            </a:pPr>
            <a:r>
              <a:rPr lang="en-US" sz="700" dirty="0">
                <a:solidFill>
                  <a:srgbClr val="C9D1E0"/>
                </a:solidFill>
                <a:latin typeface="Calibri" pitchFamily="34" charset="0"/>
                <a:ea typeface="Calibri" pitchFamily="34" charset="-122"/>
                <a:cs typeface="Calibri" pitchFamily="34" charset="-120"/>
              </a:rPr>
              <a:t>TakeSure Â· Confidence before taking something Â· Team Bug Hunters Â· Kritical Hacks 2026</a:t>
            </a:r>
            <a:endParaRPr lang="en-US" sz="700" dirty="0"/>
          </a:p>
        </p:txBody>
      </p:sp>
      <p:sp>
        <p:nvSpPr>
          <p:cNvPr id="10" name="Text 8"/>
          <p:cNvSpPr txBox="1"/>
          <p:nvPr/>
        </p:nvSpPr>
        <p:spPr>
          <a:xfrm>
            <a:off x="5943600" y="4937760"/>
            <a:ext cx="2971800" cy="205740"/>
          </a:xfrm>
          <a:prstGeom prst="rect">
            <a:avLst/>
          </a:prstGeom>
          <a:noFill/>
          <a:ln/>
        </p:spPr>
        <p:txBody>
          <a:bodyPr wrap="square" lIns="0" tIns="0" rIns="0" bIns="0" rtlCol="0" anchor="ctr"/>
          <a:lstStyle/>
          <a:p>
            <a:pPr algn="r" indent="0" marL="0">
              <a:buNone/>
            </a:pPr>
            <a:r>
              <a:rPr lang="en-US" sz="700" dirty="0">
                <a:solidFill>
                  <a:srgbClr val="C9D1E0"/>
                </a:solidFill>
                <a:latin typeface="Calibri" pitchFamily="34" charset="0"/>
                <a:ea typeface="Calibri" pitchFamily="34" charset="-122"/>
                <a:cs typeface="Calibri" pitchFamily="34" charset="-120"/>
              </a:rPr>
              <a:t>Captured 18â€“19 Oct 2026   8</a:t>
            </a:r>
            <a:endParaRPr lang="en-US" sz="700" dirty="0"/>
          </a:p>
        </p:txBody>
      </p:sp>
      <p:sp>
        <p:nvSpPr>
          <p:cNvPr id="11" name="Shape 9"/>
          <p:cNvSpPr/>
          <p:nvPr/>
        </p:nvSpPr>
        <p:spPr>
          <a:xfrm>
            <a:off x="228600" y="731520"/>
            <a:ext cx="4251960" cy="4069080"/>
          </a:xfrm>
          <a:prstGeom prst="roundRect">
            <a:avLst>
              <a:gd name="adj" fmla="val 1124"/>
            </a:avLst>
          </a:prstGeom>
          <a:solidFill>
            <a:srgbClr val="FFFFFF"/>
          </a:solidFill>
          <a:ln w="9525">
            <a:solidFill>
              <a:srgbClr val="C9D0DD"/>
            </a:solidFill>
            <a:prstDash val="solid"/>
          </a:ln>
        </p:spPr>
      </p:sp>
      <p:pic>
        <p:nvPicPr>
          <p:cNvPr id="12" name="Image 0" descr="C:/Temp/bvp/deck/shots/04_result_amber.png">    </p:cNvPr>
          <p:cNvPicPr>
            <a:picLocks noChangeAspect="1"/>
          </p:cNvPicPr>
          <p:nvPr/>
        </p:nvPicPr>
        <p:blipFill>
          <a:blip r:embed="rId1"/>
          <a:stretch>
            <a:fillRect/>
          </a:stretch>
        </p:blipFill>
        <p:spPr>
          <a:xfrm>
            <a:off x="320040" y="1024128"/>
            <a:ext cx="4069080" cy="2734056"/>
          </a:xfrm>
          <a:prstGeom prst="rect">
            <a:avLst/>
          </a:prstGeom>
        </p:spPr>
      </p:pic>
      <p:sp>
        <p:nvSpPr>
          <p:cNvPr id="13" name="Text 10"/>
          <p:cNvSpPr txBox="1"/>
          <p:nvPr/>
        </p:nvSpPr>
        <p:spPr>
          <a:xfrm>
            <a:off x="320040" y="786384"/>
            <a:ext cx="4069080" cy="219456"/>
          </a:xfrm>
          <a:prstGeom prst="rect">
            <a:avLst/>
          </a:prstGeom>
          <a:noFill/>
          <a:ln/>
        </p:spPr>
        <p:txBody>
          <a:bodyPr wrap="square" lIns="0" tIns="0" rIns="0" bIns="0" rtlCol="0" anchor="t"/>
          <a:lstStyle/>
          <a:p>
            <a:pPr indent="0" marL="0">
              <a:buNone/>
            </a:pPr>
            <a:r>
              <a:rPr lang="en-US" sz="740" b="1" dirty="0">
                <a:solidFill>
                  <a:srgbClr val="14213D"/>
                </a:solidFill>
                <a:latin typeface="Calibri" pitchFamily="34" charset="0"/>
                <a:ea typeface="Calibri" pitchFamily="34" charset="-122"/>
                <a:cs typeface="Calibri" pitchFamily="34" charset="-120"/>
              </a:rPr>
              <a:t>Result screen: AMBER for Ashwagandha + Levothyroxine â€” rule shown, AI explanation labelled, 3 doctor questions, sources with grade.</a:t>
            </a:r>
            <a:endParaRPr lang="en-US" sz="740" dirty="0"/>
          </a:p>
        </p:txBody>
      </p:sp>
      <p:sp>
        <p:nvSpPr>
          <p:cNvPr id="14" name="Text 11"/>
          <p:cNvSpPr txBox="1"/>
          <p:nvPr/>
        </p:nvSpPr>
        <p:spPr>
          <a:xfrm>
            <a:off x="320040" y="3840480"/>
            <a:ext cx="4069080" cy="868680"/>
          </a:xfrm>
          <a:prstGeom prst="rect">
            <a:avLst/>
          </a:prstGeom>
          <a:noFill/>
          <a:ln/>
        </p:spPr>
        <p:txBody>
          <a:bodyPr wrap="square" lIns="0" tIns="0" rIns="0" bIns="0" rtlCol="0" anchor="t"/>
          <a:lstStyle/>
          <a:p>
            <a:pPr indent="0" marL="0">
              <a:buNone/>
            </a:pPr>
            <a:r>
              <a:rPr lang="en-US" sz="740" dirty="0">
                <a:solidFill>
                  <a:srgbClr val="333333"/>
                </a:solidFill>
                <a:latin typeface="Calibri" pitchFamily="34" charset="0"/>
                <a:ea typeface="Calibri" pitchFamily="34" charset="-122"/>
                <a:cs typeface="Calibri" pitchFamily="34" charset="-120"/>
              </a:rPr>
              <a:t>Also live: photo upload + OCR, review-and-confirm screen, Hindi toggle, knowledge-base explorer, ADR form in Ministry format, doctor PDF, anonymised dashboard.</a:t>
            </a:r>
            <a:endParaRPr lang="en-US" sz="740" dirty="0"/>
          </a:p>
        </p:txBody>
      </p:sp>
      <p:sp>
        <p:nvSpPr>
          <p:cNvPr id="15" name="Shape 12"/>
          <p:cNvSpPr/>
          <p:nvPr/>
        </p:nvSpPr>
        <p:spPr>
          <a:xfrm>
            <a:off x="4663440" y="731520"/>
            <a:ext cx="4251960" cy="4069080"/>
          </a:xfrm>
          <a:prstGeom prst="roundRect">
            <a:avLst>
              <a:gd name="adj" fmla="val 1124"/>
            </a:avLst>
          </a:prstGeom>
          <a:solidFill>
            <a:srgbClr val="FFFFFF"/>
          </a:solidFill>
          <a:ln w="9525">
            <a:solidFill>
              <a:srgbClr val="C9D0DD"/>
            </a:solidFill>
            <a:prstDash val="solid"/>
          </a:ln>
        </p:spPr>
      </p:sp>
      <p:pic>
        <p:nvPicPr>
          <p:cNvPr id="16" name="Image 1" descr="C:/Temp/bvp/kritical/curation_panel.png">    </p:cNvPr>
          <p:cNvPicPr>
            <a:picLocks noChangeAspect="1"/>
          </p:cNvPicPr>
          <p:nvPr/>
        </p:nvPicPr>
        <p:blipFill>
          <a:blip r:embed="rId2"/>
          <a:stretch>
            <a:fillRect/>
          </a:stretch>
        </p:blipFill>
        <p:spPr>
          <a:xfrm>
            <a:off x="5120640" y="1024128"/>
            <a:ext cx="3337560" cy="2706624"/>
          </a:xfrm>
          <a:prstGeom prst="rect">
            <a:avLst/>
          </a:prstGeom>
        </p:spPr>
      </p:pic>
      <p:sp>
        <p:nvSpPr>
          <p:cNvPr id="17" name="Text 13"/>
          <p:cNvSpPr txBox="1"/>
          <p:nvPr/>
        </p:nvSpPr>
        <p:spPr>
          <a:xfrm>
            <a:off x="4754880" y="786384"/>
            <a:ext cx="4069080" cy="219456"/>
          </a:xfrm>
          <a:prstGeom prst="rect">
            <a:avLst/>
          </a:prstGeom>
          <a:noFill/>
          <a:ln/>
        </p:spPr>
        <p:txBody>
          <a:bodyPr wrap="square" lIns="0" tIns="0" rIns="0" bIns="0" rtlCol="0" anchor="t"/>
          <a:lstStyle/>
          <a:p>
            <a:pPr indent="0" marL="0">
              <a:buNone/>
            </a:pPr>
            <a:r>
              <a:rPr lang="en-US" sz="740" b="1" dirty="0">
                <a:solidFill>
                  <a:srgbClr val="6D28D9"/>
                </a:solidFill>
                <a:latin typeface="Calibri" pitchFamily="34" charset="0"/>
                <a:ea typeface="Calibri" pitchFamily="34" charset="-122"/>
                <a:cs typeface="Calibri" pitchFamily="34" charset="-120"/>
              </a:rPr>
              <a:t>Evidence-curation panel (TinyFish): verify citations, draft rows from monographs, map products; draft queue with approve / reject.</a:t>
            </a:r>
            <a:endParaRPr lang="en-US" sz="740" dirty="0"/>
          </a:p>
        </p:txBody>
      </p:sp>
      <p:sp>
        <p:nvSpPr>
          <p:cNvPr id="18" name="Text 14"/>
          <p:cNvSpPr txBox="1"/>
          <p:nvPr/>
        </p:nvSpPr>
        <p:spPr>
          <a:xfrm>
            <a:off x="4754880" y="3840480"/>
            <a:ext cx="4069080" cy="868680"/>
          </a:xfrm>
          <a:prstGeom prst="rect">
            <a:avLst/>
          </a:prstGeom>
          <a:noFill/>
          <a:ln/>
        </p:spPr>
        <p:txBody>
          <a:bodyPr wrap="square" lIns="0" tIns="0" rIns="0" bIns="0" rtlCol="0" anchor="t"/>
          <a:lstStyle/>
          <a:p>
            <a:pPr indent="0" marL="0">
              <a:buNone/>
            </a:pPr>
            <a:r>
              <a:rPr lang="en-US" sz="740" dirty="0">
                <a:solidFill>
                  <a:srgbClr val="333333"/>
                </a:solidFill>
                <a:latin typeface="Calibri" pitchFamily="34" charset="0"/>
                <a:ea typeface="Calibri" pitchFamily="34" charset="-122"/>
                <a:cs typeface="Calibri" pitchFamily="34" charset="-120"/>
              </a:rPr>
              <a:t>Numbers today: 49 interactions Â· 78 sources Â· 16 herbs Â· 34 drugs Â· 28 products Â· 25 API routes Â· 58 automated tests (all offline). Runs on one laptop without internet except the AI wording and curation jobs.</a:t>
            </a:r>
            <a:endParaRPr lang="en-US" sz="7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4213D"/>
          </a:solidFill>
          <a:ln w="12700">
            <a:solidFill>
              <a:srgbClr val="14213D"/>
            </a:solidFill>
            <a:prstDash val="solid"/>
          </a:ln>
        </p:spPr>
      </p:sp>
      <p:sp>
        <p:nvSpPr>
          <p:cNvPr id="3" name="Shape 1"/>
          <p:cNvSpPr/>
          <p:nvPr/>
        </p:nvSpPr>
        <p:spPr>
          <a:xfrm>
            <a:off x="0" y="566928"/>
            <a:ext cx="9144000" cy="36576"/>
          </a:xfrm>
          <a:prstGeom prst="rect">
            <a:avLst/>
          </a:prstGeom>
          <a:solidFill>
            <a:srgbClr val="F4A300"/>
          </a:solidFill>
          <a:ln w="12700">
            <a:solidFill>
              <a:srgbClr val="F4A300"/>
            </a:solidFill>
            <a:prstDash val="solid"/>
          </a:ln>
        </p:spPr>
      </p:sp>
      <p:sp>
        <p:nvSpPr>
          <p:cNvPr id="4" name="Shape 2"/>
          <p:cNvSpPr/>
          <p:nvPr/>
        </p:nvSpPr>
        <p:spPr>
          <a:xfrm>
            <a:off x="228600" y="128016"/>
            <a:ext cx="1234440" cy="310896"/>
          </a:xfrm>
          <a:prstGeom prst="roundRect">
            <a:avLst>
              <a:gd name="adj" fmla="val 50000"/>
            </a:avLst>
          </a:prstGeom>
          <a:solidFill>
            <a:srgbClr val="F4A300"/>
          </a:solidFill>
          <a:ln w="9525">
            <a:solidFill>
              <a:srgbClr val="F4A300"/>
            </a:solidFill>
            <a:prstDash val="solid"/>
          </a:ln>
        </p:spPr>
      </p:sp>
      <p:sp>
        <p:nvSpPr>
          <p:cNvPr id="5" name="Text 3"/>
          <p:cNvSpPr txBox="1"/>
          <p:nvPr/>
        </p:nvSpPr>
        <p:spPr>
          <a:xfrm>
            <a:off x="228600" y="128016"/>
            <a:ext cx="1234440" cy="310896"/>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Bug Hunters</a:t>
            </a:r>
            <a:endParaRPr lang="en-US" sz="1050" dirty="0"/>
          </a:p>
        </p:txBody>
      </p:sp>
      <p:sp>
        <p:nvSpPr>
          <p:cNvPr id="6" name="Text 4"/>
          <p:cNvSpPr txBox="1"/>
          <p:nvPr/>
        </p:nvSpPr>
        <p:spPr>
          <a:xfrm>
            <a:off x="1600200" y="64008"/>
            <a:ext cx="557784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8 Â· EXPECTED IMPACT &amp; FEASIBILITY</a:t>
            </a:r>
            <a:endParaRPr lang="en-US" sz="1800" dirty="0"/>
          </a:p>
        </p:txBody>
      </p:sp>
      <p:sp>
        <p:nvSpPr>
          <p:cNvPr id="7" name="Text 5"/>
          <p:cNvSpPr txBox="1"/>
          <p:nvPr/>
        </p:nvSpPr>
        <p:spPr>
          <a:xfrm>
            <a:off x="7223760" y="91440"/>
            <a:ext cx="1691640" cy="402336"/>
          </a:xfrm>
          <a:prstGeom prst="rect">
            <a:avLst/>
          </a:prstGeom>
          <a:noFill/>
          <a:ln/>
        </p:spPr>
        <p:txBody>
          <a:bodyPr wrap="square" lIns="0" tIns="0" rIns="0" bIns="0" rtlCol="0" anchor="ctr"/>
          <a:lstStyle/>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KRITICAL HACKS 2026</a:t>
            </a:r>
            <a:endParaRPr lang="en-US" sz="850" dirty="0"/>
          </a:p>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IGDTUW Â· AI/ML Track</a:t>
            </a:r>
            <a:endParaRPr lang="en-US" sz="850" dirty="0"/>
          </a:p>
        </p:txBody>
      </p:sp>
      <p:sp>
        <p:nvSpPr>
          <p:cNvPr id="8" name="Shape 6"/>
          <p:cNvSpPr/>
          <p:nvPr/>
        </p:nvSpPr>
        <p:spPr>
          <a:xfrm>
            <a:off x="0" y="4937760"/>
            <a:ext cx="9144000" cy="205740"/>
          </a:xfrm>
          <a:prstGeom prst="rect">
            <a:avLst/>
          </a:prstGeom>
          <a:solidFill>
            <a:srgbClr val="14213D"/>
          </a:solidFill>
          <a:ln w="12700">
            <a:solidFill>
              <a:srgbClr val="14213D"/>
            </a:solidFill>
            <a:prstDash val="solid"/>
          </a:ln>
        </p:spPr>
      </p:sp>
      <p:sp>
        <p:nvSpPr>
          <p:cNvPr id="9" name="Text 7"/>
          <p:cNvSpPr txBox="1"/>
          <p:nvPr/>
        </p:nvSpPr>
        <p:spPr>
          <a:xfrm>
            <a:off x="228600" y="4937760"/>
            <a:ext cx="6400800" cy="205740"/>
          </a:xfrm>
          <a:prstGeom prst="rect">
            <a:avLst/>
          </a:prstGeom>
          <a:noFill/>
          <a:ln/>
        </p:spPr>
        <p:txBody>
          <a:bodyPr wrap="square" lIns="0" tIns="0" rIns="0" bIns="0" rtlCol="0" anchor="ctr"/>
          <a:lstStyle/>
          <a:p>
            <a:pPr indent="0" marL="0">
              <a:buNone/>
            </a:pPr>
            <a:r>
              <a:rPr lang="en-US" sz="700" dirty="0">
                <a:solidFill>
                  <a:srgbClr val="C9D1E0"/>
                </a:solidFill>
                <a:latin typeface="Calibri" pitchFamily="34" charset="0"/>
                <a:ea typeface="Calibri" pitchFamily="34" charset="-122"/>
                <a:cs typeface="Calibri" pitchFamily="34" charset="-120"/>
              </a:rPr>
              <a:t>TakeSure Â· Confidence before taking something Â· Team Bug Hunters Â· Kritical Hacks 2026</a:t>
            </a:r>
            <a:endParaRPr lang="en-US" sz="700" dirty="0"/>
          </a:p>
        </p:txBody>
      </p:sp>
      <p:sp>
        <p:nvSpPr>
          <p:cNvPr id="10" name="Text 8"/>
          <p:cNvSpPr txBox="1"/>
          <p:nvPr/>
        </p:nvSpPr>
        <p:spPr>
          <a:xfrm>
            <a:off x="5943600" y="4937760"/>
            <a:ext cx="2971800" cy="205740"/>
          </a:xfrm>
          <a:prstGeom prst="rect">
            <a:avLst/>
          </a:prstGeom>
          <a:noFill/>
          <a:ln/>
        </p:spPr>
        <p:txBody>
          <a:bodyPr wrap="square" lIns="0" tIns="0" rIns="0" bIns="0" rtlCol="0" anchor="ctr"/>
          <a:lstStyle/>
          <a:p>
            <a:pPr algn="r" indent="0" marL="0">
              <a:buNone/>
            </a:pPr>
            <a:r>
              <a:rPr lang="en-US" sz="700" dirty="0">
                <a:solidFill>
                  <a:srgbClr val="C9D1E0"/>
                </a:solidFill>
                <a:latin typeface="Calibri" pitchFamily="34" charset="0"/>
                <a:ea typeface="Calibri" pitchFamily="34" charset="-122"/>
                <a:cs typeface="Calibri" pitchFamily="34" charset="-120"/>
              </a:rPr>
              <a:t>Decision support Â· not diagnosis   9</a:t>
            </a:r>
            <a:endParaRPr lang="en-US" sz="700" dirty="0"/>
          </a:p>
        </p:txBody>
      </p:sp>
      <p:sp>
        <p:nvSpPr>
          <p:cNvPr id="11" name="Shape 9"/>
          <p:cNvSpPr/>
          <p:nvPr/>
        </p:nvSpPr>
        <p:spPr>
          <a:xfrm>
            <a:off x="228600" y="731520"/>
            <a:ext cx="4251960" cy="2103120"/>
          </a:xfrm>
          <a:prstGeom prst="roundRect">
            <a:avLst>
              <a:gd name="adj" fmla="val 2174"/>
            </a:avLst>
          </a:prstGeom>
          <a:solidFill>
            <a:srgbClr val="FFFFFF"/>
          </a:solidFill>
          <a:ln w="9525">
            <a:solidFill>
              <a:srgbClr val="C9D0DD"/>
            </a:solidFill>
            <a:prstDash val="solid"/>
          </a:ln>
        </p:spPr>
      </p:sp>
      <p:sp>
        <p:nvSpPr>
          <p:cNvPr id="12" name="Shape 10"/>
          <p:cNvSpPr/>
          <p:nvPr/>
        </p:nvSpPr>
        <p:spPr>
          <a:xfrm>
            <a:off x="228600" y="731520"/>
            <a:ext cx="4251960" cy="237744"/>
          </a:xfrm>
          <a:prstGeom prst="rect">
            <a:avLst/>
          </a:prstGeom>
          <a:solidFill>
            <a:srgbClr val="14213D"/>
          </a:solidFill>
          <a:ln w="12700">
            <a:solidFill>
              <a:srgbClr val="14213D"/>
            </a:solidFill>
            <a:prstDash val="solid"/>
          </a:ln>
        </p:spPr>
      </p:sp>
      <p:sp>
        <p:nvSpPr>
          <p:cNvPr id="13" name="Text 11"/>
          <p:cNvSpPr txBox="1"/>
          <p:nvPr/>
        </p:nvSpPr>
        <p:spPr>
          <a:xfrm>
            <a:off x="320040" y="731520"/>
            <a:ext cx="406908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EXPECTED IMPACT</a:t>
            </a:r>
            <a:endParaRPr lang="en-US" sz="850" dirty="0"/>
          </a:p>
        </p:txBody>
      </p:sp>
      <p:sp>
        <p:nvSpPr>
          <p:cNvPr id="14" name="Text 12"/>
          <p:cNvSpPr txBox="1"/>
          <p:nvPr/>
        </p:nvSpPr>
        <p:spPr>
          <a:xfrm>
            <a:off x="365760" y="1024128"/>
            <a:ext cx="4023360" cy="1783080"/>
          </a:xfrm>
          <a:prstGeom prst="rect">
            <a:avLst/>
          </a:prstGeom>
          <a:noFill/>
          <a:ln/>
        </p:spPr>
        <p:txBody>
          <a:bodyPr wrap="square" lIns="0" tIns="0" rIns="0" bIns="0" rtlCol="0" anchor="t"/>
          <a:lstStyle/>
          <a:p>
            <a:pPr marL="114300" indent="-114300">
              <a:spcAft>
                <a:spcPts val="300"/>
              </a:spcAft>
              <a:buSzPct val="100000"/>
              <a:buChar char="•"/>
            </a:pPr>
            <a:r>
              <a:rPr lang="en-US" sz="790" b="1" dirty="0">
                <a:solidFill>
                  <a:srgbClr val="14213D"/>
                </a:solidFill>
                <a:latin typeface="Calibri" pitchFamily="34" charset="0"/>
                <a:ea typeface="Calibri" pitchFamily="34" charset="-122"/>
                <a:cs typeface="Calibri" pitchFamily="34" charset="-120"/>
              </a:rPr>
              <a:t>Patients &amp; caregivers: </a:t>
            </a:r>
            <a:pPr indent="0" marL="0">
              <a:spcAft>
                <a:spcPts val="300"/>
              </a:spcAft>
              <a:buNone/>
            </a:pPr>
            <a:r>
              <a:rPr lang="en-US" sz="790" dirty="0">
                <a:solidFill>
                  <a:srgbClr val="333333"/>
                </a:solidFill>
                <a:latin typeface="Calibri" pitchFamily="34" charset="0"/>
                <a:ea typeface="Calibri" pitchFamily="34" charset="-122"/>
                <a:cs typeface="Calibri" pitchFamily="34" charset="-120"/>
              </a:rPr>
              <a:t>a sourced answer before the first dose, in their language, free. 75% of herbal users with a side effect never told their doctor â€” we hand them the questions.</a:t>
            </a:r>
            <a:endParaRPr lang="en-US" sz="790" dirty="0"/>
          </a:p>
          <a:p>
            <a:pPr marL="114300" indent="-114300">
              <a:spcAft>
                <a:spcPts val="300"/>
              </a:spcAft>
              <a:buSzPct val="100000"/>
              <a:buChar char="•"/>
            </a:pPr>
            <a:r>
              <a:rPr lang="en-US" sz="790" b="1" dirty="0">
                <a:solidFill>
                  <a:srgbClr val="14213D"/>
                </a:solidFill>
                <a:latin typeface="Calibri" pitchFamily="34" charset="0"/>
                <a:ea typeface="Calibri" pitchFamily="34" charset="-122"/>
                <a:cs typeface="Calibri" pitchFamily="34" charset="-120"/>
              </a:rPr>
              <a:t>Doctors, vaidyas, chemists: </a:t>
            </a:r>
            <a:pPr indent="0" marL="0">
              <a:spcAft>
                <a:spcPts val="300"/>
              </a:spcAft>
              <a:buNone/>
            </a:pPr>
            <a:r>
              <a:rPr lang="en-US" sz="790" dirty="0">
                <a:solidFill>
                  <a:srgbClr val="333333"/>
                </a:solidFill>
                <a:latin typeface="Calibri" pitchFamily="34" charset="0"/>
                <a:ea typeface="Calibri" pitchFamily="34" charset="-122"/>
                <a:cs typeface="Calibri" pitchFamily="34" charset="-120"/>
              </a:rPr>
              <a:t>finally learn what patients take; QR on the bill; API inside hospital and telemedicine systems.</a:t>
            </a:r>
            <a:endParaRPr lang="en-US" sz="790" dirty="0"/>
          </a:p>
          <a:p>
            <a:pPr marL="114300" indent="-114300">
              <a:spcAft>
                <a:spcPts val="300"/>
              </a:spcAft>
              <a:buSzPct val="100000"/>
              <a:buChar char="•"/>
            </a:pPr>
            <a:r>
              <a:rPr lang="en-US" sz="790" b="1" dirty="0">
                <a:solidFill>
                  <a:srgbClr val="14213D"/>
                </a:solidFill>
                <a:latin typeface="Calibri" pitchFamily="34" charset="0"/>
                <a:ea typeface="Calibri" pitchFamily="34" charset="-122"/>
                <a:cs typeface="Calibri" pitchFamily="34" charset="-120"/>
              </a:rPr>
              <a:t>Ministry of Ayush: </a:t>
            </a:r>
            <a:pPr indent="0" marL="0">
              <a:spcAft>
                <a:spcPts val="300"/>
              </a:spcAft>
              <a:buNone/>
            </a:pPr>
            <a:r>
              <a:rPr lang="en-US" sz="790" dirty="0">
                <a:solidFill>
                  <a:srgbClr val="333333"/>
                </a:solidFill>
                <a:latin typeface="Calibri" pitchFamily="34" charset="0"/>
                <a:ea typeface="Calibri" pitchFamily="34" charset="-122"/>
                <a:cs typeface="Calibri" pitchFamily="34" charset="-120"/>
              </a:rPr>
              <a:t>structured ICSRs and real co-use data for the 99 peripheral centres' catchment; 1,473 reports since 2018 can multiply.</a:t>
            </a:r>
            <a:endParaRPr lang="en-US" sz="790" dirty="0"/>
          </a:p>
          <a:p>
            <a:pPr marL="114300" indent="-114300">
              <a:spcAft>
                <a:spcPts val="300"/>
              </a:spcAft>
              <a:buSzPct val="100000"/>
              <a:buChar char="•"/>
            </a:pPr>
            <a:r>
              <a:rPr lang="en-US" sz="790" b="1" dirty="0">
                <a:solidFill>
                  <a:srgbClr val="14213D"/>
                </a:solidFill>
                <a:latin typeface="Calibri" pitchFamily="34" charset="0"/>
                <a:ea typeface="Calibri" pitchFamily="34" charset="-122"/>
                <a:cs typeface="Calibri" pitchFamily="34" charset="-120"/>
              </a:rPr>
              <a:t>Research: </a:t>
            </a:r>
            <a:pPr indent="0" marL="0">
              <a:spcAft>
                <a:spcPts val="300"/>
              </a:spcAft>
              <a:buNone/>
            </a:pPr>
            <a:r>
              <a:rPr lang="en-US" sz="790" dirty="0">
                <a:solidFill>
                  <a:srgbClr val="333333"/>
                </a:solidFill>
                <a:latin typeface="Calibri" pitchFamily="34" charset="0"/>
                <a:ea typeface="Calibri" pitchFamily="34" charset="-122"/>
                <a:cs typeface="Calibri" pitchFamily="34" charset="-120"/>
              </a:rPr>
              <a:t>an open, graded, Indian-brand-aware interaction table that colleges can co-curate.</a:t>
            </a:r>
            <a:endParaRPr lang="en-US" sz="790" dirty="0"/>
          </a:p>
        </p:txBody>
      </p:sp>
      <p:sp>
        <p:nvSpPr>
          <p:cNvPr id="15" name="Shape 13"/>
          <p:cNvSpPr/>
          <p:nvPr/>
        </p:nvSpPr>
        <p:spPr>
          <a:xfrm>
            <a:off x="4663440" y="731520"/>
            <a:ext cx="4251960" cy="2103120"/>
          </a:xfrm>
          <a:prstGeom prst="roundRect">
            <a:avLst>
              <a:gd name="adj" fmla="val 2174"/>
            </a:avLst>
          </a:prstGeom>
          <a:solidFill>
            <a:srgbClr val="FFFFFF"/>
          </a:solidFill>
          <a:ln w="9525">
            <a:solidFill>
              <a:srgbClr val="C9D0DD"/>
            </a:solidFill>
            <a:prstDash val="solid"/>
          </a:ln>
        </p:spPr>
      </p:sp>
      <p:sp>
        <p:nvSpPr>
          <p:cNvPr id="16" name="Shape 14"/>
          <p:cNvSpPr/>
          <p:nvPr/>
        </p:nvSpPr>
        <p:spPr>
          <a:xfrm>
            <a:off x="4663440" y="731520"/>
            <a:ext cx="4251960" cy="237744"/>
          </a:xfrm>
          <a:prstGeom prst="rect">
            <a:avLst/>
          </a:prstGeom>
          <a:solidFill>
            <a:srgbClr val="14213D"/>
          </a:solidFill>
          <a:ln w="12700">
            <a:solidFill>
              <a:srgbClr val="14213D"/>
            </a:solidFill>
            <a:prstDash val="solid"/>
          </a:ln>
        </p:spPr>
      </p:sp>
      <p:sp>
        <p:nvSpPr>
          <p:cNvPr id="17" name="Text 15"/>
          <p:cNvSpPr txBox="1"/>
          <p:nvPr/>
        </p:nvSpPr>
        <p:spPr>
          <a:xfrm>
            <a:off x="4754880" y="731520"/>
            <a:ext cx="406908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FEASIBILITY</a:t>
            </a:r>
            <a:endParaRPr lang="en-US" sz="850" dirty="0"/>
          </a:p>
        </p:txBody>
      </p:sp>
      <p:sp>
        <p:nvSpPr>
          <p:cNvPr id="18" name="Text 16"/>
          <p:cNvSpPr txBox="1"/>
          <p:nvPr/>
        </p:nvSpPr>
        <p:spPr>
          <a:xfrm>
            <a:off x="4800600" y="1024128"/>
            <a:ext cx="4023360" cy="1783080"/>
          </a:xfrm>
          <a:prstGeom prst="rect">
            <a:avLst/>
          </a:prstGeom>
          <a:noFill/>
          <a:ln/>
        </p:spPr>
        <p:txBody>
          <a:bodyPr wrap="square" lIns="0" tIns="0" rIns="0" bIns="0" rtlCol="0" anchor="t"/>
          <a:lstStyle/>
          <a:p>
            <a:pPr marL="114300" indent="-114300">
              <a:spcAft>
                <a:spcPts val="300"/>
              </a:spcAft>
              <a:buSzPct val="100000"/>
              <a:buChar char="•"/>
            </a:pPr>
            <a:r>
              <a:rPr lang="en-US" sz="790" b="1" dirty="0">
                <a:solidFill>
                  <a:srgbClr val="14213D"/>
                </a:solidFill>
                <a:latin typeface="Calibri" pitchFamily="34" charset="0"/>
                <a:ea typeface="Calibri" pitchFamily="34" charset="-122"/>
                <a:cs typeface="Calibri" pitchFamily="34" charset="-120"/>
              </a:rPr>
              <a:t>Already built and tested: </a:t>
            </a:r>
            <a:pPr indent="0" marL="0">
              <a:spcAft>
                <a:spcPts val="300"/>
              </a:spcAft>
              <a:buNone/>
            </a:pPr>
            <a:r>
              <a:rPr lang="en-US" sz="790" dirty="0">
                <a:solidFill>
                  <a:srgbClr val="333333"/>
                </a:solidFill>
                <a:latin typeface="Calibri" pitchFamily="34" charset="0"/>
                <a:ea typeface="Calibri" pitchFamily="34" charset="-122"/>
                <a:cs typeface="Calibri" pitchFamily="34" charset="-120"/>
              </a:rPr>
              <a:t>end-to-end prototype, 58 tests, verified in the browser.</a:t>
            </a:r>
            <a:endParaRPr lang="en-US" sz="790" dirty="0"/>
          </a:p>
          <a:p>
            <a:pPr marL="114300" indent="-114300">
              <a:spcAft>
                <a:spcPts val="300"/>
              </a:spcAft>
              <a:buSzPct val="100000"/>
              <a:buChar char="•"/>
            </a:pPr>
            <a:r>
              <a:rPr lang="en-US" sz="790" b="1" dirty="0">
                <a:solidFill>
                  <a:srgbClr val="14213D"/>
                </a:solidFill>
                <a:latin typeface="Calibri" pitchFamily="34" charset="0"/>
                <a:ea typeface="Calibri" pitchFamily="34" charset="-122"/>
                <a:cs typeface="Calibri" pitchFamily="34" charset="-120"/>
              </a:rPr>
              <a:t>Proven components, no training: </a:t>
            </a:r>
            <a:pPr indent="0" marL="0">
              <a:spcAft>
                <a:spcPts val="300"/>
              </a:spcAft>
              <a:buNone/>
            </a:pPr>
            <a:r>
              <a:rPr lang="en-US" sz="790" dirty="0">
                <a:solidFill>
                  <a:srgbClr val="333333"/>
                </a:solidFill>
                <a:latin typeface="Calibri" pitchFamily="34" charset="0"/>
                <a:ea typeface="Calibri" pitchFamily="34" charset="-122"/>
                <a:cs typeface="Calibri" pitchFamily="34" charset="-120"/>
              </a:rPr>
              <a:t>Tesseract, RapidFuzz, FastAPI, SQLite/Postgres, Groq, TinyFish SDK/HTTP.</a:t>
            </a:r>
            <a:endParaRPr lang="en-US" sz="790" dirty="0"/>
          </a:p>
          <a:p>
            <a:pPr marL="114300" indent="-114300">
              <a:spcAft>
                <a:spcPts val="300"/>
              </a:spcAft>
              <a:buSzPct val="100000"/>
              <a:buChar char="•"/>
            </a:pPr>
            <a:r>
              <a:rPr lang="en-US" sz="790" b="1" dirty="0">
                <a:solidFill>
                  <a:srgbClr val="14213D"/>
                </a:solidFill>
                <a:latin typeface="Calibri" pitchFamily="34" charset="0"/>
                <a:ea typeface="Calibri" pitchFamily="34" charset="-122"/>
                <a:cs typeface="Calibri" pitchFamily="34" charset="-120"/>
              </a:rPr>
              <a:t>Cost: </a:t>
            </a:r>
            <a:pPr indent="0" marL="0">
              <a:spcAft>
                <a:spcPts val="300"/>
              </a:spcAft>
              <a:buNone/>
            </a:pPr>
            <a:r>
              <a:rPr lang="en-US" sz="790" dirty="0">
                <a:solidFill>
                  <a:srgbClr val="333333"/>
                </a:solidFill>
                <a:latin typeface="Calibri" pitchFamily="34" charset="0"/>
                <a:ea typeface="Calibri" pitchFamily="34" charset="-122"/>
                <a:cs typeface="Calibri" pitchFamily="34" charset="-120"/>
              </a:rPr>
              <a:t>TinyFish Search and Fetch are free; Agent runs â‰ˆ $0.016/step with 500 free steps â€” verifying 78 citations fits the free tier.</a:t>
            </a:r>
            <a:endParaRPr lang="en-US" sz="790" dirty="0"/>
          </a:p>
          <a:p>
            <a:pPr marL="114300" indent="-114300">
              <a:spcAft>
                <a:spcPts val="300"/>
              </a:spcAft>
              <a:buSzPct val="100000"/>
              <a:buChar char="•"/>
            </a:pPr>
            <a:r>
              <a:rPr lang="en-US" sz="790" b="1" dirty="0">
                <a:solidFill>
                  <a:srgbClr val="14213D"/>
                </a:solidFill>
                <a:latin typeface="Calibri" pitchFamily="34" charset="0"/>
                <a:ea typeface="Calibri" pitchFamily="34" charset="-122"/>
                <a:cs typeface="Calibri" pitchFamily="34" charset="-120"/>
              </a:rPr>
              <a:t>Team of 3 with clear roles; </a:t>
            </a:r>
            <a:pPr indent="0" marL="0">
              <a:spcAft>
                <a:spcPts val="300"/>
              </a:spcAft>
              <a:buNone/>
            </a:pPr>
            <a:r>
              <a:rPr lang="en-US" sz="790" dirty="0">
                <a:solidFill>
                  <a:srgbClr val="333333"/>
                </a:solidFill>
                <a:latin typeface="Calibri" pitchFamily="34" charset="0"/>
                <a:ea typeface="Calibri" pitchFamily="34" charset="-122"/>
                <a:cs typeface="Calibri" pitchFamily="34" charset="-120"/>
              </a:rPr>
              <a:t>whole stack runs offline on a laptop, so venue internet is not a risk.</a:t>
            </a:r>
            <a:endParaRPr lang="en-US" sz="790" dirty="0"/>
          </a:p>
        </p:txBody>
      </p:sp>
      <p:sp>
        <p:nvSpPr>
          <p:cNvPr id="19" name="Shape 17"/>
          <p:cNvSpPr/>
          <p:nvPr/>
        </p:nvSpPr>
        <p:spPr>
          <a:xfrm>
            <a:off x="228600" y="2971800"/>
            <a:ext cx="8686800" cy="1828800"/>
          </a:xfrm>
          <a:prstGeom prst="roundRect">
            <a:avLst>
              <a:gd name="adj" fmla="val 2500"/>
            </a:avLst>
          </a:prstGeom>
          <a:solidFill>
            <a:srgbClr val="FFFFFF"/>
          </a:solidFill>
          <a:ln w="9525">
            <a:solidFill>
              <a:srgbClr val="C9D0DD"/>
            </a:solidFill>
            <a:prstDash val="solid"/>
          </a:ln>
        </p:spPr>
      </p:sp>
      <p:sp>
        <p:nvSpPr>
          <p:cNvPr id="20" name="Shape 18"/>
          <p:cNvSpPr/>
          <p:nvPr/>
        </p:nvSpPr>
        <p:spPr>
          <a:xfrm>
            <a:off x="228600" y="2971800"/>
            <a:ext cx="8686800" cy="237744"/>
          </a:xfrm>
          <a:prstGeom prst="rect">
            <a:avLst/>
          </a:prstGeom>
          <a:solidFill>
            <a:srgbClr val="14213D"/>
          </a:solidFill>
          <a:ln w="12700">
            <a:solidFill>
              <a:srgbClr val="14213D"/>
            </a:solidFill>
            <a:prstDash val="solid"/>
          </a:ln>
        </p:spPr>
      </p:sp>
      <p:sp>
        <p:nvSpPr>
          <p:cNvPr id="21" name="Text 19"/>
          <p:cNvSpPr txBox="1"/>
          <p:nvPr/>
        </p:nvSpPr>
        <p:spPr>
          <a:xfrm>
            <a:off x="320040" y="2971800"/>
            <a:ext cx="850392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24-HOUR BUILD PLAN (31 OCT â€“ 1 NOV)</a:t>
            </a:r>
            <a:endParaRPr lang="en-US" sz="850" dirty="0"/>
          </a:p>
        </p:txBody>
      </p:sp>
      <p:sp>
        <p:nvSpPr>
          <p:cNvPr id="22" name="Shape 20"/>
          <p:cNvSpPr/>
          <p:nvPr/>
        </p:nvSpPr>
        <p:spPr>
          <a:xfrm>
            <a:off x="365760" y="3291840"/>
            <a:ext cx="1353312" cy="1371600"/>
          </a:xfrm>
          <a:prstGeom prst="roundRect">
            <a:avLst>
              <a:gd name="adj" fmla="val 3378"/>
            </a:avLst>
          </a:prstGeom>
          <a:solidFill>
            <a:srgbClr val="F4F6FA"/>
          </a:solidFill>
          <a:ln w="9525">
            <a:solidFill>
              <a:srgbClr val="C9D0DD"/>
            </a:solidFill>
            <a:prstDash val="solid"/>
          </a:ln>
        </p:spPr>
      </p:sp>
      <p:sp>
        <p:nvSpPr>
          <p:cNvPr id="23" name="Shape 21"/>
          <p:cNvSpPr/>
          <p:nvPr/>
        </p:nvSpPr>
        <p:spPr>
          <a:xfrm>
            <a:off x="365760" y="3291840"/>
            <a:ext cx="1353312" cy="274320"/>
          </a:xfrm>
          <a:prstGeom prst="roundRect">
            <a:avLst>
              <a:gd name="adj" fmla="val 16667"/>
            </a:avLst>
          </a:prstGeom>
          <a:solidFill>
            <a:srgbClr val="14213D"/>
          </a:solidFill>
          <a:ln w="9525">
            <a:solidFill>
              <a:srgbClr val="14213D"/>
            </a:solidFill>
            <a:prstDash val="solid"/>
          </a:ln>
        </p:spPr>
      </p:sp>
      <p:sp>
        <p:nvSpPr>
          <p:cNvPr id="24" name="Text 22"/>
          <p:cNvSpPr txBox="1"/>
          <p:nvPr/>
        </p:nvSpPr>
        <p:spPr>
          <a:xfrm>
            <a:off x="365760" y="3291840"/>
            <a:ext cx="135331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0â€“3 h</a:t>
            </a:r>
            <a:endParaRPr lang="en-US" sz="850" dirty="0"/>
          </a:p>
        </p:txBody>
      </p:sp>
      <p:sp>
        <p:nvSpPr>
          <p:cNvPr id="25" name="Text 23"/>
          <p:cNvSpPr txBox="1"/>
          <p:nvPr/>
        </p:nvSpPr>
        <p:spPr>
          <a:xfrm>
            <a:off x="438912" y="3621024"/>
            <a:ext cx="1207008" cy="1005840"/>
          </a:xfrm>
          <a:prstGeom prst="rect">
            <a:avLst/>
          </a:prstGeom>
          <a:noFill/>
          <a:ln/>
        </p:spPr>
        <p:txBody>
          <a:bodyPr wrap="square" lIns="0" tIns="0" rIns="0" bIns="0" rtlCol="0" anchor="t"/>
          <a:lstStyle/>
          <a:p>
            <a:pPr indent="0" marL="0">
              <a:buNone/>
            </a:pPr>
            <a:r>
              <a:rPr lang="en-US" sz="720" dirty="0">
                <a:solidFill>
                  <a:srgbClr val="333333"/>
                </a:solidFill>
                <a:latin typeface="Calibri" pitchFamily="34" charset="0"/>
                <a:ea typeface="Calibri" pitchFamily="34" charset="-122"/>
                <a:cs typeface="Calibri" pitchFamily="34" charset="-120"/>
              </a:rPr>
              <a:t>Set up at venue; load KB; core loop photo â†’ OCR â†’ confirm â†’ verdict green</a:t>
            </a:r>
            <a:endParaRPr lang="en-US" sz="720" dirty="0"/>
          </a:p>
        </p:txBody>
      </p:sp>
      <p:sp>
        <p:nvSpPr>
          <p:cNvPr id="26" name="Shape 24"/>
          <p:cNvSpPr/>
          <p:nvPr/>
        </p:nvSpPr>
        <p:spPr>
          <a:xfrm>
            <a:off x="1792224" y="3291840"/>
            <a:ext cx="1353312" cy="1371600"/>
          </a:xfrm>
          <a:prstGeom prst="roundRect">
            <a:avLst>
              <a:gd name="adj" fmla="val 3378"/>
            </a:avLst>
          </a:prstGeom>
          <a:solidFill>
            <a:srgbClr val="F4F6FA"/>
          </a:solidFill>
          <a:ln w="9525">
            <a:solidFill>
              <a:srgbClr val="C9D0DD"/>
            </a:solidFill>
            <a:prstDash val="solid"/>
          </a:ln>
        </p:spPr>
      </p:sp>
      <p:sp>
        <p:nvSpPr>
          <p:cNvPr id="27" name="Shape 25"/>
          <p:cNvSpPr/>
          <p:nvPr/>
        </p:nvSpPr>
        <p:spPr>
          <a:xfrm>
            <a:off x="1792224" y="3291840"/>
            <a:ext cx="1353312" cy="274320"/>
          </a:xfrm>
          <a:prstGeom prst="roundRect">
            <a:avLst>
              <a:gd name="adj" fmla="val 16667"/>
            </a:avLst>
          </a:prstGeom>
          <a:solidFill>
            <a:srgbClr val="6D28D9"/>
          </a:solidFill>
          <a:ln w="9525">
            <a:solidFill>
              <a:srgbClr val="6D28D9"/>
            </a:solidFill>
            <a:prstDash val="solid"/>
          </a:ln>
        </p:spPr>
      </p:sp>
      <p:sp>
        <p:nvSpPr>
          <p:cNvPr id="28" name="Text 26"/>
          <p:cNvSpPr txBox="1"/>
          <p:nvPr/>
        </p:nvSpPr>
        <p:spPr>
          <a:xfrm>
            <a:off x="1792224" y="3291840"/>
            <a:ext cx="135331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3â€“9 h</a:t>
            </a:r>
            <a:endParaRPr lang="en-US" sz="850" dirty="0"/>
          </a:p>
        </p:txBody>
      </p:sp>
      <p:sp>
        <p:nvSpPr>
          <p:cNvPr id="29" name="Text 27"/>
          <p:cNvSpPr txBox="1"/>
          <p:nvPr/>
        </p:nvSpPr>
        <p:spPr>
          <a:xfrm>
            <a:off x="1865376" y="3621024"/>
            <a:ext cx="1207008" cy="1005840"/>
          </a:xfrm>
          <a:prstGeom prst="rect">
            <a:avLst/>
          </a:prstGeom>
          <a:noFill/>
          <a:ln/>
        </p:spPr>
        <p:txBody>
          <a:bodyPr wrap="square" lIns="0" tIns="0" rIns="0" bIns="0" rtlCol="0" anchor="t"/>
          <a:lstStyle/>
          <a:p>
            <a:pPr indent="0" marL="0">
              <a:buNone/>
            </a:pPr>
            <a:r>
              <a:rPr lang="en-US" sz="720" dirty="0">
                <a:solidFill>
                  <a:srgbClr val="333333"/>
                </a:solidFill>
                <a:latin typeface="Calibri" pitchFamily="34" charset="0"/>
                <a:ea typeface="Calibri" pitchFamily="34" charset="-122"/>
                <a:cs typeface="Calibri" pitchFamily="34" charset="-120"/>
              </a:rPr>
              <a:t>TinyFish verifier over all 78 citations; reviewer pass on mismatches</a:t>
            </a:r>
            <a:endParaRPr lang="en-US" sz="720" dirty="0"/>
          </a:p>
        </p:txBody>
      </p:sp>
      <p:sp>
        <p:nvSpPr>
          <p:cNvPr id="30" name="Shape 28"/>
          <p:cNvSpPr/>
          <p:nvPr/>
        </p:nvSpPr>
        <p:spPr>
          <a:xfrm>
            <a:off x="3218688" y="3291840"/>
            <a:ext cx="1353312" cy="1371600"/>
          </a:xfrm>
          <a:prstGeom prst="roundRect">
            <a:avLst>
              <a:gd name="adj" fmla="val 3378"/>
            </a:avLst>
          </a:prstGeom>
          <a:solidFill>
            <a:srgbClr val="F4F6FA"/>
          </a:solidFill>
          <a:ln w="9525">
            <a:solidFill>
              <a:srgbClr val="C9D0DD"/>
            </a:solidFill>
            <a:prstDash val="solid"/>
          </a:ln>
        </p:spPr>
      </p:sp>
      <p:sp>
        <p:nvSpPr>
          <p:cNvPr id="31" name="Shape 29"/>
          <p:cNvSpPr/>
          <p:nvPr/>
        </p:nvSpPr>
        <p:spPr>
          <a:xfrm>
            <a:off x="3218688" y="3291840"/>
            <a:ext cx="1353312" cy="274320"/>
          </a:xfrm>
          <a:prstGeom prst="roundRect">
            <a:avLst>
              <a:gd name="adj" fmla="val 16667"/>
            </a:avLst>
          </a:prstGeom>
          <a:solidFill>
            <a:srgbClr val="6D28D9"/>
          </a:solidFill>
          <a:ln w="9525">
            <a:solidFill>
              <a:srgbClr val="6D28D9"/>
            </a:solidFill>
            <a:prstDash val="solid"/>
          </a:ln>
        </p:spPr>
      </p:sp>
      <p:sp>
        <p:nvSpPr>
          <p:cNvPr id="32" name="Text 30"/>
          <p:cNvSpPr txBox="1"/>
          <p:nvPr/>
        </p:nvSpPr>
        <p:spPr>
          <a:xfrm>
            <a:off x="3218688" y="3291840"/>
            <a:ext cx="135331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9â€“15 h</a:t>
            </a:r>
            <a:endParaRPr lang="en-US" sz="850" dirty="0"/>
          </a:p>
        </p:txBody>
      </p:sp>
      <p:sp>
        <p:nvSpPr>
          <p:cNvPr id="33" name="Text 31"/>
          <p:cNvSpPr txBox="1"/>
          <p:nvPr/>
        </p:nvSpPr>
        <p:spPr>
          <a:xfrm>
            <a:off x="3291840" y="3621024"/>
            <a:ext cx="1207008" cy="1005840"/>
          </a:xfrm>
          <a:prstGeom prst="rect">
            <a:avLst/>
          </a:prstGeom>
          <a:noFill/>
          <a:ln/>
        </p:spPr>
        <p:txBody>
          <a:bodyPr wrap="square" lIns="0" tIns="0" rIns="0" bIns="0" rtlCol="0" anchor="t"/>
          <a:lstStyle/>
          <a:p>
            <a:pPr indent="0" marL="0">
              <a:buNone/>
            </a:pPr>
            <a:r>
              <a:rPr lang="en-US" sz="720" dirty="0">
                <a:solidFill>
                  <a:srgbClr val="333333"/>
                </a:solidFill>
                <a:latin typeface="Calibri" pitchFamily="34" charset="0"/>
                <a:ea typeface="Calibri" pitchFamily="34" charset="-122"/>
                <a:cs typeface="Calibri" pitchFamily="34" charset="-120"/>
              </a:rPr>
              <a:t>Agent discovery for 16 herbs â†’ draft rows â†’ review â†’ 100+ rows</a:t>
            </a:r>
            <a:endParaRPr lang="en-US" sz="720" dirty="0"/>
          </a:p>
        </p:txBody>
      </p:sp>
      <p:sp>
        <p:nvSpPr>
          <p:cNvPr id="34" name="Shape 32"/>
          <p:cNvSpPr/>
          <p:nvPr/>
        </p:nvSpPr>
        <p:spPr>
          <a:xfrm>
            <a:off x="4645152" y="3291840"/>
            <a:ext cx="1353312" cy="1371600"/>
          </a:xfrm>
          <a:prstGeom prst="roundRect">
            <a:avLst>
              <a:gd name="adj" fmla="val 3378"/>
            </a:avLst>
          </a:prstGeom>
          <a:solidFill>
            <a:srgbClr val="F4F6FA"/>
          </a:solidFill>
          <a:ln w="9525">
            <a:solidFill>
              <a:srgbClr val="C9D0DD"/>
            </a:solidFill>
            <a:prstDash val="solid"/>
          </a:ln>
        </p:spPr>
      </p:sp>
      <p:sp>
        <p:nvSpPr>
          <p:cNvPr id="35" name="Shape 33"/>
          <p:cNvSpPr/>
          <p:nvPr/>
        </p:nvSpPr>
        <p:spPr>
          <a:xfrm>
            <a:off x="4645152" y="3291840"/>
            <a:ext cx="1353312" cy="274320"/>
          </a:xfrm>
          <a:prstGeom prst="roundRect">
            <a:avLst>
              <a:gd name="adj" fmla="val 16667"/>
            </a:avLst>
          </a:prstGeom>
          <a:solidFill>
            <a:srgbClr val="6D28D9"/>
          </a:solidFill>
          <a:ln w="9525">
            <a:solidFill>
              <a:srgbClr val="6D28D9"/>
            </a:solidFill>
            <a:prstDash val="solid"/>
          </a:ln>
        </p:spPr>
      </p:sp>
      <p:sp>
        <p:nvSpPr>
          <p:cNvPr id="36" name="Text 34"/>
          <p:cNvSpPr txBox="1"/>
          <p:nvPr/>
        </p:nvSpPr>
        <p:spPr>
          <a:xfrm>
            <a:off x="4645152" y="3291840"/>
            <a:ext cx="135331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15â€“19 h</a:t>
            </a:r>
            <a:endParaRPr lang="en-US" sz="850" dirty="0"/>
          </a:p>
        </p:txBody>
      </p:sp>
      <p:sp>
        <p:nvSpPr>
          <p:cNvPr id="37" name="Text 35"/>
          <p:cNvSpPr txBox="1"/>
          <p:nvPr/>
        </p:nvSpPr>
        <p:spPr>
          <a:xfrm>
            <a:off x="4718304" y="3621024"/>
            <a:ext cx="1207008" cy="1005840"/>
          </a:xfrm>
          <a:prstGeom prst="rect">
            <a:avLst/>
          </a:prstGeom>
          <a:noFill/>
          <a:ln/>
        </p:spPr>
        <p:txBody>
          <a:bodyPr wrap="square" lIns="0" tIns="0" rIns="0" bIns="0" rtlCol="0" anchor="t"/>
          <a:lstStyle/>
          <a:p>
            <a:pPr indent="0" marL="0">
              <a:buNone/>
            </a:pPr>
            <a:r>
              <a:rPr lang="en-US" sz="720" dirty="0">
                <a:solidFill>
                  <a:srgbClr val="333333"/>
                </a:solidFill>
                <a:latin typeface="Calibri" pitchFamily="34" charset="0"/>
                <a:ea typeface="Calibri" pitchFamily="34" charset="-122"/>
                <a:cs typeface="Calibri" pitchFamily="34" charset="-120"/>
              </a:rPr>
              <a:t>Product mapping for top 30 Indian products; Hindi in every PDF</a:t>
            </a:r>
            <a:endParaRPr lang="en-US" sz="720" dirty="0"/>
          </a:p>
        </p:txBody>
      </p:sp>
      <p:sp>
        <p:nvSpPr>
          <p:cNvPr id="38" name="Shape 36"/>
          <p:cNvSpPr/>
          <p:nvPr/>
        </p:nvSpPr>
        <p:spPr>
          <a:xfrm>
            <a:off x="6071616" y="3291840"/>
            <a:ext cx="1353312" cy="1371600"/>
          </a:xfrm>
          <a:prstGeom prst="roundRect">
            <a:avLst>
              <a:gd name="adj" fmla="val 3378"/>
            </a:avLst>
          </a:prstGeom>
          <a:solidFill>
            <a:srgbClr val="F4F6FA"/>
          </a:solidFill>
          <a:ln w="9525">
            <a:solidFill>
              <a:srgbClr val="C9D0DD"/>
            </a:solidFill>
            <a:prstDash val="solid"/>
          </a:ln>
        </p:spPr>
      </p:sp>
      <p:sp>
        <p:nvSpPr>
          <p:cNvPr id="39" name="Shape 37"/>
          <p:cNvSpPr/>
          <p:nvPr/>
        </p:nvSpPr>
        <p:spPr>
          <a:xfrm>
            <a:off x="6071616" y="3291840"/>
            <a:ext cx="1353312" cy="274320"/>
          </a:xfrm>
          <a:prstGeom prst="roundRect">
            <a:avLst>
              <a:gd name="adj" fmla="val 16667"/>
            </a:avLst>
          </a:prstGeom>
          <a:solidFill>
            <a:srgbClr val="14213D"/>
          </a:solidFill>
          <a:ln w="9525">
            <a:solidFill>
              <a:srgbClr val="14213D"/>
            </a:solidFill>
            <a:prstDash val="solid"/>
          </a:ln>
        </p:spPr>
      </p:sp>
      <p:sp>
        <p:nvSpPr>
          <p:cNvPr id="40" name="Text 38"/>
          <p:cNvSpPr txBox="1"/>
          <p:nvPr/>
        </p:nvSpPr>
        <p:spPr>
          <a:xfrm>
            <a:off x="6071616" y="3291840"/>
            <a:ext cx="135331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19â€“22 h</a:t>
            </a:r>
            <a:endParaRPr lang="en-US" sz="850" dirty="0"/>
          </a:p>
        </p:txBody>
      </p:sp>
      <p:sp>
        <p:nvSpPr>
          <p:cNvPr id="41" name="Text 39"/>
          <p:cNvSpPr txBox="1"/>
          <p:nvPr/>
        </p:nvSpPr>
        <p:spPr>
          <a:xfrm>
            <a:off x="6144768" y="3621024"/>
            <a:ext cx="1207008" cy="1005840"/>
          </a:xfrm>
          <a:prstGeom prst="rect">
            <a:avLst/>
          </a:prstGeom>
          <a:noFill/>
          <a:ln/>
        </p:spPr>
        <p:txBody>
          <a:bodyPr wrap="square" lIns="0" tIns="0" rIns="0" bIns="0" rtlCol="0" anchor="t"/>
          <a:lstStyle/>
          <a:p>
            <a:pPr indent="0" marL="0">
              <a:buNone/>
            </a:pPr>
            <a:r>
              <a:rPr lang="en-US" sz="720" dirty="0">
                <a:solidFill>
                  <a:srgbClr val="333333"/>
                </a:solidFill>
                <a:latin typeface="Calibri" pitchFamily="34" charset="0"/>
                <a:ea typeface="Calibri" pitchFamily="34" charset="-122"/>
                <a:cs typeface="Calibri" pitchFamily="34" charset="-120"/>
              </a:rPr>
              <a:t>Public deploy (Vercel + Render + Supabase); chemist QR flow</a:t>
            </a:r>
            <a:endParaRPr lang="en-US" sz="720" dirty="0"/>
          </a:p>
        </p:txBody>
      </p:sp>
      <p:sp>
        <p:nvSpPr>
          <p:cNvPr id="42" name="Shape 40"/>
          <p:cNvSpPr/>
          <p:nvPr/>
        </p:nvSpPr>
        <p:spPr>
          <a:xfrm>
            <a:off x="7498080" y="3291840"/>
            <a:ext cx="1353312" cy="1371600"/>
          </a:xfrm>
          <a:prstGeom prst="roundRect">
            <a:avLst>
              <a:gd name="adj" fmla="val 3378"/>
            </a:avLst>
          </a:prstGeom>
          <a:solidFill>
            <a:srgbClr val="F4F6FA"/>
          </a:solidFill>
          <a:ln w="9525">
            <a:solidFill>
              <a:srgbClr val="C9D0DD"/>
            </a:solidFill>
            <a:prstDash val="solid"/>
          </a:ln>
        </p:spPr>
      </p:sp>
      <p:sp>
        <p:nvSpPr>
          <p:cNvPr id="43" name="Shape 41"/>
          <p:cNvSpPr/>
          <p:nvPr/>
        </p:nvSpPr>
        <p:spPr>
          <a:xfrm>
            <a:off x="7498080" y="3291840"/>
            <a:ext cx="1353312" cy="274320"/>
          </a:xfrm>
          <a:prstGeom prst="roundRect">
            <a:avLst>
              <a:gd name="adj" fmla="val 16667"/>
            </a:avLst>
          </a:prstGeom>
          <a:solidFill>
            <a:srgbClr val="14213D"/>
          </a:solidFill>
          <a:ln w="9525">
            <a:solidFill>
              <a:srgbClr val="14213D"/>
            </a:solidFill>
            <a:prstDash val="solid"/>
          </a:ln>
        </p:spPr>
      </p:sp>
      <p:sp>
        <p:nvSpPr>
          <p:cNvPr id="44" name="Text 42"/>
          <p:cNvSpPr txBox="1"/>
          <p:nvPr/>
        </p:nvSpPr>
        <p:spPr>
          <a:xfrm>
            <a:off x="7498080" y="3291840"/>
            <a:ext cx="135331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22â€“24 h</a:t>
            </a:r>
            <a:endParaRPr lang="en-US" sz="850" dirty="0"/>
          </a:p>
        </p:txBody>
      </p:sp>
      <p:sp>
        <p:nvSpPr>
          <p:cNvPr id="45" name="Text 43"/>
          <p:cNvSpPr txBox="1"/>
          <p:nvPr/>
        </p:nvSpPr>
        <p:spPr>
          <a:xfrm>
            <a:off x="7571232" y="3621024"/>
            <a:ext cx="1207008" cy="1005840"/>
          </a:xfrm>
          <a:prstGeom prst="rect">
            <a:avLst/>
          </a:prstGeom>
          <a:noFill/>
          <a:ln/>
        </p:spPr>
        <p:txBody>
          <a:bodyPr wrap="square" lIns="0" tIns="0" rIns="0" bIns="0" rtlCol="0" anchor="t"/>
          <a:lstStyle/>
          <a:p>
            <a:pPr indent="0" marL="0">
              <a:buNone/>
            </a:pPr>
            <a:r>
              <a:rPr lang="en-US" sz="720" dirty="0">
                <a:solidFill>
                  <a:srgbClr val="333333"/>
                </a:solidFill>
                <a:latin typeface="Calibri" pitchFamily="34" charset="0"/>
                <a:ea typeface="Calibri" pitchFamily="34" charset="-122"/>
                <a:cs typeface="Calibri" pitchFamily="34" charset="-120"/>
              </a:rPr>
              <a:t>Freeze, run tests, rehearse demo on the deployed link</a:t>
            </a:r>
            <a:endParaRPr lang="en-US" sz="7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B"/>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4213D"/>
          </a:solidFill>
          <a:ln w="12700">
            <a:solidFill>
              <a:srgbClr val="14213D"/>
            </a:solidFill>
            <a:prstDash val="solid"/>
          </a:ln>
        </p:spPr>
      </p:sp>
      <p:sp>
        <p:nvSpPr>
          <p:cNvPr id="3" name="Shape 1"/>
          <p:cNvSpPr/>
          <p:nvPr/>
        </p:nvSpPr>
        <p:spPr>
          <a:xfrm>
            <a:off x="0" y="566928"/>
            <a:ext cx="9144000" cy="36576"/>
          </a:xfrm>
          <a:prstGeom prst="rect">
            <a:avLst/>
          </a:prstGeom>
          <a:solidFill>
            <a:srgbClr val="F4A300"/>
          </a:solidFill>
          <a:ln w="12700">
            <a:solidFill>
              <a:srgbClr val="F4A300"/>
            </a:solidFill>
            <a:prstDash val="solid"/>
          </a:ln>
        </p:spPr>
      </p:sp>
      <p:sp>
        <p:nvSpPr>
          <p:cNvPr id="4" name="Shape 2"/>
          <p:cNvSpPr/>
          <p:nvPr/>
        </p:nvSpPr>
        <p:spPr>
          <a:xfrm>
            <a:off x="228600" y="128016"/>
            <a:ext cx="1234440" cy="310896"/>
          </a:xfrm>
          <a:prstGeom prst="roundRect">
            <a:avLst>
              <a:gd name="adj" fmla="val 50000"/>
            </a:avLst>
          </a:prstGeom>
          <a:solidFill>
            <a:srgbClr val="F4A300"/>
          </a:solidFill>
          <a:ln w="9525">
            <a:solidFill>
              <a:srgbClr val="F4A300"/>
            </a:solidFill>
            <a:prstDash val="solid"/>
          </a:ln>
        </p:spPr>
      </p:sp>
      <p:sp>
        <p:nvSpPr>
          <p:cNvPr id="5" name="Text 3"/>
          <p:cNvSpPr txBox="1"/>
          <p:nvPr/>
        </p:nvSpPr>
        <p:spPr>
          <a:xfrm>
            <a:off x="228600" y="128016"/>
            <a:ext cx="1234440" cy="310896"/>
          </a:xfrm>
          <a:prstGeom prst="rect">
            <a:avLst/>
          </a:prstGeom>
          <a:noFill/>
          <a:ln/>
        </p:spPr>
        <p:txBody>
          <a:bodyPr wrap="square" lIns="0" tIns="0" rIns="0" bIns="0" rtlCol="0" anchor="ctr"/>
          <a:lstStyle/>
          <a:p>
            <a:pPr algn="ctr" indent="0" marL="0">
              <a:buNone/>
            </a:pPr>
            <a:r>
              <a:rPr lang="en-US" sz="1050" b="1" dirty="0">
                <a:solidFill>
                  <a:srgbClr val="14213D"/>
                </a:solidFill>
                <a:latin typeface="Calibri" pitchFamily="34" charset="0"/>
                <a:ea typeface="Calibri" pitchFamily="34" charset="-122"/>
                <a:cs typeface="Calibri" pitchFamily="34" charset="-120"/>
              </a:rPr>
              <a:t>Bug Hunters</a:t>
            </a:r>
            <a:endParaRPr lang="en-US" sz="1050" dirty="0"/>
          </a:p>
        </p:txBody>
      </p:sp>
      <p:sp>
        <p:nvSpPr>
          <p:cNvPr id="6" name="Text 4"/>
          <p:cNvSpPr txBox="1"/>
          <p:nvPr/>
        </p:nvSpPr>
        <p:spPr>
          <a:xfrm>
            <a:off x="1600200" y="64008"/>
            <a:ext cx="557784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9 Â· FUTURE SCOPE &amp; REFERENCES</a:t>
            </a:r>
            <a:endParaRPr lang="en-US" sz="1800" dirty="0"/>
          </a:p>
        </p:txBody>
      </p:sp>
      <p:sp>
        <p:nvSpPr>
          <p:cNvPr id="7" name="Text 5"/>
          <p:cNvSpPr txBox="1"/>
          <p:nvPr/>
        </p:nvSpPr>
        <p:spPr>
          <a:xfrm>
            <a:off x="7223760" y="91440"/>
            <a:ext cx="1691640" cy="402336"/>
          </a:xfrm>
          <a:prstGeom prst="rect">
            <a:avLst/>
          </a:prstGeom>
          <a:noFill/>
          <a:ln/>
        </p:spPr>
        <p:txBody>
          <a:bodyPr wrap="square" lIns="0" tIns="0" rIns="0" bIns="0" rtlCol="0" anchor="ctr"/>
          <a:lstStyle/>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KRITICAL HACKS 2026</a:t>
            </a:r>
            <a:endParaRPr lang="en-US" sz="850" dirty="0"/>
          </a:p>
          <a:p>
            <a:pPr algn="r" indent="0" marL="0">
              <a:lnSpc>
                <a:spcPct val="105000"/>
              </a:lnSpc>
              <a:buNone/>
            </a:pPr>
            <a:r>
              <a:rPr lang="en-US" sz="850" b="1" dirty="0">
                <a:solidFill>
                  <a:srgbClr val="F4A300"/>
                </a:solidFill>
                <a:latin typeface="Calibri" pitchFamily="34" charset="0"/>
                <a:ea typeface="Calibri" pitchFamily="34" charset="-122"/>
                <a:cs typeface="Calibri" pitchFamily="34" charset="-120"/>
              </a:rPr>
              <a:t>IGDTUW Â· AI/ML Track</a:t>
            </a:r>
            <a:endParaRPr lang="en-US" sz="850" dirty="0"/>
          </a:p>
        </p:txBody>
      </p:sp>
      <p:sp>
        <p:nvSpPr>
          <p:cNvPr id="8" name="Shape 6"/>
          <p:cNvSpPr/>
          <p:nvPr/>
        </p:nvSpPr>
        <p:spPr>
          <a:xfrm>
            <a:off x="0" y="4937760"/>
            <a:ext cx="9144000" cy="205740"/>
          </a:xfrm>
          <a:prstGeom prst="rect">
            <a:avLst/>
          </a:prstGeom>
          <a:solidFill>
            <a:srgbClr val="14213D"/>
          </a:solidFill>
          <a:ln w="12700">
            <a:solidFill>
              <a:srgbClr val="14213D"/>
            </a:solidFill>
            <a:prstDash val="solid"/>
          </a:ln>
        </p:spPr>
      </p:sp>
      <p:sp>
        <p:nvSpPr>
          <p:cNvPr id="9" name="Text 7"/>
          <p:cNvSpPr txBox="1"/>
          <p:nvPr/>
        </p:nvSpPr>
        <p:spPr>
          <a:xfrm>
            <a:off x="228600" y="4937760"/>
            <a:ext cx="6400800" cy="205740"/>
          </a:xfrm>
          <a:prstGeom prst="rect">
            <a:avLst/>
          </a:prstGeom>
          <a:noFill/>
          <a:ln/>
        </p:spPr>
        <p:txBody>
          <a:bodyPr wrap="square" lIns="0" tIns="0" rIns="0" bIns="0" rtlCol="0" anchor="ctr"/>
          <a:lstStyle/>
          <a:p>
            <a:pPr indent="0" marL="0">
              <a:buNone/>
            </a:pPr>
            <a:r>
              <a:rPr lang="en-US" sz="700" dirty="0">
                <a:solidFill>
                  <a:srgbClr val="C9D1E0"/>
                </a:solidFill>
                <a:latin typeface="Calibri" pitchFamily="34" charset="0"/>
                <a:ea typeface="Calibri" pitchFamily="34" charset="-122"/>
                <a:cs typeface="Calibri" pitchFamily="34" charset="-120"/>
              </a:rPr>
              <a:t>TakeSure Â· Confidence before taking something Â· Team Bug Hunters Â· Kritical Hacks 2026</a:t>
            </a:r>
            <a:endParaRPr lang="en-US" sz="700" dirty="0"/>
          </a:p>
        </p:txBody>
      </p:sp>
      <p:sp>
        <p:nvSpPr>
          <p:cNvPr id="10" name="Text 8"/>
          <p:cNvSpPr txBox="1"/>
          <p:nvPr/>
        </p:nvSpPr>
        <p:spPr>
          <a:xfrm>
            <a:off x="5943600" y="4937760"/>
            <a:ext cx="2971800" cy="205740"/>
          </a:xfrm>
          <a:prstGeom prst="rect">
            <a:avLst/>
          </a:prstGeom>
          <a:noFill/>
          <a:ln/>
        </p:spPr>
        <p:txBody>
          <a:bodyPr wrap="square" lIns="0" tIns="0" rIns="0" bIns="0" rtlCol="0" anchor="ctr"/>
          <a:lstStyle/>
          <a:p>
            <a:pPr algn="r" indent="0" marL="0">
              <a:buNone/>
            </a:pPr>
            <a:r>
              <a:rPr lang="en-US" sz="700" dirty="0">
                <a:solidFill>
                  <a:srgbClr val="C9D1E0"/>
                </a:solidFill>
                <a:latin typeface="Calibri" pitchFamily="34" charset="0"/>
                <a:ea typeface="Calibri" pitchFamily="34" charset="-122"/>
                <a:cs typeface="Calibri" pitchFamily="34" charset="-120"/>
              </a:rPr>
              <a:t>Decision support Â· not diagnosis   10</a:t>
            </a:r>
            <a:endParaRPr lang="en-US" sz="700" dirty="0"/>
          </a:p>
        </p:txBody>
      </p:sp>
      <p:sp>
        <p:nvSpPr>
          <p:cNvPr id="11" name="Shape 9"/>
          <p:cNvSpPr/>
          <p:nvPr/>
        </p:nvSpPr>
        <p:spPr>
          <a:xfrm>
            <a:off x="228600" y="731520"/>
            <a:ext cx="4251960" cy="4069080"/>
          </a:xfrm>
          <a:prstGeom prst="roundRect">
            <a:avLst>
              <a:gd name="adj" fmla="val 1124"/>
            </a:avLst>
          </a:prstGeom>
          <a:solidFill>
            <a:srgbClr val="FFFFFF"/>
          </a:solidFill>
          <a:ln w="9525">
            <a:solidFill>
              <a:srgbClr val="C9D0DD"/>
            </a:solidFill>
            <a:prstDash val="solid"/>
          </a:ln>
        </p:spPr>
      </p:sp>
      <p:sp>
        <p:nvSpPr>
          <p:cNvPr id="12" name="Shape 10"/>
          <p:cNvSpPr/>
          <p:nvPr/>
        </p:nvSpPr>
        <p:spPr>
          <a:xfrm>
            <a:off x="228600" y="731520"/>
            <a:ext cx="4251960" cy="237744"/>
          </a:xfrm>
          <a:prstGeom prst="rect">
            <a:avLst/>
          </a:prstGeom>
          <a:solidFill>
            <a:srgbClr val="14213D"/>
          </a:solidFill>
          <a:ln w="12700">
            <a:solidFill>
              <a:srgbClr val="14213D"/>
            </a:solidFill>
            <a:prstDash val="solid"/>
          </a:ln>
        </p:spPr>
      </p:sp>
      <p:sp>
        <p:nvSpPr>
          <p:cNvPr id="13" name="Text 11"/>
          <p:cNvSpPr txBox="1"/>
          <p:nvPr/>
        </p:nvSpPr>
        <p:spPr>
          <a:xfrm>
            <a:off x="320040" y="731520"/>
            <a:ext cx="406908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FUTURE SCOPE</a:t>
            </a:r>
            <a:endParaRPr lang="en-US" sz="850" dirty="0"/>
          </a:p>
        </p:txBody>
      </p:sp>
      <p:sp>
        <p:nvSpPr>
          <p:cNvPr id="14" name="Text 12"/>
          <p:cNvSpPr txBox="1"/>
          <p:nvPr/>
        </p:nvSpPr>
        <p:spPr>
          <a:xfrm>
            <a:off x="365760" y="1024128"/>
            <a:ext cx="4023360" cy="3703320"/>
          </a:xfrm>
          <a:prstGeom prst="rect">
            <a:avLst/>
          </a:prstGeom>
          <a:noFill/>
          <a:ln/>
        </p:spPr>
        <p:txBody>
          <a:bodyPr wrap="square" lIns="0" tIns="0" rIns="0" bIns="0" rtlCol="0" anchor="t"/>
          <a:lstStyle/>
          <a:p>
            <a:pPr marL="114300" indent="-114300">
              <a:spcAft>
                <a:spcPts val="300"/>
              </a:spcAft>
              <a:buSzPct val="100000"/>
              <a:buChar char="•"/>
            </a:pPr>
            <a:r>
              <a:rPr lang="en-US" sz="820" b="1" dirty="0">
                <a:solidFill>
                  <a:srgbClr val="14213D"/>
                </a:solidFill>
                <a:latin typeface="Calibri" pitchFamily="34" charset="0"/>
                <a:ea typeface="Calibri" pitchFamily="34" charset="-122"/>
                <a:cs typeface="Calibri" pitchFamily="34" charset="-120"/>
              </a:rPr>
              <a:t>Knowledge base: </a:t>
            </a:r>
            <a:pPr indent="0" marL="0">
              <a:spcAft>
                <a:spcPts val="300"/>
              </a:spcAft>
              <a:buNone/>
            </a:pPr>
            <a:r>
              <a:rPr lang="en-US" sz="820" dirty="0">
                <a:solidFill>
                  <a:srgbClr val="333333"/>
                </a:solidFill>
                <a:latin typeface="Calibri" pitchFamily="34" charset="0"/>
                <a:ea typeface="Calibri" pitchFamily="34" charset="-122"/>
                <a:cs typeface="Calibri" pitchFamily="34" charset="-120"/>
              </a:rPr>
              <a:t>200+ pairs; second-reviewer rule on every citation; faculty review with an Ayurveda college or pharmacology department before public release.</a:t>
            </a:r>
            <a:endParaRPr lang="en-US" sz="820" dirty="0"/>
          </a:p>
          <a:p>
            <a:pPr marL="114300" indent="-114300">
              <a:spcAft>
                <a:spcPts val="300"/>
              </a:spcAft>
              <a:buSzPct val="100000"/>
              <a:buChar char="•"/>
            </a:pPr>
            <a:r>
              <a:rPr lang="en-US" sz="820" b="1" dirty="0">
                <a:solidFill>
                  <a:srgbClr val="14213D"/>
                </a:solidFill>
                <a:latin typeface="Calibri" pitchFamily="34" charset="0"/>
                <a:ea typeface="Calibri" pitchFamily="34" charset="-122"/>
                <a:cs typeface="Calibri" pitchFamily="34" charset="-120"/>
              </a:rPr>
              <a:t>ML once data exists: </a:t>
            </a:r>
            <a:pPr indent="0" marL="0">
              <a:spcAft>
                <a:spcPts val="300"/>
              </a:spcAft>
              <a:buNone/>
            </a:pPr>
            <a:r>
              <a:rPr lang="en-US" sz="820" dirty="0">
                <a:solidFill>
                  <a:srgbClr val="333333"/>
                </a:solidFill>
                <a:latin typeface="Calibri" pitchFamily="34" charset="0"/>
                <a:ea typeface="Calibri" pitchFamily="34" charset="-122"/>
                <a:cs typeface="Calibri" pitchFamily="34" charset="-120"/>
              </a:rPr>
              <a:t>OCR fine-tuned on Indian labels and handwriting; a named-entity model for prescriptions; ranking of under-reported pairs for curation priority.</a:t>
            </a:r>
            <a:endParaRPr lang="en-US" sz="820" dirty="0"/>
          </a:p>
          <a:p>
            <a:pPr marL="114300" indent="-114300">
              <a:spcAft>
                <a:spcPts val="300"/>
              </a:spcAft>
              <a:buSzPct val="100000"/>
              <a:buChar char="•"/>
            </a:pPr>
            <a:r>
              <a:rPr lang="en-US" sz="820" b="1" dirty="0">
                <a:solidFill>
                  <a:srgbClr val="14213D"/>
                </a:solidFill>
                <a:latin typeface="Calibri" pitchFamily="34" charset="0"/>
                <a:ea typeface="Calibri" pitchFamily="34" charset="-122"/>
                <a:cs typeface="Calibri" pitchFamily="34" charset="-120"/>
              </a:rPr>
              <a:t>TinyFish: </a:t>
            </a:r>
            <a:pPr indent="0" marL="0">
              <a:spcAft>
                <a:spcPts val="300"/>
              </a:spcAft>
              <a:buNone/>
            </a:pPr>
            <a:r>
              <a:rPr lang="en-US" sz="820" dirty="0">
                <a:solidFill>
                  <a:srgbClr val="333333"/>
                </a:solidFill>
                <a:latin typeface="Calibri" pitchFamily="34" charset="0"/>
                <a:ea typeface="Calibri" pitchFamily="34" charset="-122"/>
                <a:cs typeface="Calibri" pitchFamily="34" charset="-120"/>
              </a:rPr>
              <a:t>scheduled re-verification of every citation (monthly); agent monitoring of LiverTox and Ayush Suraksha for new signals; product-catalogue sweeps of Himalaya, Dabur, Patanjali, Baidyanath.</a:t>
            </a:r>
            <a:endParaRPr lang="en-US" sz="820" dirty="0"/>
          </a:p>
          <a:p>
            <a:pPr marL="114300" indent="-114300">
              <a:spcAft>
                <a:spcPts val="300"/>
              </a:spcAft>
              <a:buSzPct val="100000"/>
              <a:buChar char="•"/>
            </a:pPr>
            <a:r>
              <a:rPr lang="en-US" sz="820" b="1" dirty="0">
                <a:solidFill>
                  <a:srgbClr val="14213D"/>
                </a:solidFill>
                <a:latin typeface="Calibri" pitchFamily="34" charset="0"/>
                <a:ea typeface="Calibri" pitchFamily="34" charset="-122"/>
                <a:cs typeface="Calibri" pitchFamily="34" charset="-120"/>
              </a:rPr>
              <a:t>Integration: </a:t>
            </a:r>
            <a:pPr indent="0" marL="0">
              <a:spcAft>
                <a:spcPts val="300"/>
              </a:spcAft>
              <a:buNone/>
            </a:pPr>
            <a:r>
              <a:rPr lang="en-US" sz="820" dirty="0">
                <a:solidFill>
                  <a:srgbClr val="333333"/>
                </a:solidFill>
                <a:latin typeface="Calibri" pitchFamily="34" charset="0"/>
                <a:ea typeface="Calibri" pitchFamily="34" charset="-122"/>
                <a:cs typeface="Calibri" pitchFamily="34" charset="-120"/>
              </a:rPr>
              <a:t>Ayush Grid / ABDM so the verdict and ADR sit on the ABHA record; pharmacy-chain API; chemist QR pilot in one city.</a:t>
            </a:r>
            <a:endParaRPr lang="en-US" sz="820" dirty="0"/>
          </a:p>
          <a:p>
            <a:pPr marL="114300" indent="-114300">
              <a:spcAft>
                <a:spcPts val="300"/>
              </a:spcAft>
              <a:buSzPct val="100000"/>
              <a:buChar char="•"/>
            </a:pPr>
            <a:r>
              <a:rPr lang="en-US" sz="820" b="1" dirty="0">
                <a:solidFill>
                  <a:srgbClr val="14213D"/>
                </a:solidFill>
                <a:latin typeface="Calibri" pitchFamily="34" charset="0"/>
                <a:ea typeface="Calibri" pitchFamily="34" charset="-122"/>
                <a:cs typeface="Calibri" pitchFamily="34" charset="-120"/>
              </a:rPr>
              <a:t>Out of scope by design: </a:t>
            </a:r>
            <a:pPr indent="0" marL="0">
              <a:spcAft>
                <a:spcPts val="300"/>
              </a:spcAft>
              <a:buNone/>
            </a:pPr>
            <a:r>
              <a:rPr lang="en-US" sz="820" dirty="0">
                <a:solidFill>
                  <a:srgbClr val="333333"/>
                </a:solidFill>
                <a:latin typeface="Calibri" pitchFamily="34" charset="0"/>
                <a:ea typeface="Calibri" pitchFamily="34" charset="-122"/>
                <a:cs typeface="Calibri" pitchFamily="34" charset="-120"/>
              </a:rPr>
              <a:t>diagnosis, dosing, herbâ€“herb interactions, any trained model deciding a verdict.</a:t>
            </a:r>
            <a:endParaRPr lang="en-US" sz="820" dirty="0"/>
          </a:p>
        </p:txBody>
      </p:sp>
      <p:sp>
        <p:nvSpPr>
          <p:cNvPr id="15" name="Shape 13"/>
          <p:cNvSpPr/>
          <p:nvPr/>
        </p:nvSpPr>
        <p:spPr>
          <a:xfrm>
            <a:off x="4663440" y="731520"/>
            <a:ext cx="4251960" cy="4069080"/>
          </a:xfrm>
          <a:prstGeom prst="roundRect">
            <a:avLst>
              <a:gd name="adj" fmla="val 1124"/>
            </a:avLst>
          </a:prstGeom>
          <a:solidFill>
            <a:srgbClr val="FFFFFF"/>
          </a:solidFill>
          <a:ln w="9525">
            <a:solidFill>
              <a:srgbClr val="C9D0DD"/>
            </a:solidFill>
            <a:prstDash val="solid"/>
          </a:ln>
        </p:spPr>
      </p:sp>
      <p:sp>
        <p:nvSpPr>
          <p:cNvPr id="16" name="Shape 14"/>
          <p:cNvSpPr/>
          <p:nvPr/>
        </p:nvSpPr>
        <p:spPr>
          <a:xfrm>
            <a:off x="4663440" y="731520"/>
            <a:ext cx="4251960" cy="237744"/>
          </a:xfrm>
          <a:prstGeom prst="rect">
            <a:avLst/>
          </a:prstGeom>
          <a:solidFill>
            <a:srgbClr val="14213D"/>
          </a:solidFill>
          <a:ln w="12700">
            <a:solidFill>
              <a:srgbClr val="14213D"/>
            </a:solidFill>
            <a:prstDash val="solid"/>
          </a:ln>
        </p:spPr>
      </p:sp>
      <p:sp>
        <p:nvSpPr>
          <p:cNvPr id="17" name="Text 15"/>
          <p:cNvSpPr txBox="1"/>
          <p:nvPr/>
        </p:nvSpPr>
        <p:spPr>
          <a:xfrm>
            <a:off x="4754880" y="731520"/>
            <a:ext cx="4069080" cy="237744"/>
          </a:xfrm>
          <a:prstGeom prst="rect">
            <a:avLst/>
          </a:prstGeom>
          <a:noFill/>
          <a:ln/>
        </p:spPr>
        <p:txBody>
          <a:bodyPr wrap="square" lIns="0" tIns="0" rIns="0" bIns="0" rtlCol="0" anchor="ctr"/>
          <a:lstStyle/>
          <a:p>
            <a:pPr indent="0" marL="0">
              <a:buNone/>
            </a:pPr>
            <a:r>
              <a:rPr lang="en-US" sz="850" b="1" spc="100" kern="0" dirty="0">
                <a:solidFill>
                  <a:srgbClr val="FFFFFF"/>
                </a:solidFill>
                <a:latin typeface="Calibri" pitchFamily="34" charset="0"/>
                <a:ea typeface="Calibri" pitchFamily="34" charset="-122"/>
                <a:cs typeface="Calibri" pitchFamily="34" charset="-120"/>
              </a:rPr>
              <a:t>REFERENCES</a:t>
            </a:r>
            <a:endParaRPr lang="en-US" sz="850" dirty="0"/>
          </a:p>
        </p:txBody>
      </p:sp>
      <p:sp>
        <p:nvSpPr>
          <p:cNvPr id="18" name="Shape 16"/>
          <p:cNvSpPr/>
          <p:nvPr/>
        </p:nvSpPr>
        <p:spPr>
          <a:xfrm>
            <a:off x="4773168" y="1078992"/>
            <a:ext cx="201168" cy="201168"/>
          </a:xfrm>
          <a:prstGeom prst="ellipse">
            <a:avLst/>
          </a:prstGeom>
          <a:solidFill>
            <a:srgbClr val="14213D"/>
          </a:solidFill>
          <a:ln w="12700">
            <a:solidFill>
              <a:srgbClr val="14213D"/>
            </a:solidFill>
            <a:prstDash val="solid"/>
          </a:ln>
        </p:spPr>
      </p:sp>
      <p:sp>
        <p:nvSpPr>
          <p:cNvPr id="19" name="Text 17"/>
          <p:cNvSpPr txBox="1"/>
          <p:nvPr/>
        </p:nvSpPr>
        <p:spPr>
          <a:xfrm>
            <a:off x="4773168" y="1078992"/>
            <a:ext cx="201168" cy="201168"/>
          </a:xfrm>
          <a:prstGeom prst="rect">
            <a:avLst/>
          </a:prstGeom>
          <a:noFill/>
          <a:ln/>
        </p:spPr>
        <p:txBody>
          <a:bodyPr wrap="square" lIns="0" tIns="0" rIns="0" bIns="0" rtlCol="0" anchor="ctr"/>
          <a:lstStyle/>
          <a:p>
            <a:pPr algn="ctr" indent="0" marL="0">
              <a:buNone/>
            </a:pPr>
            <a:r>
              <a:rPr lang="en-US" sz="748" b="1" dirty="0">
                <a:solidFill>
                  <a:srgbClr val="F4A300"/>
                </a:solidFill>
                <a:latin typeface="Calibri" pitchFamily="34" charset="0"/>
                <a:ea typeface="Calibri" pitchFamily="34" charset="-122"/>
                <a:cs typeface="Calibri" pitchFamily="34" charset="-120"/>
              </a:rPr>
              <a:t>1</a:t>
            </a:r>
            <a:endParaRPr lang="en-US" sz="748" dirty="0"/>
          </a:p>
        </p:txBody>
      </p:sp>
      <p:sp>
        <p:nvSpPr>
          <p:cNvPr id="20" name="Text 18"/>
          <p:cNvSpPr txBox="1"/>
          <p:nvPr/>
        </p:nvSpPr>
        <p:spPr>
          <a:xfrm>
            <a:off x="5047488" y="1024128"/>
            <a:ext cx="3749040" cy="164592"/>
          </a:xfrm>
          <a:prstGeom prst="rect">
            <a:avLst/>
          </a:prstGeom>
          <a:noFill/>
          <a:ln/>
        </p:spPr>
        <p:txBody>
          <a:bodyPr wrap="square" lIns="0" tIns="0" rIns="0" bIns="0" rtlCol="0" anchor="t"/>
          <a:lstStyle/>
          <a:p>
            <a:pPr indent="0" marL="0">
              <a:buNone/>
            </a:pPr>
            <a:r>
              <a:rPr lang="en-US" sz="760" b="1" dirty="0">
                <a:solidFill>
                  <a:srgbClr val="14213D"/>
                </a:solidFill>
                <a:latin typeface="Calibri" pitchFamily="34" charset="0"/>
                <a:ea typeface="Calibri" pitchFamily="34" charset="-122"/>
                <a:cs typeface="Calibri" pitchFamily="34" charset="-120"/>
              </a:rPr>
              <a:t>Sharma 2018: ashwagandha &amp; thyroid RCT</a:t>
            </a:r>
            <a:endParaRPr lang="en-US" sz="760" dirty="0"/>
          </a:p>
        </p:txBody>
      </p:sp>
      <p:sp>
        <p:nvSpPr>
          <p:cNvPr id="21" name="Text 19"/>
          <p:cNvSpPr txBox="1"/>
          <p:nvPr/>
        </p:nvSpPr>
        <p:spPr>
          <a:xfrm>
            <a:off x="5047488" y="1188720"/>
            <a:ext cx="3749040" cy="146304"/>
          </a:xfrm>
          <a:prstGeom prst="rect">
            <a:avLst/>
          </a:prstGeom>
          <a:noFill/>
          <a:ln/>
        </p:spPr>
        <p:txBody>
          <a:bodyPr wrap="square" lIns="0" tIns="0" rIns="0" bIns="0" rtlCol="0" anchor="ctr"/>
          <a:lstStyle/>
          <a:p>
            <a:pPr indent="0" marL="0">
              <a:buNone/>
            </a:pPr>
            <a:r>
              <a:rPr lang="en-US" sz="640" u="sng" dirty="0">
                <a:solidFill>
                  <a:srgbClr val="1155C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pubmed.ncbi.nlm.nih.gov/28829155/</a:t>
            </a:r>
            <a:endParaRPr lang="en-US" sz="640" dirty="0"/>
          </a:p>
        </p:txBody>
      </p:sp>
      <p:sp>
        <p:nvSpPr>
          <p:cNvPr id="22" name="Shape 20"/>
          <p:cNvSpPr/>
          <p:nvPr/>
        </p:nvSpPr>
        <p:spPr>
          <a:xfrm>
            <a:off x="4773168" y="1444752"/>
            <a:ext cx="201168" cy="201168"/>
          </a:xfrm>
          <a:prstGeom prst="ellipse">
            <a:avLst/>
          </a:prstGeom>
          <a:solidFill>
            <a:srgbClr val="14213D"/>
          </a:solidFill>
          <a:ln w="12700">
            <a:solidFill>
              <a:srgbClr val="14213D"/>
            </a:solidFill>
            <a:prstDash val="solid"/>
          </a:ln>
        </p:spPr>
      </p:sp>
      <p:sp>
        <p:nvSpPr>
          <p:cNvPr id="23" name="Text 21"/>
          <p:cNvSpPr txBox="1"/>
          <p:nvPr/>
        </p:nvSpPr>
        <p:spPr>
          <a:xfrm>
            <a:off x="4773168" y="1444752"/>
            <a:ext cx="201168" cy="201168"/>
          </a:xfrm>
          <a:prstGeom prst="rect">
            <a:avLst/>
          </a:prstGeom>
          <a:noFill/>
          <a:ln/>
        </p:spPr>
        <p:txBody>
          <a:bodyPr wrap="square" lIns="0" tIns="0" rIns="0" bIns="0" rtlCol="0" anchor="ctr"/>
          <a:lstStyle/>
          <a:p>
            <a:pPr algn="ctr" indent="0" marL="0">
              <a:buNone/>
            </a:pPr>
            <a:r>
              <a:rPr lang="en-US" sz="748" b="1" dirty="0">
                <a:solidFill>
                  <a:srgbClr val="F4A300"/>
                </a:solidFill>
                <a:latin typeface="Calibri" pitchFamily="34" charset="0"/>
                <a:ea typeface="Calibri" pitchFamily="34" charset="-122"/>
                <a:cs typeface="Calibri" pitchFamily="34" charset="-120"/>
              </a:rPr>
              <a:t>2</a:t>
            </a:r>
            <a:endParaRPr lang="en-US" sz="748" dirty="0"/>
          </a:p>
        </p:txBody>
      </p:sp>
      <p:sp>
        <p:nvSpPr>
          <p:cNvPr id="24" name="Text 22"/>
          <p:cNvSpPr txBox="1"/>
          <p:nvPr/>
        </p:nvSpPr>
        <p:spPr>
          <a:xfrm>
            <a:off x="5047488" y="1389888"/>
            <a:ext cx="3749040" cy="164592"/>
          </a:xfrm>
          <a:prstGeom prst="rect">
            <a:avLst/>
          </a:prstGeom>
          <a:noFill/>
          <a:ln/>
        </p:spPr>
        <p:txBody>
          <a:bodyPr wrap="square" lIns="0" tIns="0" rIns="0" bIns="0" rtlCol="0" anchor="t"/>
          <a:lstStyle/>
          <a:p>
            <a:pPr indent="0" marL="0">
              <a:buNone/>
            </a:pPr>
            <a:r>
              <a:rPr lang="en-US" sz="760" b="1" dirty="0">
                <a:solidFill>
                  <a:srgbClr val="14213D"/>
                </a:solidFill>
                <a:latin typeface="Calibri" pitchFamily="34" charset="0"/>
                <a:ea typeface="Calibri" pitchFamily="34" charset="-122"/>
                <a:cs typeface="Calibri" pitchFamily="34" charset="-120"/>
              </a:rPr>
              <a:t>Gannon 2014: Withania &amp; thyroid indices</a:t>
            </a:r>
            <a:endParaRPr lang="en-US" sz="760" dirty="0"/>
          </a:p>
        </p:txBody>
      </p:sp>
      <p:sp>
        <p:nvSpPr>
          <p:cNvPr id="25" name="Text 23"/>
          <p:cNvSpPr txBox="1"/>
          <p:nvPr/>
        </p:nvSpPr>
        <p:spPr>
          <a:xfrm>
            <a:off x="5047488" y="1554480"/>
            <a:ext cx="3749040" cy="146304"/>
          </a:xfrm>
          <a:prstGeom prst="rect">
            <a:avLst/>
          </a:prstGeom>
          <a:noFill/>
          <a:ln/>
        </p:spPr>
        <p:txBody>
          <a:bodyPr wrap="square" lIns="0" tIns="0" rIns="0" bIns="0" rtlCol="0" anchor="ctr"/>
          <a:lstStyle/>
          <a:p>
            <a:pPr indent="0" marL="0">
              <a:buNone/>
            </a:pPr>
            <a:r>
              <a:rPr lang="en-US" sz="640" u="sng" dirty="0">
                <a:solidFill>
                  <a:srgbClr val="1155C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doi.org/10.4103/0975-9476.146566</a:t>
            </a:r>
            <a:endParaRPr lang="en-US" sz="640" dirty="0"/>
          </a:p>
        </p:txBody>
      </p:sp>
      <p:sp>
        <p:nvSpPr>
          <p:cNvPr id="26" name="Shape 24"/>
          <p:cNvSpPr/>
          <p:nvPr/>
        </p:nvSpPr>
        <p:spPr>
          <a:xfrm>
            <a:off x="4773168" y="1810512"/>
            <a:ext cx="201168" cy="201168"/>
          </a:xfrm>
          <a:prstGeom prst="ellipse">
            <a:avLst/>
          </a:prstGeom>
          <a:solidFill>
            <a:srgbClr val="14213D"/>
          </a:solidFill>
          <a:ln w="12700">
            <a:solidFill>
              <a:srgbClr val="14213D"/>
            </a:solidFill>
            <a:prstDash val="solid"/>
          </a:ln>
        </p:spPr>
      </p:sp>
      <p:sp>
        <p:nvSpPr>
          <p:cNvPr id="27" name="Text 25"/>
          <p:cNvSpPr txBox="1"/>
          <p:nvPr/>
        </p:nvSpPr>
        <p:spPr>
          <a:xfrm>
            <a:off x="4773168" y="1810512"/>
            <a:ext cx="201168" cy="201168"/>
          </a:xfrm>
          <a:prstGeom prst="rect">
            <a:avLst/>
          </a:prstGeom>
          <a:noFill/>
          <a:ln/>
        </p:spPr>
        <p:txBody>
          <a:bodyPr wrap="square" lIns="0" tIns="0" rIns="0" bIns="0" rtlCol="0" anchor="ctr"/>
          <a:lstStyle/>
          <a:p>
            <a:pPr algn="ctr" indent="0" marL="0">
              <a:buNone/>
            </a:pPr>
            <a:r>
              <a:rPr lang="en-US" sz="748" b="1" dirty="0">
                <a:solidFill>
                  <a:srgbClr val="F4A300"/>
                </a:solidFill>
                <a:latin typeface="Calibri" pitchFamily="34" charset="0"/>
                <a:ea typeface="Calibri" pitchFamily="34" charset="-122"/>
                <a:cs typeface="Calibri" pitchFamily="34" charset="-120"/>
              </a:rPr>
              <a:t>3</a:t>
            </a:r>
            <a:endParaRPr lang="en-US" sz="748" dirty="0"/>
          </a:p>
        </p:txBody>
      </p:sp>
      <p:sp>
        <p:nvSpPr>
          <p:cNvPr id="28" name="Text 26"/>
          <p:cNvSpPr txBox="1"/>
          <p:nvPr/>
        </p:nvSpPr>
        <p:spPr>
          <a:xfrm>
            <a:off x="5047488" y="1755648"/>
            <a:ext cx="3749040" cy="164592"/>
          </a:xfrm>
          <a:prstGeom prst="rect">
            <a:avLst/>
          </a:prstGeom>
          <a:noFill/>
          <a:ln/>
        </p:spPr>
        <p:txBody>
          <a:bodyPr wrap="square" lIns="0" tIns="0" rIns="0" bIns="0" rtlCol="0" anchor="t"/>
          <a:lstStyle/>
          <a:p>
            <a:pPr indent="0" marL="0">
              <a:buNone/>
            </a:pPr>
            <a:r>
              <a:rPr lang="en-US" sz="760" b="1" dirty="0">
                <a:solidFill>
                  <a:srgbClr val="14213D"/>
                </a:solidFill>
                <a:latin typeface="Calibri" pitchFamily="34" charset="0"/>
                <a:ea typeface="Calibri" pitchFamily="34" charset="-122"/>
                <a:cs typeface="Calibri" pitchFamily="34" charset="-120"/>
              </a:rPr>
              <a:t>Gohil &amp; Patel 2007: herbâ€“drug case reports</a:t>
            </a:r>
            <a:endParaRPr lang="en-US" sz="760" dirty="0"/>
          </a:p>
        </p:txBody>
      </p:sp>
      <p:sp>
        <p:nvSpPr>
          <p:cNvPr id="29" name="Text 27"/>
          <p:cNvSpPr txBox="1"/>
          <p:nvPr/>
        </p:nvSpPr>
        <p:spPr>
          <a:xfrm>
            <a:off x="5047488" y="1920240"/>
            <a:ext cx="3749040" cy="146304"/>
          </a:xfrm>
          <a:prstGeom prst="rect">
            <a:avLst/>
          </a:prstGeom>
          <a:noFill/>
          <a:ln/>
        </p:spPr>
        <p:txBody>
          <a:bodyPr wrap="square" lIns="0" tIns="0" rIns="0" bIns="0" rtlCol="0" anchor="ctr"/>
          <a:lstStyle/>
          <a:p>
            <a:pPr indent="0" marL="0">
              <a:buNone/>
            </a:pPr>
            <a:r>
              <a:rPr lang="en-US" sz="640" u="sng" dirty="0">
                <a:solidFill>
                  <a:srgbClr val="1155C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doi.org/10.4103/0253-7613.33432</a:t>
            </a:r>
            <a:endParaRPr lang="en-US" sz="640" dirty="0"/>
          </a:p>
        </p:txBody>
      </p:sp>
      <p:sp>
        <p:nvSpPr>
          <p:cNvPr id="30" name="Shape 28"/>
          <p:cNvSpPr/>
          <p:nvPr/>
        </p:nvSpPr>
        <p:spPr>
          <a:xfrm>
            <a:off x="4773168" y="2176272"/>
            <a:ext cx="201168" cy="201168"/>
          </a:xfrm>
          <a:prstGeom prst="ellipse">
            <a:avLst/>
          </a:prstGeom>
          <a:solidFill>
            <a:srgbClr val="14213D"/>
          </a:solidFill>
          <a:ln w="12700">
            <a:solidFill>
              <a:srgbClr val="14213D"/>
            </a:solidFill>
            <a:prstDash val="solid"/>
          </a:ln>
        </p:spPr>
      </p:sp>
      <p:sp>
        <p:nvSpPr>
          <p:cNvPr id="31" name="Text 29"/>
          <p:cNvSpPr txBox="1"/>
          <p:nvPr/>
        </p:nvSpPr>
        <p:spPr>
          <a:xfrm>
            <a:off x="4773168" y="2176272"/>
            <a:ext cx="201168" cy="201168"/>
          </a:xfrm>
          <a:prstGeom prst="rect">
            <a:avLst/>
          </a:prstGeom>
          <a:noFill/>
          <a:ln/>
        </p:spPr>
        <p:txBody>
          <a:bodyPr wrap="square" lIns="0" tIns="0" rIns="0" bIns="0" rtlCol="0" anchor="ctr"/>
          <a:lstStyle/>
          <a:p>
            <a:pPr algn="ctr" indent="0" marL="0">
              <a:buNone/>
            </a:pPr>
            <a:r>
              <a:rPr lang="en-US" sz="748" b="1" dirty="0">
                <a:solidFill>
                  <a:srgbClr val="F4A300"/>
                </a:solidFill>
                <a:latin typeface="Calibri" pitchFamily="34" charset="0"/>
                <a:ea typeface="Calibri" pitchFamily="34" charset="-122"/>
                <a:cs typeface="Calibri" pitchFamily="34" charset="-120"/>
              </a:rPr>
              <a:t>4</a:t>
            </a:r>
            <a:endParaRPr lang="en-US" sz="748" dirty="0"/>
          </a:p>
        </p:txBody>
      </p:sp>
      <p:sp>
        <p:nvSpPr>
          <p:cNvPr id="32" name="Text 30"/>
          <p:cNvSpPr txBox="1"/>
          <p:nvPr/>
        </p:nvSpPr>
        <p:spPr>
          <a:xfrm>
            <a:off x="5047488" y="2121408"/>
            <a:ext cx="3749040" cy="164592"/>
          </a:xfrm>
          <a:prstGeom prst="rect">
            <a:avLst/>
          </a:prstGeom>
          <a:noFill/>
          <a:ln/>
        </p:spPr>
        <p:txBody>
          <a:bodyPr wrap="square" lIns="0" tIns="0" rIns="0" bIns="0" rtlCol="0" anchor="t"/>
          <a:lstStyle/>
          <a:p>
            <a:pPr indent="0" marL="0">
              <a:buNone/>
            </a:pPr>
            <a:r>
              <a:rPr lang="en-US" sz="760" b="1" dirty="0">
                <a:solidFill>
                  <a:srgbClr val="14213D"/>
                </a:solidFill>
                <a:latin typeface="Calibri" pitchFamily="34" charset="0"/>
                <a:ea typeface="Calibri" pitchFamily="34" charset="-122"/>
                <a:cs typeface="Calibri" pitchFamily="34" charset="-120"/>
              </a:rPr>
              <a:t>Ghosh 2009: herbâ€“drug interaction, JCDR</a:t>
            </a:r>
            <a:endParaRPr lang="en-US" sz="760" dirty="0"/>
          </a:p>
        </p:txBody>
      </p:sp>
      <p:sp>
        <p:nvSpPr>
          <p:cNvPr id="33" name="Text 31"/>
          <p:cNvSpPr txBox="1"/>
          <p:nvPr/>
        </p:nvSpPr>
        <p:spPr>
          <a:xfrm>
            <a:off x="5047488" y="2286000"/>
            <a:ext cx="3749040" cy="146304"/>
          </a:xfrm>
          <a:prstGeom prst="rect">
            <a:avLst/>
          </a:prstGeom>
          <a:noFill/>
          <a:ln/>
        </p:spPr>
        <p:txBody>
          <a:bodyPr wrap="square" lIns="0" tIns="0" rIns="0" bIns="0" rtlCol="0" anchor="ctr"/>
          <a:lstStyle/>
          <a:p>
            <a:pPr indent="0" marL="0">
              <a:buNone/>
            </a:pPr>
            <a:r>
              <a:rPr lang="en-US" sz="640" u="sng" dirty="0">
                <a:solidFill>
                  <a:srgbClr val="1155CC"/>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www.jcdr.net/articles/PDF/576/501.pdf</a:t>
            </a:r>
            <a:endParaRPr lang="en-US" sz="640" dirty="0"/>
          </a:p>
        </p:txBody>
      </p:sp>
      <p:sp>
        <p:nvSpPr>
          <p:cNvPr id="34" name="Shape 32"/>
          <p:cNvSpPr/>
          <p:nvPr/>
        </p:nvSpPr>
        <p:spPr>
          <a:xfrm>
            <a:off x="4773168" y="2542032"/>
            <a:ext cx="201168" cy="201168"/>
          </a:xfrm>
          <a:prstGeom prst="ellipse">
            <a:avLst/>
          </a:prstGeom>
          <a:solidFill>
            <a:srgbClr val="14213D"/>
          </a:solidFill>
          <a:ln w="12700">
            <a:solidFill>
              <a:srgbClr val="14213D"/>
            </a:solidFill>
            <a:prstDash val="solid"/>
          </a:ln>
        </p:spPr>
      </p:sp>
      <p:sp>
        <p:nvSpPr>
          <p:cNvPr id="35" name="Text 33"/>
          <p:cNvSpPr txBox="1"/>
          <p:nvPr/>
        </p:nvSpPr>
        <p:spPr>
          <a:xfrm>
            <a:off x="4773168" y="2542032"/>
            <a:ext cx="201168" cy="201168"/>
          </a:xfrm>
          <a:prstGeom prst="rect">
            <a:avLst/>
          </a:prstGeom>
          <a:noFill/>
          <a:ln/>
        </p:spPr>
        <p:txBody>
          <a:bodyPr wrap="square" lIns="0" tIns="0" rIns="0" bIns="0" rtlCol="0" anchor="ctr"/>
          <a:lstStyle/>
          <a:p>
            <a:pPr algn="ctr" indent="0" marL="0">
              <a:buNone/>
            </a:pPr>
            <a:r>
              <a:rPr lang="en-US" sz="748" b="1" dirty="0">
                <a:solidFill>
                  <a:srgbClr val="F4A300"/>
                </a:solidFill>
                <a:latin typeface="Calibri" pitchFamily="34" charset="0"/>
                <a:ea typeface="Calibri" pitchFamily="34" charset="-122"/>
                <a:cs typeface="Calibri" pitchFamily="34" charset="-120"/>
              </a:rPr>
              <a:t>5</a:t>
            </a:r>
            <a:endParaRPr lang="en-US" sz="748" dirty="0"/>
          </a:p>
        </p:txBody>
      </p:sp>
      <p:sp>
        <p:nvSpPr>
          <p:cNvPr id="36" name="Text 34"/>
          <p:cNvSpPr txBox="1"/>
          <p:nvPr/>
        </p:nvSpPr>
        <p:spPr>
          <a:xfrm>
            <a:off x="5047488" y="2487168"/>
            <a:ext cx="3749040" cy="164592"/>
          </a:xfrm>
          <a:prstGeom prst="rect">
            <a:avLst/>
          </a:prstGeom>
          <a:noFill/>
          <a:ln/>
        </p:spPr>
        <p:txBody>
          <a:bodyPr wrap="square" lIns="0" tIns="0" rIns="0" bIns="0" rtlCol="0" anchor="t"/>
          <a:lstStyle/>
          <a:p>
            <a:pPr indent="0" marL="0">
              <a:buNone/>
            </a:pPr>
            <a:r>
              <a:rPr lang="en-US" sz="760" b="1" dirty="0">
                <a:solidFill>
                  <a:srgbClr val="14213D"/>
                </a:solidFill>
                <a:latin typeface="Calibri" pitchFamily="34" charset="0"/>
                <a:ea typeface="Calibri" pitchFamily="34" charset="-122"/>
                <a:cs typeface="Calibri" pitchFamily="34" charset="-120"/>
              </a:rPr>
              <a:t>NSSO Ayush survey 2022-23 (MoSPI)</a:t>
            </a:r>
            <a:endParaRPr lang="en-US" sz="760" dirty="0"/>
          </a:p>
        </p:txBody>
      </p:sp>
      <p:sp>
        <p:nvSpPr>
          <p:cNvPr id="37" name="Text 35"/>
          <p:cNvSpPr txBox="1"/>
          <p:nvPr/>
        </p:nvSpPr>
        <p:spPr>
          <a:xfrm>
            <a:off x="5047488" y="2651760"/>
            <a:ext cx="3749040" cy="146304"/>
          </a:xfrm>
          <a:prstGeom prst="rect">
            <a:avLst/>
          </a:prstGeom>
          <a:noFill/>
          <a:ln/>
        </p:spPr>
        <p:txBody>
          <a:bodyPr wrap="square" lIns="0" tIns="0" rIns="0" bIns="0" rtlCol="0" anchor="ctr"/>
          <a:lstStyle/>
          <a:p>
            <a:pPr indent="0" marL="0">
              <a:buNone/>
            </a:pPr>
            <a:r>
              <a:rPr lang="en-US" sz="640" u="sng" dirty="0">
                <a:solidFill>
                  <a:srgbClr val="1155CC"/>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www.mospi.gov.in/sites/default/files/press_release/PressNo</a:t>
            </a:r>
            <a:endParaRPr lang="en-US" sz="640" dirty="0"/>
          </a:p>
        </p:txBody>
      </p:sp>
      <p:sp>
        <p:nvSpPr>
          <p:cNvPr id="38" name="Shape 36"/>
          <p:cNvSpPr/>
          <p:nvPr/>
        </p:nvSpPr>
        <p:spPr>
          <a:xfrm>
            <a:off x="4773168" y="2907792"/>
            <a:ext cx="201168" cy="201168"/>
          </a:xfrm>
          <a:prstGeom prst="ellipse">
            <a:avLst/>
          </a:prstGeom>
          <a:solidFill>
            <a:srgbClr val="14213D"/>
          </a:solidFill>
          <a:ln w="12700">
            <a:solidFill>
              <a:srgbClr val="14213D"/>
            </a:solidFill>
            <a:prstDash val="solid"/>
          </a:ln>
        </p:spPr>
      </p:sp>
      <p:sp>
        <p:nvSpPr>
          <p:cNvPr id="39" name="Text 37"/>
          <p:cNvSpPr txBox="1"/>
          <p:nvPr/>
        </p:nvSpPr>
        <p:spPr>
          <a:xfrm>
            <a:off x="4773168" y="2907792"/>
            <a:ext cx="201168" cy="201168"/>
          </a:xfrm>
          <a:prstGeom prst="rect">
            <a:avLst/>
          </a:prstGeom>
          <a:noFill/>
          <a:ln/>
        </p:spPr>
        <p:txBody>
          <a:bodyPr wrap="square" lIns="0" tIns="0" rIns="0" bIns="0" rtlCol="0" anchor="ctr"/>
          <a:lstStyle/>
          <a:p>
            <a:pPr algn="ctr" indent="0" marL="0">
              <a:buNone/>
            </a:pPr>
            <a:r>
              <a:rPr lang="en-US" sz="748" b="1" dirty="0">
                <a:solidFill>
                  <a:srgbClr val="F4A300"/>
                </a:solidFill>
                <a:latin typeface="Calibri" pitchFamily="34" charset="0"/>
                <a:ea typeface="Calibri" pitchFamily="34" charset="-122"/>
                <a:cs typeface="Calibri" pitchFamily="34" charset="-120"/>
              </a:rPr>
              <a:t>6</a:t>
            </a:r>
            <a:endParaRPr lang="en-US" sz="748" dirty="0"/>
          </a:p>
        </p:txBody>
      </p:sp>
      <p:sp>
        <p:nvSpPr>
          <p:cNvPr id="40" name="Text 38"/>
          <p:cNvSpPr txBox="1"/>
          <p:nvPr/>
        </p:nvSpPr>
        <p:spPr>
          <a:xfrm>
            <a:off x="5047488" y="2852928"/>
            <a:ext cx="3749040" cy="164592"/>
          </a:xfrm>
          <a:prstGeom prst="rect">
            <a:avLst/>
          </a:prstGeom>
          <a:noFill/>
          <a:ln/>
        </p:spPr>
        <p:txBody>
          <a:bodyPr wrap="square" lIns="0" tIns="0" rIns="0" bIns="0" rtlCol="0" anchor="t"/>
          <a:lstStyle/>
          <a:p>
            <a:pPr indent="0" marL="0">
              <a:buNone/>
            </a:pPr>
            <a:r>
              <a:rPr lang="en-US" sz="760" b="1" dirty="0">
                <a:solidFill>
                  <a:srgbClr val="14213D"/>
                </a:solidFill>
                <a:latin typeface="Calibri" pitchFamily="34" charset="0"/>
                <a:ea typeface="Calibri" pitchFamily="34" charset="-122"/>
                <a:cs typeface="Calibri" pitchFamily="34" charset="-120"/>
              </a:rPr>
              <a:t>Ayush Suraksha portal</a:t>
            </a:r>
            <a:endParaRPr lang="en-US" sz="760" dirty="0"/>
          </a:p>
        </p:txBody>
      </p:sp>
      <p:sp>
        <p:nvSpPr>
          <p:cNvPr id="41" name="Text 39"/>
          <p:cNvSpPr txBox="1"/>
          <p:nvPr/>
        </p:nvSpPr>
        <p:spPr>
          <a:xfrm>
            <a:off x="5047488" y="3017520"/>
            <a:ext cx="3749040" cy="146304"/>
          </a:xfrm>
          <a:prstGeom prst="rect">
            <a:avLst/>
          </a:prstGeom>
          <a:noFill/>
          <a:ln/>
        </p:spPr>
        <p:txBody>
          <a:bodyPr wrap="square" lIns="0" tIns="0" rIns="0" bIns="0" rtlCol="0" anchor="ctr"/>
          <a:lstStyle/>
          <a:p>
            <a:pPr indent="0" marL="0">
              <a:buNone/>
            </a:pPr>
            <a:r>
              <a:rPr lang="en-US" sz="640" u="sng" dirty="0">
                <a:solidFill>
                  <a:srgbClr val="1155CC"/>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suraksha.ayush.gov.in/</a:t>
            </a:r>
            <a:endParaRPr lang="en-US" sz="640" dirty="0"/>
          </a:p>
        </p:txBody>
      </p:sp>
      <p:sp>
        <p:nvSpPr>
          <p:cNvPr id="42" name="Shape 40"/>
          <p:cNvSpPr/>
          <p:nvPr/>
        </p:nvSpPr>
        <p:spPr>
          <a:xfrm>
            <a:off x="4773168" y="3273552"/>
            <a:ext cx="201168" cy="201168"/>
          </a:xfrm>
          <a:prstGeom prst="ellipse">
            <a:avLst/>
          </a:prstGeom>
          <a:solidFill>
            <a:srgbClr val="14213D"/>
          </a:solidFill>
          <a:ln w="12700">
            <a:solidFill>
              <a:srgbClr val="14213D"/>
            </a:solidFill>
            <a:prstDash val="solid"/>
          </a:ln>
        </p:spPr>
      </p:sp>
      <p:sp>
        <p:nvSpPr>
          <p:cNvPr id="43" name="Text 41"/>
          <p:cNvSpPr txBox="1"/>
          <p:nvPr/>
        </p:nvSpPr>
        <p:spPr>
          <a:xfrm>
            <a:off x="4773168" y="3273552"/>
            <a:ext cx="201168" cy="201168"/>
          </a:xfrm>
          <a:prstGeom prst="rect">
            <a:avLst/>
          </a:prstGeom>
          <a:noFill/>
          <a:ln/>
        </p:spPr>
        <p:txBody>
          <a:bodyPr wrap="square" lIns="0" tIns="0" rIns="0" bIns="0" rtlCol="0" anchor="ctr"/>
          <a:lstStyle/>
          <a:p>
            <a:pPr algn="ctr" indent="0" marL="0">
              <a:buNone/>
            </a:pPr>
            <a:r>
              <a:rPr lang="en-US" sz="748" b="1" dirty="0">
                <a:solidFill>
                  <a:srgbClr val="F4A300"/>
                </a:solidFill>
                <a:latin typeface="Calibri" pitchFamily="34" charset="0"/>
                <a:ea typeface="Calibri" pitchFamily="34" charset="-122"/>
                <a:cs typeface="Calibri" pitchFamily="34" charset="-120"/>
              </a:rPr>
              <a:t>7</a:t>
            </a:r>
            <a:endParaRPr lang="en-US" sz="748" dirty="0"/>
          </a:p>
        </p:txBody>
      </p:sp>
      <p:sp>
        <p:nvSpPr>
          <p:cNvPr id="44" name="Text 42"/>
          <p:cNvSpPr txBox="1"/>
          <p:nvPr/>
        </p:nvSpPr>
        <p:spPr>
          <a:xfrm>
            <a:off x="5047488" y="3218688"/>
            <a:ext cx="3749040" cy="164592"/>
          </a:xfrm>
          <a:prstGeom prst="rect">
            <a:avLst/>
          </a:prstGeom>
          <a:noFill/>
          <a:ln/>
        </p:spPr>
        <p:txBody>
          <a:bodyPr wrap="square" lIns="0" tIns="0" rIns="0" bIns="0" rtlCol="0" anchor="t"/>
          <a:lstStyle/>
          <a:p>
            <a:pPr indent="0" marL="0">
              <a:buNone/>
            </a:pPr>
            <a:r>
              <a:rPr lang="en-US" sz="760" b="1" dirty="0">
                <a:solidFill>
                  <a:srgbClr val="14213D"/>
                </a:solidFill>
                <a:latin typeface="Calibri" pitchFamily="34" charset="0"/>
                <a:ea typeface="Calibri" pitchFamily="34" charset="-122"/>
                <a:cs typeface="Calibri" pitchFamily="34" charset="-120"/>
              </a:rPr>
              <a:t>ITRA pharmacovigilance network</a:t>
            </a:r>
            <a:endParaRPr lang="en-US" sz="760" dirty="0"/>
          </a:p>
        </p:txBody>
      </p:sp>
      <p:sp>
        <p:nvSpPr>
          <p:cNvPr id="45" name="Text 43"/>
          <p:cNvSpPr txBox="1"/>
          <p:nvPr/>
        </p:nvSpPr>
        <p:spPr>
          <a:xfrm>
            <a:off x="5047488" y="3383280"/>
            <a:ext cx="3749040" cy="146304"/>
          </a:xfrm>
          <a:prstGeom prst="rect">
            <a:avLst/>
          </a:prstGeom>
          <a:noFill/>
          <a:ln/>
        </p:spPr>
        <p:txBody>
          <a:bodyPr wrap="square" lIns="0" tIns="0" rIns="0" bIns="0" rtlCol="0" anchor="ctr"/>
          <a:lstStyle/>
          <a:p>
            <a:pPr indent="0" marL="0">
              <a:buNone/>
            </a:pPr>
            <a:r>
              <a:rPr lang="en-US" sz="640" u="sng" dirty="0">
                <a:solidFill>
                  <a:srgbClr val="1155C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itra.ac.in/pharmacovigilance</a:t>
            </a:r>
            <a:endParaRPr lang="en-US" sz="640" dirty="0"/>
          </a:p>
        </p:txBody>
      </p:sp>
      <p:sp>
        <p:nvSpPr>
          <p:cNvPr id="46" name="Shape 44"/>
          <p:cNvSpPr/>
          <p:nvPr/>
        </p:nvSpPr>
        <p:spPr>
          <a:xfrm>
            <a:off x="4773168" y="3639312"/>
            <a:ext cx="201168" cy="201168"/>
          </a:xfrm>
          <a:prstGeom prst="ellipse">
            <a:avLst/>
          </a:prstGeom>
          <a:solidFill>
            <a:srgbClr val="14213D"/>
          </a:solidFill>
          <a:ln w="12700">
            <a:solidFill>
              <a:srgbClr val="14213D"/>
            </a:solidFill>
            <a:prstDash val="solid"/>
          </a:ln>
        </p:spPr>
      </p:sp>
      <p:sp>
        <p:nvSpPr>
          <p:cNvPr id="47" name="Text 45"/>
          <p:cNvSpPr txBox="1"/>
          <p:nvPr/>
        </p:nvSpPr>
        <p:spPr>
          <a:xfrm>
            <a:off x="4773168" y="3639312"/>
            <a:ext cx="201168" cy="201168"/>
          </a:xfrm>
          <a:prstGeom prst="rect">
            <a:avLst/>
          </a:prstGeom>
          <a:noFill/>
          <a:ln/>
        </p:spPr>
        <p:txBody>
          <a:bodyPr wrap="square" lIns="0" tIns="0" rIns="0" bIns="0" rtlCol="0" anchor="ctr"/>
          <a:lstStyle/>
          <a:p>
            <a:pPr algn="ctr" indent="0" marL="0">
              <a:buNone/>
            </a:pPr>
            <a:r>
              <a:rPr lang="en-US" sz="748" b="1" dirty="0">
                <a:solidFill>
                  <a:srgbClr val="F4A300"/>
                </a:solidFill>
                <a:latin typeface="Calibri" pitchFamily="34" charset="0"/>
                <a:ea typeface="Calibri" pitchFamily="34" charset="-122"/>
                <a:cs typeface="Calibri" pitchFamily="34" charset="-120"/>
              </a:rPr>
              <a:t>8</a:t>
            </a:r>
            <a:endParaRPr lang="en-US" sz="748" dirty="0"/>
          </a:p>
        </p:txBody>
      </p:sp>
      <p:sp>
        <p:nvSpPr>
          <p:cNvPr id="48" name="Text 46"/>
          <p:cNvSpPr txBox="1"/>
          <p:nvPr/>
        </p:nvSpPr>
        <p:spPr>
          <a:xfrm>
            <a:off x="5047488" y="3584448"/>
            <a:ext cx="3749040" cy="164592"/>
          </a:xfrm>
          <a:prstGeom prst="rect">
            <a:avLst/>
          </a:prstGeom>
          <a:noFill/>
          <a:ln/>
        </p:spPr>
        <p:txBody>
          <a:bodyPr wrap="square" lIns="0" tIns="0" rIns="0" bIns="0" rtlCol="0" anchor="t"/>
          <a:lstStyle/>
          <a:p>
            <a:pPr indent="0" marL="0">
              <a:buNone/>
            </a:pPr>
            <a:r>
              <a:rPr lang="en-US" sz="760" b="1" dirty="0">
                <a:solidFill>
                  <a:srgbClr val="14213D"/>
                </a:solidFill>
                <a:latin typeface="Calibri" pitchFamily="34" charset="0"/>
                <a:ea typeface="Calibri" pitchFamily="34" charset="-122"/>
                <a:cs typeface="Calibri" pitchFamily="34" charset="-120"/>
              </a:rPr>
              <a:t>MSKCC About Herbs Â· NIH LiverTox</a:t>
            </a:r>
            <a:endParaRPr lang="en-US" sz="760" dirty="0"/>
          </a:p>
        </p:txBody>
      </p:sp>
      <p:sp>
        <p:nvSpPr>
          <p:cNvPr id="49" name="Text 47"/>
          <p:cNvSpPr txBox="1"/>
          <p:nvPr/>
        </p:nvSpPr>
        <p:spPr>
          <a:xfrm>
            <a:off x="5047488" y="3749040"/>
            <a:ext cx="3749040" cy="146304"/>
          </a:xfrm>
          <a:prstGeom prst="rect">
            <a:avLst/>
          </a:prstGeom>
          <a:noFill/>
          <a:ln/>
        </p:spPr>
        <p:txBody>
          <a:bodyPr wrap="square" lIns="0" tIns="0" rIns="0" bIns="0" rtlCol="0" anchor="ctr"/>
          <a:lstStyle/>
          <a:p>
            <a:pPr indent="0" marL="0">
              <a:buNone/>
            </a:pPr>
            <a:r>
              <a:rPr lang="en-US" sz="640" u="sng" dirty="0">
                <a:solidFill>
                  <a:srgbClr val="1155CC"/>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www.mskcc.org/cancer-care/integrative-medicine/herbs</a:t>
            </a:r>
            <a:endParaRPr lang="en-US" sz="640" dirty="0"/>
          </a:p>
        </p:txBody>
      </p:sp>
      <p:sp>
        <p:nvSpPr>
          <p:cNvPr id="50" name="Shape 48"/>
          <p:cNvSpPr/>
          <p:nvPr/>
        </p:nvSpPr>
        <p:spPr>
          <a:xfrm>
            <a:off x="4773168" y="4005072"/>
            <a:ext cx="201168" cy="201168"/>
          </a:xfrm>
          <a:prstGeom prst="ellipse">
            <a:avLst/>
          </a:prstGeom>
          <a:solidFill>
            <a:srgbClr val="14213D"/>
          </a:solidFill>
          <a:ln w="12700">
            <a:solidFill>
              <a:srgbClr val="14213D"/>
            </a:solidFill>
            <a:prstDash val="solid"/>
          </a:ln>
        </p:spPr>
      </p:sp>
      <p:sp>
        <p:nvSpPr>
          <p:cNvPr id="51" name="Text 49"/>
          <p:cNvSpPr txBox="1"/>
          <p:nvPr/>
        </p:nvSpPr>
        <p:spPr>
          <a:xfrm>
            <a:off x="4773168" y="4005072"/>
            <a:ext cx="201168" cy="201168"/>
          </a:xfrm>
          <a:prstGeom prst="rect">
            <a:avLst/>
          </a:prstGeom>
          <a:noFill/>
          <a:ln/>
        </p:spPr>
        <p:txBody>
          <a:bodyPr wrap="square" lIns="0" tIns="0" rIns="0" bIns="0" rtlCol="0" anchor="ctr"/>
          <a:lstStyle/>
          <a:p>
            <a:pPr algn="ctr" indent="0" marL="0">
              <a:buNone/>
            </a:pPr>
            <a:r>
              <a:rPr lang="en-US" sz="748" b="1" dirty="0">
                <a:solidFill>
                  <a:srgbClr val="F4A300"/>
                </a:solidFill>
                <a:latin typeface="Calibri" pitchFamily="34" charset="0"/>
                <a:ea typeface="Calibri" pitchFamily="34" charset="-122"/>
                <a:cs typeface="Calibri" pitchFamily="34" charset="-120"/>
              </a:rPr>
              <a:t>9</a:t>
            </a:r>
            <a:endParaRPr lang="en-US" sz="748" dirty="0"/>
          </a:p>
        </p:txBody>
      </p:sp>
      <p:sp>
        <p:nvSpPr>
          <p:cNvPr id="52" name="Text 50"/>
          <p:cNvSpPr txBox="1"/>
          <p:nvPr/>
        </p:nvSpPr>
        <p:spPr>
          <a:xfrm>
            <a:off x="5047488" y="3950208"/>
            <a:ext cx="3749040" cy="164592"/>
          </a:xfrm>
          <a:prstGeom prst="rect">
            <a:avLst/>
          </a:prstGeom>
          <a:noFill/>
          <a:ln/>
        </p:spPr>
        <p:txBody>
          <a:bodyPr wrap="square" lIns="0" tIns="0" rIns="0" bIns="0" rtlCol="0" anchor="t"/>
          <a:lstStyle/>
          <a:p>
            <a:pPr indent="0" marL="0">
              <a:buNone/>
            </a:pPr>
            <a:r>
              <a:rPr lang="en-US" sz="760" b="1" dirty="0">
                <a:solidFill>
                  <a:srgbClr val="14213D"/>
                </a:solidFill>
                <a:latin typeface="Calibri" pitchFamily="34" charset="0"/>
                <a:ea typeface="Calibri" pitchFamily="34" charset="-122"/>
                <a:cs typeface="Calibri" pitchFamily="34" charset="-120"/>
              </a:rPr>
              <a:t>TinyFish documentation</a:t>
            </a:r>
            <a:endParaRPr lang="en-US" sz="760" dirty="0"/>
          </a:p>
        </p:txBody>
      </p:sp>
      <p:sp>
        <p:nvSpPr>
          <p:cNvPr id="53" name="Text 51"/>
          <p:cNvSpPr txBox="1"/>
          <p:nvPr/>
        </p:nvSpPr>
        <p:spPr>
          <a:xfrm>
            <a:off x="5047488" y="4114800"/>
            <a:ext cx="3749040" cy="146304"/>
          </a:xfrm>
          <a:prstGeom prst="rect">
            <a:avLst/>
          </a:prstGeom>
          <a:noFill/>
          <a:ln/>
        </p:spPr>
        <p:txBody>
          <a:bodyPr wrap="square" lIns="0" tIns="0" rIns="0" bIns="0" rtlCol="0" anchor="ctr"/>
          <a:lstStyle/>
          <a:p>
            <a:pPr indent="0" marL="0">
              <a:buNone/>
            </a:pPr>
            <a:r>
              <a:rPr lang="en-US" sz="640" u="sng" dirty="0">
                <a:solidFill>
                  <a:srgbClr val="1155C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docs.tinyfish.ai/</a:t>
            </a:r>
            <a:endParaRPr lang="en-US" sz="640" dirty="0"/>
          </a:p>
        </p:txBody>
      </p:sp>
      <p:sp>
        <p:nvSpPr>
          <p:cNvPr id="54" name="Shape 52"/>
          <p:cNvSpPr/>
          <p:nvPr/>
        </p:nvSpPr>
        <p:spPr>
          <a:xfrm>
            <a:off x="4773168" y="4370832"/>
            <a:ext cx="201168" cy="201168"/>
          </a:xfrm>
          <a:prstGeom prst="ellipse">
            <a:avLst/>
          </a:prstGeom>
          <a:solidFill>
            <a:srgbClr val="14213D"/>
          </a:solidFill>
          <a:ln w="12700">
            <a:solidFill>
              <a:srgbClr val="14213D"/>
            </a:solidFill>
            <a:prstDash val="solid"/>
          </a:ln>
        </p:spPr>
      </p:sp>
      <p:sp>
        <p:nvSpPr>
          <p:cNvPr id="55" name="Text 53"/>
          <p:cNvSpPr txBox="1"/>
          <p:nvPr/>
        </p:nvSpPr>
        <p:spPr>
          <a:xfrm>
            <a:off x="4773168" y="4370832"/>
            <a:ext cx="201168" cy="201168"/>
          </a:xfrm>
          <a:prstGeom prst="rect">
            <a:avLst/>
          </a:prstGeom>
          <a:noFill/>
          <a:ln/>
        </p:spPr>
        <p:txBody>
          <a:bodyPr wrap="square" lIns="0" tIns="0" rIns="0" bIns="0" rtlCol="0" anchor="ctr"/>
          <a:lstStyle/>
          <a:p>
            <a:pPr algn="ctr" indent="0" marL="0">
              <a:buNone/>
            </a:pPr>
            <a:r>
              <a:rPr lang="en-US" sz="748" b="1" dirty="0">
                <a:solidFill>
                  <a:srgbClr val="F4A300"/>
                </a:solidFill>
                <a:latin typeface="Calibri" pitchFamily="34" charset="0"/>
                <a:ea typeface="Calibri" pitchFamily="34" charset="-122"/>
                <a:cs typeface="Calibri" pitchFamily="34" charset="-120"/>
              </a:rPr>
              <a:t>10</a:t>
            </a:r>
            <a:endParaRPr lang="en-US" sz="748" dirty="0"/>
          </a:p>
        </p:txBody>
      </p:sp>
      <p:sp>
        <p:nvSpPr>
          <p:cNvPr id="56" name="Text 54"/>
          <p:cNvSpPr txBox="1"/>
          <p:nvPr/>
        </p:nvSpPr>
        <p:spPr>
          <a:xfrm>
            <a:off x="5047488" y="4315968"/>
            <a:ext cx="3749040" cy="164592"/>
          </a:xfrm>
          <a:prstGeom prst="rect">
            <a:avLst/>
          </a:prstGeom>
          <a:noFill/>
          <a:ln/>
        </p:spPr>
        <p:txBody>
          <a:bodyPr wrap="square" lIns="0" tIns="0" rIns="0" bIns="0" rtlCol="0" anchor="t"/>
          <a:lstStyle/>
          <a:p>
            <a:pPr indent="0" marL="0">
              <a:buNone/>
            </a:pPr>
            <a:r>
              <a:rPr lang="en-US" sz="760" b="1" dirty="0">
                <a:solidFill>
                  <a:srgbClr val="14213D"/>
                </a:solidFill>
                <a:latin typeface="Calibri" pitchFamily="34" charset="0"/>
                <a:ea typeface="Calibri" pitchFamily="34" charset="-122"/>
                <a:cs typeface="Calibri" pitchFamily="34" charset="-120"/>
              </a:rPr>
              <a:t>Tesseract Â· RapidFuzz (open source)</a:t>
            </a:r>
            <a:endParaRPr lang="en-US" sz="760" dirty="0"/>
          </a:p>
        </p:txBody>
      </p:sp>
      <p:sp>
        <p:nvSpPr>
          <p:cNvPr id="57" name="Text 55"/>
          <p:cNvSpPr txBox="1"/>
          <p:nvPr/>
        </p:nvSpPr>
        <p:spPr>
          <a:xfrm>
            <a:off x="5047488" y="4480560"/>
            <a:ext cx="3749040" cy="146304"/>
          </a:xfrm>
          <a:prstGeom prst="rect">
            <a:avLst/>
          </a:prstGeom>
          <a:noFill/>
          <a:ln/>
        </p:spPr>
        <p:txBody>
          <a:bodyPr wrap="square" lIns="0" tIns="0" rIns="0" bIns="0" rtlCol="0" anchor="ctr"/>
          <a:lstStyle/>
          <a:p>
            <a:pPr indent="0" marL="0">
              <a:buNone/>
            </a:pPr>
            <a:r>
              <a:rPr lang="en-US" sz="640" u="sng" dirty="0">
                <a:solidFill>
                  <a:srgbClr val="1155CC"/>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github.com/tesseract-ocr/tesseract</a:t>
            </a:r>
            <a:endParaRPr lang="en-US" sz="6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TakeSure â€” Kritical Hacks 2026</dc:title>
  <dc:subject>PptxGenJS Presentation</dc:subject>
  <dc:creator>Team Bug Hunters</dc:creator>
  <cp:lastModifiedBy>Team Bug Hunters</cp:lastModifiedBy>
  <cp:revision>1</cp:revision>
  <dcterms:created xsi:type="dcterms:W3CDTF">2026-10-19T18:19:36Z</dcterms:created>
  <dcterms:modified xsi:type="dcterms:W3CDTF">2026-10-19T18:19:36Z</dcterms:modified>
</cp:coreProperties>
</file>